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module builds directly on Module 01's Shared Responsibility Model. Remind students that IAM is how they fulfill the customer side of that model. Timing: 15 min IAM overview, 15 min users/groups/policies, 10 min roles, 10 min policy JSON, 10 min Organizations/SCPs, 10 min best practices, 5 min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15 minutes for this section. Start by asking students: "What is the difference between proving who you are and proving what you are allowed to do?"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Answer: Authorization failed. Authentication succeeded (you signed in), but the IAM policy attached to your user does not grant s3:CreateBucket permission. This is the most common confusion for beginners.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15 minutes. Emphasize that groups simplify permission management: assign policies to groups, then add users to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10 minutes. Key point: roles provide temporary credentials via STS. Never embed long-lived access keys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10 minutes. Walk through the JSON structure on the next slide. Emphasize the Effect/Action/Resource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Answer: No. The explicit Deny in Policy B overrides the Allow in Policy A. This is the most important rule in IAM policy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10 minutes. Explain that Organizations is for multi-account governance. SCPs set the maximum permissions boundary for an entire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10 minutes. These are the practices students should follow for every lab and project in the bootcamp.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Take 5 minutes for questions. Common question: "Do I need to memorize the JSON policy syntax?" Answer: No, but you need to understand the Effect/Action/Resource structure and how evaluation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02: IAM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Phase 1: Cloud Foundations</a:t>
            </a:r>
          </a:p>
          <a:p>
            <a:pPr>
              <a:defRPr sz="1600"/>
            </a:pPr>
            <a:r>
              <a:t>Estimated lecture time: 75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By the end of this module, you will be able to:</a:t>
            </a:r>
          </a:p>
          <a:p>
            <a:pPr>
              <a:defRPr sz="1800"/>
            </a:pPr>
            <a:r>
              <a:t>Define authentication and authorization in the context of AWS IAM</a:t>
            </a:r>
          </a:p>
          <a:p>
            <a:pPr>
              <a:defRPr sz="1800"/>
            </a:pPr>
            <a:r>
              <a:t>Describe IAM users, user groups, roles, and policies</a:t>
            </a:r>
          </a:p>
          <a:p>
            <a:pPr>
              <a:defRPr sz="1800"/>
            </a:pPr>
            <a:r>
              <a:t>Explain how IAM policy documents are structured in JSON</a:t>
            </a:r>
          </a:p>
          <a:p>
            <a:pPr>
              <a:defRPr sz="1800"/>
            </a:pPr>
            <a:r>
              <a:t>Identify when to use IAM roles instead of IAM users</a:t>
            </a:r>
          </a:p>
          <a:p>
            <a:pPr>
              <a:defRPr sz="1800"/>
            </a:pPr>
            <a:r>
              <a:t>List IAM security best practices</a:t>
            </a:r>
          </a:p>
          <a:p>
            <a:pPr>
              <a:defRPr sz="1800"/>
            </a:pPr>
            <a:r>
              <a:t>Summarize how AWS Organizations and SCPs provide multi-account governance</a:t>
            </a:r>
          </a:p>
          <a:p>
            <a:pPr>
              <a:defRPr sz="1800"/>
            </a:pPr>
            <a:r>
              <a:t>Distinguish between identity-based and resource-based policies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 and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Prerequisites: Completion of Module 01 (AWS account, console navigation, Shared Responsibility Model)</a:t>
            </a:r>
          </a:p>
          <a:p>
            <a:pPr>
              <a:defRPr sz="1600"/>
            </a:pPr>
            <a:r>
              <a:t>Agenda:</a:t>
            </a:r>
          </a:p>
          <a:p>
            <a:pPr>
              <a:defRPr sz="1800"/>
            </a:pPr>
            <a:r>
              <a:t>IAM overview: authentication vs. authorization</a:t>
            </a:r>
          </a:p>
          <a:p>
            <a:pPr>
              <a:defRPr sz="1800"/>
            </a:pPr>
            <a:r>
              <a:t>IAM users, user groups, and policies</a:t>
            </a:r>
          </a:p>
          <a:p>
            <a:pPr>
              <a:defRPr sz="1800"/>
            </a:pPr>
            <a:r>
              <a:t>IAM roles: when and why</a:t>
            </a:r>
          </a:p>
          <a:p>
            <a:pPr>
              <a:defRPr sz="1800"/>
            </a:pPr>
            <a:r>
              <a:t>IAM policy structure (JSON)</a:t>
            </a:r>
          </a:p>
          <a:p>
            <a:pPr>
              <a:defRPr sz="1800"/>
            </a:pPr>
            <a:r>
              <a:t>AWS Organizations and SCPs</a:t>
            </a:r>
          </a:p>
          <a:p>
            <a:pPr>
              <a:defRPr sz="1800"/>
            </a:pPr>
            <a:r>
              <a:t>IAM security 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vs. authorization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Two fundamental questions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IAM Concept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**What can you do?**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Authorization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IAM policies (JSON documents)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fundamental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Think of authentication as showing your ID at the door, and authorization as the list of rooms you are allowed to enter.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Discussion: authentication vs. authorization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You sign in to the AWS Console with your username and password (authentication). You then try to create an S3 bucket, but receive an "Access Denied" error.</a:t>
            </a:r>
          </a:p>
          <a:p>
            <a:pPr>
              <a:defRPr sz="1600"/>
            </a:pPr>
            <a:r>
              <a:t>Which step failed: authentication or authorization?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users, user groups, and policies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IAM identity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Identity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**User group**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Collection of users sharing the same policies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Team-based permissions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**IAM role**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Identity with temporary credentials (no password)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Services, cross-account access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Policy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Attached To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Managed By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Customer managed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Users, groups, roles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Custom permissions for your org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Single user, group, or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Strict 1:1 policy-to-identity binding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roles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roles instead of users?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Roles provide temporary credentials that expire automatically</a:t>
            </a:r>
          </a:p>
          <a:p>
            <a:pPr>
              <a:defRPr sz="1800"/>
            </a:pPr>
            <a:r>
              <a:t>No passwords or access keys to manage or rotate</a:t>
            </a:r>
          </a:p>
          <a:p>
            <a:pPr>
              <a:defRPr sz="1800"/>
            </a:pPr>
            <a:r>
              <a:t>AWS services (EC2, Lambda, ECS) assume roles to access other services</a:t>
            </a:r>
          </a:p>
          <a:p>
            <a:pPr>
              <a:defRPr sz="1800"/>
            </a:pPr>
            <a:r>
              <a:t>Cross-account access without sharing credentials</a:t>
            </a:r>
          </a:p>
          <a:p>
            <a:pPr>
              <a:defRPr sz="1600"/>
            </a:pPr>
            <a:r>
              <a:t>Common role use cases:</a:t>
            </a:r>
          </a:p>
          <a:p>
            <a:pPr>
              <a:defRPr sz="1800"/>
            </a:pPr>
            <a:r>
              <a:t>EC2 instance accessing S3</a:t>
            </a:r>
          </a:p>
          <a:p>
            <a:pPr>
              <a:defRPr sz="1800"/>
            </a:pPr>
            <a:r>
              <a:t>Lambda function writing to DynamoDB</a:t>
            </a:r>
          </a:p>
          <a:p>
            <a:pPr>
              <a:defRPr sz="1800"/>
            </a:pPr>
            <a:r>
              <a:t>Cross-account access for a CI/CD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policy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Anatomy of a policy document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DD6F4"/>
                </a:solidFill>
                <a:latin typeface="Courier New"/>
              </a:defRPr>
            </a:pPr>
            <a:r>
              <a:t>{</a:t>
            </a:r>
            <a:br/>
            <a:r>
              <a:t>  "Version": "2012-10-17",</a:t>
            </a:r>
            <a:br/>
            <a:r>
              <a:t>  "Statement": [</a:t>
            </a:r>
            <a:br/>
            <a:r>
              <a:t>    {</a:t>
            </a:r>
            <a:br/>
            <a:r>
              <a:t>      "Effect": "Allow",</a:t>
            </a:r>
            <a:br/>
            <a:r>
              <a:t>      "Action": "s3:GetObject",</a:t>
            </a:r>
            <a:br/>
            <a:r>
              <a:t>      "Resource": "arn:aws:s3:::my-bucket/*"</a:t>
            </a:r>
            <a:br/>
            <a:r>
              <a:t>    }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evaluation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All requests start as implicitly denied</a:t>
            </a:r>
          </a:p>
          <a:p>
            <a:pPr>
              <a:defRPr sz="1800"/>
            </a:pPr>
            <a:r>
              <a:t>An Allow in a policy grants access</a:t>
            </a:r>
          </a:p>
          <a:p>
            <a:pPr>
              <a:defRPr sz="1800"/>
            </a:pPr>
            <a:r>
              <a:t>An explicit Deny always overrides any Allow</a:t>
            </a:r>
          </a:p>
          <a:p>
            <a:pPr>
              <a:defRPr sz="1800"/>
            </a:pPr>
            <a:r>
              <a:t>If no policy allows the action, the request is denied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An explicit Deny always wins. One Deny overrides any number of Allows.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check: policy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user has two policies attached:</a:t>
            </a:r>
          </a:p>
          <a:p>
            <a:pPr>
              <a:defRPr sz="1800"/>
            </a:pPr>
            <a:r>
              <a:t>Policy A: `Allow s3:*` on all resources</a:t>
            </a:r>
          </a:p>
          <a:p>
            <a:pPr>
              <a:defRPr sz="1800"/>
            </a:pPr>
            <a:r>
              <a:t>Policy B: `Deny s3:DeleteBucket` on all resources</a:t>
            </a:r>
          </a:p>
          <a:p>
            <a:pPr>
              <a:defRPr sz="1600"/>
            </a:pPr>
            <a:r>
              <a:t>Can the user delete an S3 bucket?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Organizations and SCPs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Centrally manage multiple AWS accounts</a:t>
            </a:r>
          </a:p>
          <a:p>
            <a:pPr>
              <a:defRPr sz="1800"/>
            </a:pPr>
            <a:r>
              <a:t>Group accounts into Organizational Units (OUs)</a:t>
            </a:r>
          </a:p>
          <a:p>
            <a:pPr>
              <a:defRPr sz="1800"/>
            </a:pPr>
            <a:r>
              <a:t>Consolidated billing across all accounts</a:t>
            </a:r>
          </a:p>
          <a:p>
            <a:pPr>
              <a:defRPr sz="1800"/>
            </a:pPr>
            <a:r>
              <a:t>Apply Service Control Policies (SCPs) for guardrails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SCPs vs. IAM policies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SCP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IAM Policy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Grants permissions?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(restricts only)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Overrides IAM Allow?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 (sets maximum boundary)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SCPs vs. IAM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SCPs are the fence around the property. IAM policies are the keys to rooms inside.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security best practices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security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Lock away the root user: Enable MFA, do not use for daily tasks</a:t>
            </a:r>
          </a:p>
          <a:p>
            <a:pPr>
              <a:defRPr sz="1800"/>
            </a:pPr>
            <a:r>
              <a:t>Use IAM roles, not access keys: Temporary credentials are safer</a:t>
            </a:r>
          </a:p>
          <a:p>
            <a:pPr>
              <a:defRPr sz="1800"/>
            </a:pPr>
            <a:r>
              <a:t>Apply least privilege: Start with zero permissions, add only what is needed</a:t>
            </a:r>
          </a:p>
          <a:p>
            <a:pPr>
              <a:defRPr sz="1800"/>
            </a:pPr>
            <a:r>
              <a:t>Use groups for permissions: Assign policies to groups, add users to groups</a:t>
            </a:r>
          </a:p>
          <a:p>
            <a:pPr>
              <a:defRPr sz="1800"/>
            </a:pPr>
            <a:r>
              <a:t>Enable MFA: Require MFA for all human users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security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Enable AWS CloudTrail for audit logging</a:t>
            </a:r>
          </a:p>
          <a:p>
            <a:pPr>
              <a:defRPr sz="1800"/>
            </a:pPr>
            <a:r>
              <a:t>Use IAM Access Analyzer to find overly permissive policies</a:t>
            </a:r>
          </a:p>
          <a:p>
            <a:pPr>
              <a:defRPr sz="1800"/>
            </a:pPr>
            <a:r>
              <a:t>Rotate credentials regularly</a:t>
            </a:r>
          </a:p>
          <a:p>
            <a:pPr>
              <a:defRPr sz="1800"/>
            </a:pPr>
            <a:r>
              <a:t>Use policy conditions (IP restrictions, MFA required)</a:t>
            </a:r>
          </a:p>
          <a:p>
            <a:pPr>
              <a:defRPr sz="1800"/>
            </a:pPr>
            <a:r>
              <a:t>Review permissions periodically and remove unused access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IAM controls authentication (who you are) and authorization (what you can do) for your AWS account</a:t>
            </a:r>
          </a:p>
          <a:p>
            <a:pPr>
              <a:defRPr sz="1800"/>
            </a:pPr>
            <a:r>
              <a:t>Use IAM roles with temporary credentials instead of long-lived access keys</a:t>
            </a:r>
          </a:p>
          <a:p>
            <a:pPr>
              <a:defRPr sz="1800"/>
            </a:pPr>
            <a:r>
              <a:t>IAM policies are JSON documents with Effect, Action, and Resource; explicit Deny always wins</a:t>
            </a:r>
          </a:p>
          <a:p>
            <a:pPr>
              <a:defRPr sz="1800"/>
            </a:pPr>
            <a:r>
              <a:t>Apply the principle of least privilege: grant only the permissions needed for the task</a:t>
            </a:r>
          </a:p>
          <a:p>
            <a:pPr>
              <a:defRPr sz="1800"/>
            </a:pPr>
            <a:r>
              <a:t>AWS Organizations and SCPs provide guardrails across multiple accounts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preview: IAM users, groups, policies, and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What you will do:</a:t>
            </a:r>
          </a:p>
          <a:p>
            <a:pPr>
              <a:defRPr sz="1800"/>
            </a:pPr>
            <a:r>
              <a:t>Create IAM user groups with different permission levels</a:t>
            </a:r>
          </a:p>
          <a:p>
            <a:pPr>
              <a:defRPr sz="1800"/>
            </a:pPr>
            <a:r>
              <a:t>Attach managed and custom policies</a:t>
            </a:r>
          </a:p>
          <a:p>
            <a:pPr>
              <a:defRPr sz="1800"/>
            </a:pPr>
            <a:r>
              <a:t>Create an IAM role for EC2 to access S3</a:t>
            </a:r>
          </a:p>
          <a:p>
            <a:pPr>
              <a:defRPr sz="1800"/>
            </a:pPr>
            <a:r>
              <a:t>Test explicit deny behavior with the IAM Policy Simulator</a:t>
            </a:r>
          </a:p>
          <a:p>
            <a:pPr>
              <a:defRPr sz="1600"/>
            </a:pPr>
            <a:r>
              <a:t>Duration: 60 minutes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Review `modules/02-iam-and-security/resources.md` for further reading.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