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11. This module transitions students from manual provisioning to Infrastructure as Code. Total time: ~90 min. Breakdown: 15 min IaC concepts, 20 min CloudFormation, 15 min intrinsic functions, 10 min stacks/change sets, 15 min SAM, 10 min CDK, 5 min wrap-up.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Ask students to recall how they created a VPC in Module 03 manually. Contrast that with a 20-line YAML file.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You cannot reliably keep them consistent manually. Any manual change in one environment risks divergence. IaC templates ensure all environments are provisioned identically. Common wrong answer: "Just document the steps." Documentation drifts from reality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Cover the core concepts: template, stack, resource. Emphasize that CloudFormation is free; you pay only for the resources it creates.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Build a template live, starting with hardcoded values, then refactoring to use !Ref, !Sub, and !GetAtt.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Answers: 1) The bucket name (physical ID). 2) The full ARN of the bucket. 3) The same ARN, constructed via string substitution. This reinforces that Ref returns the primary ID while GetAtt returns specific attributes.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Show how parameters make templates reusable across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5 minutes. Cover the three update types and rollback behavior.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Show a SAM template side by side with the equivalent raw CloudFormation. Count the lines to make the simplification tangible.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Two resources (AWS::Serverless::Function with an Api event, and AWS::Serverless::SimpleTable). SAM auto-generates the IAM role, API Gateway resources, and CloudWatch Logs group. This is the key value proposition of SAM: less YAML, same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Keep it conceptual. Students do not need to write CDK code in this module. The goal is awareness of the imperative approach.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Remind students to have Docker installed for sam local commands. The lab has 4 guided steps and 3 semi-guided steps. Encourage students to use change sets when updating their stacks.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at this point: "Can I import existing resources?" (Yes, via resource import.) "How do I handle secrets?" (Use SSM Parameter Store or Secrets Manager dynamic references, never hardcode.)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11: Infrastructure as Code with CloudFormation, SAM, and CDK</a:t>
            </a:r>
          </a:p>
        </p:txBody>
      </p:sp>
      <p:sp>
        <p:nvSpPr>
          <p:cNvPr id="3" name="Content Placeholder 2"/>
          <p:cNvSpPr>
            <a:spLocks noGrp="1"/>
          </p:cNvSpPr>
          <p:nvPr>
            <p:ph idx="1"/>
          </p:nvPr>
        </p:nvSpPr>
        <p:spPr/>
        <p:txBody>
          <a:bodyPr/>
          <a:lstStyle/>
          <a:p>
            <a:pPr>
              <a:defRPr sz="1600"/>
            </a:pPr>
            <a:r>
              <a:t>Phase 3: Building Applications</a:t>
            </a:r>
          </a:p>
          <a:p>
            <a:pPr>
              <a:defRPr sz="1600"/>
            </a:pPr>
            <a:r>
              <a:t>Estimated lecture time: 90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Build a CloudFormation template that provisions a VPC, subnets, and an EC2 instance</a:t>
            </a:r>
          </a:p>
          <a:p>
            <a:pPr>
              <a:defRPr sz="1800"/>
            </a:pPr>
            <a:r>
              <a:t>Construct parameterized templates with cross-stack outputs</a:t>
            </a:r>
          </a:p>
          <a:p>
            <a:pPr>
              <a:defRPr sz="1800"/>
            </a:pPr>
            <a:r>
              <a:t>Integrate intrinsic functions (`!Ref`, `!Sub`, `!GetAtt`, `!Join`)</a:t>
            </a:r>
          </a:p>
          <a:p>
            <a:pPr>
              <a:defRPr sz="1800"/>
            </a:pPr>
            <a:r>
              <a:t>Troubleshoot failed stack operations using events and rollback behavior</a:t>
            </a:r>
          </a:p>
          <a:p>
            <a:pPr>
              <a:defRPr sz="1800"/>
            </a:pPr>
            <a:r>
              <a:t>Compare CloudFormation, SAM, and CDK for different workloads</a:t>
            </a:r>
          </a:p>
          <a:p>
            <a:pPr>
              <a:defRPr sz="1800"/>
            </a:pPr>
            <a:r>
              <a:t>Build a serverless app template using SAM with local testing</a:t>
            </a:r>
          </a:p>
          <a:p>
            <a:pPr>
              <a:defRPr sz="1800"/>
            </a:pPr>
            <a:r>
              <a:t>Differentiate imperative vs. declarative IaC approaches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Modules 02 (IAM), 03 (VPC), 04 (EC2), 05 (S3), 06 (Databases), 09 (Lambda)</a:t>
            </a:r>
          </a:p>
          <a:p>
            <a:pPr>
              <a:defRPr sz="1600"/>
            </a:pPr>
            <a:r>
              <a:t>Agenda:</a:t>
            </a:r>
          </a:p>
          <a:p>
            <a:pPr>
              <a:defRPr sz="1800"/>
            </a:pPr>
            <a:r>
              <a:t>Why Infrastructure as Code?</a:t>
            </a:r>
          </a:p>
          <a:p>
            <a:pPr>
              <a:defRPr sz="1800"/>
            </a:pPr>
            <a:r>
              <a:t>CloudFormation overview and template anatomy</a:t>
            </a:r>
          </a:p>
          <a:p>
            <a:pPr>
              <a:defRPr sz="1800"/>
            </a:pPr>
            <a:r>
              <a:t>Intrinsic functions</a:t>
            </a:r>
          </a:p>
          <a:p>
            <a:pPr>
              <a:defRPr sz="1800"/>
            </a:pPr>
            <a:r>
              <a:t>Parameters, outputs, and cross-stack references</a:t>
            </a:r>
          </a:p>
          <a:p>
            <a:pPr>
              <a:defRPr sz="1800"/>
            </a:pPr>
            <a:r>
              <a:t>Creating, updating, and deleting stacks</a:t>
            </a:r>
          </a:p>
          <a:p>
            <a:pPr>
              <a:defRPr sz="1800"/>
            </a:pPr>
            <a:r>
              <a:t>Change sets and drift detection</a:t>
            </a:r>
          </a:p>
          <a:p>
            <a:pPr>
              <a:defRPr sz="1800"/>
            </a:pPr>
            <a:r>
              <a:t>AWS SAM and the SAM CLI</a:t>
            </a:r>
          </a:p>
          <a:p>
            <a:pPr>
              <a:defRPr sz="1800"/>
            </a:pPr>
            <a:r>
              <a:t>AWS CDK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Infrastructure as Code?</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with manual provisioning</a:t>
            </a:r>
          </a:p>
        </p:txBody>
      </p:sp>
      <p:sp>
        <p:nvSpPr>
          <p:cNvPr id="3" name="Content Placeholder 2"/>
          <p:cNvSpPr>
            <a:spLocks noGrp="1"/>
          </p:cNvSpPr>
          <p:nvPr>
            <p:ph idx="1"/>
          </p:nvPr>
        </p:nvSpPr>
        <p:spPr/>
        <p:txBody>
          <a:bodyPr/>
          <a:lstStyle/>
          <a:p>
            <a:pPr>
              <a:defRPr sz="1800"/>
            </a:pPr>
            <a:r>
              <a:t>Manual console clicks are slow and error-prone</a:t>
            </a:r>
          </a:p>
          <a:p>
            <a:pPr>
              <a:defRPr sz="1800"/>
            </a:pPr>
            <a:r>
              <a:t>Impossible to reproduce exactly in another Region or account</a:t>
            </a:r>
          </a:p>
          <a:p>
            <a:pPr>
              <a:defRPr sz="1800"/>
            </a:pPr>
            <a:r>
              <a:t>No audit trail for who changed what</a:t>
            </a:r>
          </a:p>
          <a:p>
            <a:pPr>
              <a:defRPr sz="1800"/>
            </a:pPr>
            <a:r>
              <a:t>Inconsistencies between dev, staging, and production</a:t>
            </a:r>
          </a:p>
          <a:p>
            <a:pPr>
              <a:defRPr sz="1800"/>
            </a:pPr>
            <a:r>
              <a:t>Cannot integrate with CI/CD pipelines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Five benefits of IaC</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Benefit</a:t>
                      </a:r>
                    </a:p>
                  </a:txBody>
                  <a:tcPr>
                    <a:solidFill>
                      <a:srgbClr val="232F3E"/>
                    </a:solidFill>
                  </a:tcPr>
                </a:tc>
                <a:tc>
                  <a:txBody>
                    <a:bodyPr/>
                    <a:lstStyle/>
                    <a:p>
                      <a:pPr>
                        <a:defRPr sz="1400" b="1">
                          <a:solidFill>
                            <a:srgbClr val="FFFFFF"/>
                          </a:solidFill>
                        </a:defRPr>
                      </a:pPr>
                      <a:r>
                        <a:t>Description</a:t>
                      </a:r>
                    </a:p>
                  </a:txBody>
                  <a:tcPr>
                    <a:solidFill>
                      <a:srgbClr val="232F3E"/>
                    </a:solidFill>
                  </a:tcPr>
                </a:tc>
              </a:tr>
              <a:tr h="365760">
                <a:tc>
                  <a:txBody>
                    <a:bodyPr/>
                    <a:lstStyle/>
                    <a:p>
                      <a:pPr>
                        <a:defRPr sz="1200"/>
                      </a:pPr>
                      <a:r>
                        <a:t>Version control</a:t>
                      </a:r>
                    </a:p>
                  </a:txBody>
                  <a:tcPr>
                    <a:solidFill>
                      <a:srgbClr val="F2F3F4"/>
                    </a:solidFill>
                  </a:tcPr>
                </a:tc>
                <a:tc>
                  <a:txBody>
                    <a:bodyPr/>
                    <a:lstStyle/>
                    <a:p>
                      <a:pPr>
                        <a:defRPr sz="1200"/>
                      </a:pPr>
                      <a:r>
                        <a:t>Store templates in Git; review changes in pull requests</a:t>
                      </a:r>
                    </a:p>
                  </a:txBody>
                  <a:tcPr>
                    <a:solidFill>
                      <a:srgbClr val="F2F3F4"/>
                    </a:solidFill>
                  </a:tcPr>
                </a:tc>
              </a:tr>
              <a:tr h="365760">
                <a:tc>
                  <a:txBody>
                    <a:bodyPr/>
                    <a:lstStyle/>
                    <a:p>
                      <a:pPr>
                        <a:defRPr sz="1200"/>
                      </a:pPr>
                      <a:r>
                        <a:t>Automation</a:t>
                      </a:r>
                    </a:p>
                  </a:txBody>
                  <a:tcPr/>
                </a:tc>
                <a:tc>
                  <a:txBody>
                    <a:bodyPr/>
                    <a:lstStyle/>
                    <a:p>
                      <a:pPr>
                        <a:defRPr sz="1200"/>
                      </a:pPr>
                      <a:r>
                        <a:t>Integrate deployments into CI/CD pipelines (Module 12)</a:t>
                      </a:r>
                    </a:p>
                  </a:txBody>
                  <a:tcPr/>
                </a:tc>
              </a:tr>
              <a:tr h="365760">
                <a:tc>
                  <a:txBody>
                    <a:bodyPr/>
                    <a:lstStyle/>
                    <a:p>
                      <a:pPr>
                        <a:defRPr sz="1200"/>
                      </a:pPr>
                      <a:r>
                        <a:t>Drift detection</a:t>
                      </a:r>
                    </a:p>
                  </a:txBody>
                  <a:tcPr>
                    <a:solidFill>
                      <a:srgbClr val="F2F3F4"/>
                    </a:solidFill>
                  </a:tcPr>
                </a:tc>
                <a:tc>
                  <a:txBody>
                    <a:bodyPr/>
                    <a:lstStyle/>
                    <a:p>
                      <a:pPr>
                        <a:defRPr sz="1200"/>
                      </a:pPr>
                      <a:r>
                        <a:t>Compare actual state against the template definition</a:t>
                      </a:r>
                    </a:p>
                  </a:txBody>
                  <a:tcPr>
                    <a:solidFill>
                      <a:srgbClr val="F2F3F4"/>
                    </a:solidFill>
                  </a:tcPr>
                </a:tc>
              </a:tr>
              <a:tr h="365760">
                <a:tc>
                  <a:txBody>
                    <a:bodyPr/>
                    <a:lstStyle/>
                    <a:p>
                      <a:pPr>
                        <a:defRPr sz="1200"/>
                      </a:pPr>
                      <a:r>
                        <a:t>Consistency</a:t>
                      </a:r>
                    </a:p>
                  </a:txBody>
                  <a:tcPr/>
                </a:tc>
                <a:tc>
                  <a:txBody>
                    <a:bodyPr/>
                    <a:lstStyle/>
                    <a:p>
                      <a:pPr>
                        <a:defRPr sz="1200"/>
                      </a:pPr>
                      <a:r>
                        <a:t>Same template, different parameters for each environment</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when does manual provisioning break down?</a:t>
            </a:r>
          </a:p>
        </p:txBody>
      </p:sp>
      <p:sp>
        <p:nvSpPr>
          <p:cNvPr id="3" name="Content Placeholder 2"/>
          <p:cNvSpPr>
            <a:spLocks noGrp="1"/>
          </p:cNvSpPr>
          <p:nvPr>
            <p:ph idx="1"/>
          </p:nvPr>
        </p:nvSpPr>
        <p:spPr/>
        <p:txBody>
          <a:bodyPr/>
          <a:lstStyle/>
          <a:p>
            <a:pPr>
              <a:defRPr sz="1600"/>
            </a:pPr>
            <a:r>
              <a:t>Your team manages 15 microservices across dev, staging, and production. Each service needs a VPC, subnets, security groups, an ALB, and an ECS cluster.</a:t>
            </a:r>
          </a:p>
          <a:p>
            <a:pPr>
              <a:defRPr sz="1600"/>
            </a:pPr>
            <a:r>
              <a:t>How would you keep all three environments consistent without IaC?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CloudFormation overview</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CloudFormation works</a:t>
            </a:r>
          </a:p>
        </p:txBody>
      </p:sp>
      <p:sp>
        <p:nvSpPr>
          <p:cNvPr id="3" name="Content Placeholder 2"/>
          <p:cNvSpPr>
            <a:spLocks noGrp="1"/>
          </p:cNvSpPr>
          <p:nvPr>
            <p:ph idx="1"/>
          </p:nvPr>
        </p:nvSpPr>
        <p:spPr/>
        <p:txBody>
          <a:bodyPr/>
          <a:lstStyle/>
          <a:p>
            <a:pPr>
              <a:defRPr sz="1800"/>
            </a:pPr>
            <a:r>
              <a:t>You write a YAML template declaring desired resources</a:t>
            </a:r>
          </a:p>
          <a:p>
            <a:pPr>
              <a:defRPr sz="1800"/>
            </a:pPr>
            <a:r>
              <a:t>You submit the template to CloudFormation</a:t>
            </a:r>
          </a:p>
          <a:p>
            <a:pPr>
              <a:defRPr sz="1800"/>
            </a:pPr>
            <a:r>
              <a:t>CloudFormation resolves dependencies and determines creation order</a:t>
            </a:r>
          </a:p>
          <a:p>
            <a:pPr>
              <a:defRPr sz="1800"/>
            </a:pPr>
            <a:r>
              <a:t>CloudFormation calls AWS APIs to create each resource</a:t>
            </a:r>
          </a:p>
          <a:p>
            <a:pPr>
              <a:defRPr sz="1800"/>
            </a:pPr>
            <a:r>
              <a:t>If any resource fails, CloudFormation rolls back the entire stack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concepts</a:t>
            </a:r>
          </a:p>
        </p:txBody>
      </p:sp>
      <p:sp>
        <p:nvSpPr>
          <p:cNvPr id="3" name="Content Placeholder 2"/>
          <p:cNvSpPr>
            <a:spLocks noGrp="1"/>
          </p:cNvSpPr>
          <p:nvPr>
            <p:ph idx="1"/>
          </p:nvPr>
        </p:nvSpPr>
        <p:spPr/>
        <p:txBody>
          <a:bodyPr/>
          <a:lstStyle/>
          <a:p>
            <a:pPr>
              <a:defRPr sz="1800"/>
            </a:pPr>
            <a:r>
              <a:t>Template: A YAML or JSON file describing your AWS resources</a:t>
            </a:r>
          </a:p>
          <a:p>
            <a:pPr>
              <a:defRPr sz="1800"/>
            </a:pPr>
            <a:r>
              <a:t>Stack: A collection of resources managed as a single unit</a:t>
            </a:r>
          </a:p>
          <a:p>
            <a:pPr>
              <a:defRPr sz="1800"/>
            </a:pPr>
            <a:r>
              <a:t>Resource: An individual AWS component (EC2, S3, DynamoDB)</a:t>
            </a:r>
          </a:p>
          <a:p>
            <a:pPr>
              <a:defRPr sz="1800"/>
            </a:pPr>
            <a:r>
              <a:t>Each resource has a logical name (in template) and physical name (assigned by AWS)</a:t>
            </a:r>
          </a:p>
          <a:p>
            <a:pPr>
              <a:defRPr sz="1400" i="1">
                <a:solidFill>
                  <a:srgbClr val="555555"/>
                </a:solidFill>
              </a:defRPr>
            </a:pPr>
            <a:r>
              <a:t>CloudFormation is free. You pay only for the resources it provisions.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Template anatomy</a:t>
            </a:r>
          </a:p>
        </p:txBody>
      </p:sp>
      <p:graphicFrame>
        <p:nvGraphicFramePr>
          <p:cNvPr id="4" name="Table 3"/>
          <p:cNvGraphicFramePr>
            <a:graphicFrameLocks noGrp="1"/>
          </p:cNvGraphicFramePr>
          <p:nvPr/>
        </p:nvGraphicFramePr>
        <p:xfrm>
          <a:off x="457200" y="1097280"/>
          <a:ext cx="8229600" cy="25603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Section</a:t>
                      </a:r>
                    </a:p>
                  </a:txBody>
                  <a:tcPr>
                    <a:solidFill>
                      <a:srgbClr val="232F3E"/>
                    </a:solidFill>
                  </a:tcPr>
                </a:tc>
                <a:tc>
                  <a:txBody>
                    <a:bodyPr/>
                    <a:lstStyle/>
                    <a:p>
                      <a:pPr>
                        <a:defRPr sz="1400" b="1">
                          <a:solidFill>
                            <a:srgbClr val="FFFFFF"/>
                          </a:solidFill>
                        </a:defRPr>
                      </a:pPr>
                      <a:r>
                        <a:t>Required</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`Description`</a:t>
                      </a:r>
                    </a:p>
                  </a:txBody>
                  <a:tcPr>
                    <a:solidFill>
                      <a:srgbClr val="F2F3F4"/>
                    </a:solidFill>
                  </a:tcPr>
                </a:tc>
                <a:tc>
                  <a:txBody>
                    <a:bodyPr/>
                    <a:lstStyle/>
                    <a:p>
                      <a:pPr>
                        <a:defRPr sz="1200"/>
                      </a:pPr>
                      <a:r>
                        <a:t>No</a:t>
                      </a:r>
                    </a:p>
                  </a:txBody>
                  <a:tcPr>
                    <a:solidFill>
                      <a:srgbClr val="F2F3F4"/>
                    </a:solidFill>
                  </a:tcPr>
                </a:tc>
                <a:tc>
                  <a:txBody>
                    <a:bodyPr/>
                    <a:lstStyle/>
                    <a:p>
                      <a:pPr>
                        <a:defRPr sz="1200"/>
                      </a:pPr>
                      <a:r>
                        <a:t>Text describing the template</a:t>
                      </a:r>
                    </a:p>
                  </a:txBody>
                  <a:tcPr>
                    <a:solidFill>
                      <a:srgbClr val="F2F3F4"/>
                    </a:solidFill>
                  </a:tcPr>
                </a:tc>
              </a:tr>
              <a:tr h="365760">
                <a:tc>
                  <a:txBody>
                    <a:bodyPr/>
                    <a:lstStyle/>
                    <a:p>
                      <a:pPr>
                        <a:defRPr sz="1200"/>
                      </a:pPr>
                      <a:r>
                        <a:t>`Parameters`</a:t>
                      </a:r>
                    </a:p>
                  </a:txBody>
                  <a:tcPr/>
                </a:tc>
                <a:tc>
                  <a:txBody>
                    <a:bodyPr/>
                    <a:lstStyle/>
                    <a:p>
                      <a:pPr>
                        <a:defRPr sz="1200"/>
                      </a:pPr>
                      <a:r>
                        <a:t>No</a:t>
                      </a:r>
                    </a:p>
                  </a:txBody>
                  <a:tcPr/>
                </a:tc>
                <a:tc>
                  <a:txBody>
                    <a:bodyPr/>
                    <a:lstStyle/>
                    <a:p>
                      <a:pPr>
                        <a:defRPr sz="1200"/>
                      </a:pPr>
                      <a:r>
                        <a:t>Input values for reusability</a:t>
                      </a:r>
                    </a:p>
                  </a:txBody>
                  <a:tcPr/>
                </a:tc>
              </a:tr>
              <a:tr h="365760">
                <a:tc>
                  <a:txBody>
                    <a:bodyPr/>
                    <a:lstStyle/>
                    <a:p>
                      <a:pPr>
                        <a:defRPr sz="1200"/>
                      </a:pPr>
                      <a:r>
                        <a:t>`Mappings`</a:t>
                      </a:r>
                    </a:p>
                  </a:txBody>
                  <a:tcPr>
                    <a:solidFill>
                      <a:srgbClr val="F2F3F4"/>
                    </a:solidFill>
                  </a:tcPr>
                </a:tc>
                <a:tc>
                  <a:txBody>
                    <a:bodyPr/>
                    <a:lstStyle/>
                    <a:p>
                      <a:pPr>
                        <a:defRPr sz="1200"/>
                      </a:pPr>
                      <a:r>
                        <a:t>No</a:t>
                      </a:r>
                    </a:p>
                  </a:txBody>
                  <a:tcPr>
                    <a:solidFill>
                      <a:srgbClr val="F2F3F4"/>
                    </a:solidFill>
                  </a:tcPr>
                </a:tc>
                <a:tc>
                  <a:txBody>
                    <a:bodyPr/>
                    <a:lstStyle/>
                    <a:p>
                      <a:pPr>
                        <a:defRPr sz="1200"/>
                      </a:pPr>
                      <a:r>
                        <a:t>Static key-value lookup tables</a:t>
                      </a:r>
                    </a:p>
                  </a:txBody>
                  <a:tcPr>
                    <a:solidFill>
                      <a:srgbClr val="F2F3F4"/>
                    </a:solidFill>
                  </a:tcPr>
                </a:tc>
              </a:tr>
              <a:tr h="365760">
                <a:tc>
                  <a:txBody>
                    <a:bodyPr/>
                    <a:lstStyle/>
                    <a:p>
                      <a:pPr>
                        <a:defRPr sz="1200"/>
                      </a:pPr>
                      <a:r>
                        <a:t>`Conditions`</a:t>
                      </a:r>
                    </a:p>
                  </a:txBody>
                  <a:tcPr/>
                </a:tc>
                <a:tc>
                  <a:txBody>
                    <a:bodyPr/>
                    <a:lstStyle/>
                    <a:p>
                      <a:pPr>
                        <a:defRPr sz="1200"/>
                      </a:pPr>
                      <a:r>
                        <a:t>No</a:t>
                      </a:r>
                    </a:p>
                  </a:txBody>
                  <a:tcPr/>
                </a:tc>
                <a:tc>
                  <a:txBody>
                    <a:bodyPr/>
                    <a:lstStyle/>
                    <a:p>
                      <a:pPr>
                        <a:defRPr sz="1200"/>
                      </a:pPr>
                      <a:r>
                        <a:t>Boolean expressions for conditional resources</a:t>
                      </a:r>
                    </a:p>
                  </a:txBody>
                  <a:tcPr/>
                </a:tc>
              </a:tr>
              <a:tr h="365760">
                <a:tc>
                  <a:txBody>
                    <a:bodyPr/>
                    <a:lstStyle/>
                    <a:p>
                      <a:pPr>
                        <a:defRPr sz="1200"/>
                      </a:pPr>
                      <a:r>
                        <a:t>`Resources`</a:t>
                      </a:r>
                    </a:p>
                  </a:txBody>
                  <a:tcPr>
                    <a:solidFill>
                      <a:srgbClr val="F2F3F4"/>
                    </a:solidFill>
                  </a:tcPr>
                </a:tc>
                <a:tc>
                  <a:txBody>
                    <a:bodyPr/>
                    <a:lstStyle/>
                    <a:p>
                      <a:pPr>
                        <a:defRPr sz="1200"/>
                      </a:pPr>
                      <a:r>
                        <a:t>Yes</a:t>
                      </a:r>
                    </a:p>
                  </a:txBody>
                  <a:tcPr>
                    <a:solidFill>
                      <a:srgbClr val="F2F3F4"/>
                    </a:solidFill>
                  </a:tcPr>
                </a:tc>
                <a:tc>
                  <a:txBody>
                    <a:bodyPr/>
                    <a:lstStyle/>
                    <a:p>
                      <a:pPr>
                        <a:defRPr sz="1200"/>
                      </a:pPr>
                      <a:r>
                        <a:t>AWS resources to create</a:t>
                      </a:r>
                    </a:p>
                  </a:txBody>
                  <a:tcPr>
                    <a:solidFill>
                      <a:srgbClr val="F2F3F4"/>
                    </a:solidFill>
                  </a:tcPr>
                </a:tc>
              </a:tr>
              <a:tr h="365760">
                <a:tc>
                  <a:txBody>
                    <a:bodyPr/>
                    <a:lstStyle/>
                    <a:p>
                      <a:pPr>
                        <a:defRPr sz="1200"/>
                      </a:pPr>
                      <a:r>
                        <a:t>`Outputs`</a:t>
                      </a:r>
                    </a:p>
                  </a:txBody>
                  <a:tcPr/>
                </a:tc>
                <a:tc>
                  <a:txBody>
                    <a:bodyPr/>
                    <a:lstStyle/>
                    <a:p>
                      <a:pPr>
                        <a:defRPr sz="1200"/>
                      </a:pPr>
                      <a:r>
                        <a:t>No</a:t>
                      </a:r>
                    </a:p>
                  </a:txBody>
                  <a:tcPr/>
                </a:tc>
                <a:tc>
                  <a:txBody>
                    <a:bodyPr/>
                    <a:lstStyle/>
                    <a:p>
                      <a:pPr>
                        <a:defRPr sz="1200"/>
                      </a:pPr>
                      <a:r>
                        <a:t>Values to expose after stack creation</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 minimal CloudFormation template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AWSTemplateFormatVersion: "2010-09-09"</a:t>
            </a:r>
            <a:br/>
            <a:r>
              <a:t>Description: A VPC with DNS support</a:t>
            </a:r>
            <a:br/>
            <a:br/>
            <a:r>
              <a:t>Resources:</a:t>
            </a:r>
            <a:br/>
            <a:r>
              <a:t>  MyVPC:</a:t>
            </a:r>
            <a:br/>
            <a:r>
              <a:t>    Type: AWS::EC2::VPC</a:t>
            </a:r>
            <a:br/>
            <a:r>
              <a:t>    Properties:</a:t>
            </a:r>
            <a:br/>
            <a:r>
              <a:t>      CidrBlock: 10.0.0.0/16</a:t>
            </a:r>
            <a:br/>
            <a:r>
              <a:t>      EnableDnsSupport: true</a:t>
            </a:r>
            <a:br/>
            <a:r>
              <a:t>      Tags:</a:t>
            </a:r>
            <a:br/>
            <a:r>
              <a:t>        - Key: Name</a:t>
            </a:r>
            <a:br/>
            <a:r>
              <a:t>          Value: bootcamp-vpc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Intrinsic functions</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Intrinsic functions summary</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Function</a:t>
                      </a:r>
                    </a:p>
                  </a:txBody>
                  <a:tcPr>
                    <a:solidFill>
                      <a:srgbClr val="232F3E"/>
                    </a:solidFill>
                  </a:tcPr>
                </a:tc>
                <a:tc>
                  <a:txBody>
                    <a:bodyPr/>
                    <a:lstStyle/>
                    <a:p>
                      <a:pPr>
                        <a:defRPr sz="1400" b="1">
                          <a:solidFill>
                            <a:srgbClr val="FFFFFF"/>
                          </a:solidFill>
                        </a:defRPr>
                      </a:pPr>
                      <a:r>
                        <a:t>Short Form</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`Fn::Sub`</a:t>
                      </a:r>
                    </a:p>
                  </a:txBody>
                  <a:tcPr>
                    <a:solidFill>
                      <a:srgbClr val="F2F3F4"/>
                    </a:solidFill>
                  </a:tcPr>
                </a:tc>
                <a:tc>
                  <a:txBody>
                    <a:bodyPr/>
                    <a:lstStyle/>
                    <a:p>
                      <a:pPr>
                        <a:defRPr sz="1200"/>
                      </a:pPr>
                      <a:r>
                        <a:t>`!Sub`</a:t>
                      </a:r>
                    </a:p>
                  </a:txBody>
                  <a:tcPr>
                    <a:solidFill>
                      <a:srgbClr val="F2F3F4"/>
                    </a:solidFill>
                  </a:tcPr>
                </a:tc>
                <a:tc>
                  <a:txBody>
                    <a:bodyPr/>
                    <a:lstStyle/>
                    <a:p>
                      <a:pPr>
                        <a:defRPr sz="1200"/>
                      </a:pPr>
                      <a:r>
                        <a:t>Substitutes variables in a string</a:t>
                      </a:r>
                    </a:p>
                  </a:txBody>
                  <a:tcPr>
                    <a:solidFill>
                      <a:srgbClr val="F2F3F4"/>
                    </a:solidFill>
                  </a:tcPr>
                </a:tc>
              </a:tr>
              <a:tr h="365760">
                <a:tc>
                  <a:txBody>
                    <a:bodyPr/>
                    <a:lstStyle/>
                    <a:p>
                      <a:pPr>
                        <a:defRPr sz="1200"/>
                      </a:pPr>
                      <a:r>
                        <a:t>`Fn::GetAtt`</a:t>
                      </a:r>
                    </a:p>
                  </a:txBody>
                  <a:tcPr/>
                </a:tc>
                <a:tc>
                  <a:txBody>
                    <a:bodyPr/>
                    <a:lstStyle/>
                    <a:p>
                      <a:pPr>
                        <a:defRPr sz="1200"/>
                      </a:pPr>
                      <a:r>
                        <a:t>`!GetAtt`</a:t>
                      </a:r>
                    </a:p>
                  </a:txBody>
                  <a:tcPr/>
                </a:tc>
                <a:tc>
                  <a:txBody>
                    <a:bodyPr/>
                    <a:lstStyle/>
                    <a:p>
                      <a:pPr>
                        <a:defRPr sz="1200"/>
                      </a:pPr>
                      <a:r>
                        <a:t>Returns a specific attribute of a resource</a:t>
                      </a:r>
                    </a:p>
                  </a:txBody>
                  <a:tcPr/>
                </a:tc>
              </a:tr>
              <a:tr h="365760">
                <a:tc>
                  <a:txBody>
                    <a:bodyPr/>
                    <a:lstStyle/>
                    <a:p>
                      <a:pPr>
                        <a:defRPr sz="1200"/>
                      </a:pPr>
                      <a:r>
                        <a:t>`Fn::Join`</a:t>
                      </a:r>
                    </a:p>
                  </a:txBody>
                  <a:tcPr>
                    <a:solidFill>
                      <a:srgbClr val="F2F3F4"/>
                    </a:solidFill>
                  </a:tcPr>
                </a:tc>
                <a:tc>
                  <a:txBody>
                    <a:bodyPr/>
                    <a:lstStyle/>
                    <a:p>
                      <a:pPr>
                        <a:defRPr sz="1200"/>
                      </a:pPr>
                      <a:r>
                        <a:t>`!Join`</a:t>
                      </a:r>
                    </a:p>
                  </a:txBody>
                  <a:tcPr>
                    <a:solidFill>
                      <a:srgbClr val="F2F3F4"/>
                    </a:solidFill>
                  </a:tcPr>
                </a:tc>
                <a:tc>
                  <a:txBody>
                    <a:bodyPr/>
                    <a:lstStyle/>
                    <a:p>
                      <a:pPr>
                        <a:defRPr sz="1200"/>
                      </a:pPr>
                      <a:r>
                        <a:t>Concatenates values with a delimiter</a:t>
                      </a:r>
                    </a:p>
                  </a:txBody>
                  <a:tcPr>
                    <a:solidFill>
                      <a:srgbClr val="F2F3F4"/>
                    </a:solidFill>
                  </a:tcPr>
                </a:tc>
              </a:tr>
              <a:tr h="365760">
                <a:tc>
                  <a:txBody>
                    <a:bodyPr/>
                    <a:lstStyle/>
                    <a:p>
                      <a:pPr>
                        <a:defRPr sz="1200"/>
                      </a:pPr>
                      <a:r>
                        <a:t>`Fn::Select`</a:t>
                      </a:r>
                    </a:p>
                  </a:txBody>
                  <a:tcPr/>
                </a:tc>
                <a:tc>
                  <a:txBody>
                    <a:bodyPr/>
                    <a:lstStyle/>
                    <a:p>
                      <a:pPr>
                        <a:defRPr sz="1200"/>
                      </a:pPr>
                      <a:r>
                        <a:t>`!Select`</a:t>
                      </a:r>
                    </a:p>
                  </a:txBody>
                  <a:tcPr/>
                </a:tc>
                <a:tc>
                  <a:txBody>
                    <a:bodyPr/>
                    <a:lstStyle/>
                    <a:p>
                      <a:pPr>
                        <a:defRPr sz="1200"/>
                      </a:pPr>
                      <a:r>
                        <a:t>Returns one value from a list by index</a:t>
                      </a:r>
                    </a:p>
                  </a:txBody>
                  <a:tcPr/>
                </a:tc>
              </a:tr>
              <a:tr h="365760">
                <a:tc>
                  <a:txBody>
                    <a:bodyPr/>
                    <a:lstStyle/>
                    <a:p>
                      <a:pPr>
                        <a:defRPr sz="1200"/>
                      </a:pPr>
                      <a:r>
                        <a:t>`Fn::If`</a:t>
                      </a:r>
                    </a:p>
                  </a:txBody>
                  <a:tcPr>
                    <a:solidFill>
                      <a:srgbClr val="F2F3F4"/>
                    </a:solidFill>
                  </a:tcPr>
                </a:tc>
                <a:tc>
                  <a:txBody>
                    <a:bodyPr/>
                    <a:lstStyle/>
                    <a:p>
                      <a:pPr>
                        <a:defRPr sz="1200"/>
                      </a:pPr>
                      <a:r>
                        <a:t>`!If`</a:t>
                      </a:r>
                    </a:p>
                  </a:txBody>
                  <a:tcPr>
                    <a:solidFill>
                      <a:srgbClr val="F2F3F4"/>
                    </a:solidFill>
                  </a:tcPr>
                </a:tc>
                <a:tc>
                  <a:txBody>
                    <a:bodyPr/>
                    <a:lstStyle/>
                    <a:p>
                      <a:pPr>
                        <a:defRPr sz="1200"/>
                      </a:pPr>
                      <a:r>
                        <a:t>Returns one of two values based on a condition</a:t>
                      </a:r>
                    </a:p>
                  </a:txBody>
                  <a:tcPr>
                    <a:solidFill>
                      <a:srgbClr val="F2F3F4"/>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Ref and Sub in action</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Resources:</a:t>
            </a:r>
            <a:br/>
            <a:r>
              <a:t>  MyBucket:</a:t>
            </a:r>
            <a:br/>
            <a:r>
              <a:t>    Type: AWS::S3::Bucket</a:t>
            </a:r>
            <a:br/>
            <a:br/>
            <a:r>
              <a:t>  MyFunction:</a:t>
            </a:r>
            <a:br/>
            <a:r>
              <a:t>    Type: AWS::Lambda::Function</a:t>
            </a:r>
            <a:br/>
            <a:r>
              <a:t>    Properties:</a:t>
            </a:r>
            <a:br/>
            <a:r>
              <a:t>      Environment:</a:t>
            </a:r>
            <a:br/>
            <a:r>
              <a:t>        Variables:</a:t>
            </a:r>
            <a:br/>
            <a:r>
              <a:t>          BUCKET_NAME: !Ref MyBucket</a:t>
            </a:r>
            <a:br/>
            <a:br/>
            <a:r>
              <a:t>Outputs:</a:t>
            </a:r>
            <a:br/>
            <a:r>
              <a:t>  ApiUrl:</a:t>
            </a:r>
            <a:br/>
            <a:r>
              <a:t>    Value: !Sub "https://${MyApi}.execute-api.${AWS::Region}.amazonaws.com/prod"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what does each function return?</a:t>
            </a:r>
          </a:p>
        </p:txBody>
      </p:sp>
      <p:sp>
        <p:nvSpPr>
          <p:cNvPr id="3" name="Content Placeholder 2"/>
          <p:cNvSpPr>
            <a:spLocks noGrp="1"/>
          </p:cNvSpPr>
          <p:nvPr>
            <p:ph idx="1"/>
          </p:nvPr>
        </p:nvSpPr>
        <p:spPr/>
        <p:txBody>
          <a:bodyPr/>
          <a:lstStyle/>
          <a:p>
            <a:pPr>
              <a:defRPr sz="1600"/>
            </a:pPr>
            <a:r>
              <a:t>Given a stack with an S3 bucket named `DataBucket`:</a:t>
            </a:r>
          </a:p>
          <a:p>
            <a:pPr>
              <a:defRPr sz="1800"/>
            </a:pPr>
            <a:r>
              <a:t>`!Ref DataBucket` returns ___</a:t>
            </a:r>
          </a:p>
          <a:p>
            <a:pPr>
              <a:defRPr sz="1800"/>
            </a:pPr>
            <a:r>
              <a:t>`!GetAtt DataBucket.Arn` returns ___</a:t>
            </a:r>
          </a:p>
          <a:p>
            <a:pPr>
              <a:defRPr sz="1800"/>
            </a:pPr>
            <a:r>
              <a:t>`!Sub "arn:aws:s3:::${DataBucket}"` returns 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Parameters and outputs</a:t>
            </a:r>
          </a:p>
        </p:txBody>
      </p:sp>
      <p:sp>
        <p:nvSpPr>
          <p:cNvPr id="3" name="Text Placeholder 2"/>
          <p:cNvSpPr>
            <a:spLocks noGrp="1"/>
          </p:cNvSpPr>
          <p:nvPr>
            <p:ph type="body"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Parameterizing templates</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Parameters:</a:t>
            </a:r>
            <a:br/>
            <a:r>
              <a:t>  EnvironmentType:</a:t>
            </a:r>
            <a:br/>
            <a:r>
              <a:t>    Type: String</a:t>
            </a:r>
            <a:br/>
            <a:r>
              <a:t>    Default: dev</a:t>
            </a:r>
            <a:br/>
            <a:r>
              <a:t>    AllowedValues: [dev, staging, prod]</a:t>
            </a:r>
            <a:br/>
            <a:r>
              <a:t>  InstanceType:</a:t>
            </a:r>
            <a:br/>
            <a:r>
              <a:t>    Type: String</a:t>
            </a:r>
            <a:br/>
            <a:r>
              <a:t>    Default: t3.micro</a:t>
            </a:r>
            <a:br/>
            <a:r>
              <a:t>    AllowedValues: [t3.micro, t3.small, m5.large]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Application stack imports:</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Outputs:</a:t>
            </a:r>
            <a:br/>
            <a:r>
              <a:t>  PublicSubnetId:</a:t>
            </a:r>
            <a:br/>
            <a:r>
              <a:t>    Value: !Ref PublicSubnet</a:t>
            </a:r>
            <a:br/>
            <a:r>
              <a:t>    Export:</a:t>
            </a:r>
            <a:br/>
            <a:r>
              <a:t>      Name: !Sub "${AWS::StackName}-public-subnet-id"</a:t>
            </a:r>
            <a:br/>
            <a:br/>
            <a:r>
              <a:t>Resources:</a:t>
            </a:r>
            <a:br/>
            <a:r>
              <a:t>  WebServer:</a:t>
            </a:r>
            <a:br/>
            <a:r>
              <a:t>    Type: AWS::EC2::Instance</a:t>
            </a:r>
            <a:br/>
            <a:r>
              <a:t>    Properties:</a:t>
            </a:r>
            <a:br/>
            <a:r>
              <a:t>      SubnetId: !ImportValue network-stack-public-subnet-id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Creating, updating, and deleting stacks</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Stack update types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Update Type</a:t>
                      </a:r>
                    </a:p>
                  </a:txBody>
                  <a:tcPr>
                    <a:solidFill>
                      <a:srgbClr val="232F3E"/>
                    </a:solidFill>
                  </a:tcPr>
                </a:tc>
                <a:tc>
                  <a:txBody>
                    <a:bodyPr/>
                    <a:lstStyle/>
                    <a:p>
                      <a:pPr>
                        <a:defRPr sz="1400" b="1">
                          <a:solidFill>
                            <a:srgbClr val="FFFFFF"/>
                          </a:solidFill>
                        </a:defRPr>
                      </a:pPr>
                      <a:r>
                        <a:t>Behavior</a:t>
                      </a:r>
                    </a:p>
                  </a:txBody>
                  <a:tcPr>
                    <a:solidFill>
                      <a:srgbClr val="232F3E"/>
                    </a:solidFill>
                  </a:tcPr>
                </a:tc>
                <a:tc>
                  <a:txBody>
                    <a:bodyPr/>
                    <a:lstStyle/>
                    <a:p>
                      <a:pPr>
                        <a:defRPr sz="1400" b="1">
                          <a:solidFill>
                            <a:srgbClr val="FFFFFF"/>
                          </a:solidFill>
                        </a:defRPr>
                      </a:pPr>
                      <a:r>
                        <a:t>Example</a:t>
                      </a:r>
                    </a:p>
                  </a:txBody>
                  <a:tcPr>
                    <a:solidFill>
                      <a:srgbClr val="232F3E"/>
                    </a:solidFill>
                  </a:tcPr>
                </a:tc>
              </a:tr>
              <a:tr h="365760">
                <a:tc>
                  <a:txBody>
                    <a:bodyPr/>
                    <a:lstStyle/>
                    <a:p>
                      <a:pPr>
                        <a:defRPr sz="1200"/>
                      </a:pPr>
                      <a:r>
                        <a:t>Some interruption</a:t>
                      </a:r>
                    </a:p>
                  </a:txBody>
                  <a:tcPr>
                    <a:solidFill>
                      <a:srgbClr val="F2F3F4"/>
                    </a:solidFill>
                  </a:tcPr>
                </a:tc>
                <a:tc>
                  <a:txBody>
                    <a:bodyPr/>
                    <a:lstStyle/>
                    <a:p>
                      <a:pPr>
                        <a:defRPr sz="1200"/>
                      </a:pPr>
                      <a:r>
                        <a:t>Brief downtime during update</a:t>
                      </a:r>
                    </a:p>
                  </a:txBody>
                  <a:tcPr>
                    <a:solidFill>
                      <a:srgbClr val="F2F3F4"/>
                    </a:solidFill>
                  </a:tcPr>
                </a:tc>
                <a:tc>
                  <a:txBody>
                    <a:bodyPr/>
                    <a:lstStyle/>
                    <a:p>
                      <a:pPr>
                        <a:defRPr sz="1200"/>
                      </a:pPr>
                      <a:r>
                        <a:t>Changing an EC2 instance type</a:t>
                      </a:r>
                    </a:p>
                  </a:txBody>
                  <a:tcPr>
                    <a:solidFill>
                      <a:srgbClr val="F2F3F4"/>
                    </a:solidFill>
                  </a:tcPr>
                </a:tc>
              </a:tr>
              <a:tr h="365760">
                <a:tc>
                  <a:txBody>
                    <a:bodyPr/>
                    <a:lstStyle/>
                    <a:p>
                      <a:pPr>
                        <a:defRPr sz="1200"/>
                      </a:pPr>
                      <a:r>
                        <a:t>Replacement</a:t>
                      </a:r>
                    </a:p>
                  </a:txBody>
                  <a:tcPr/>
                </a:tc>
                <a:tc>
                  <a:txBody>
                    <a:bodyPr/>
                    <a:lstStyle/>
                    <a:p>
                      <a:pPr>
                        <a:defRPr sz="1200"/>
                      </a:pPr>
                      <a:r>
                        <a:t>New resource created, old deleted</a:t>
                      </a:r>
                    </a:p>
                  </a:txBody>
                  <a:tcPr/>
                </a:tc>
                <a:tc>
                  <a:txBody>
                    <a:bodyPr/>
                    <a:lstStyle/>
                    <a:p>
                      <a:pPr>
                        <a:defRPr sz="1200"/>
                      </a:pPr>
                      <a:r>
                        <a:t>Changing an RDS database engine</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Stack update types</a:t>
            </a:r>
          </a:p>
        </p:txBody>
      </p:sp>
      <p:sp>
        <p:nvSpPr>
          <p:cNvPr id="3" name="Content Placeholder 2"/>
          <p:cNvSpPr>
            <a:spLocks noGrp="1"/>
          </p:cNvSpPr>
          <p:nvPr>
            <p:ph idx="1"/>
          </p:nvPr>
        </p:nvSpPr>
        <p:spPr/>
        <p:txBody>
          <a:bodyPr/>
          <a:lstStyle/>
          <a:p>
            <a:pPr>
              <a:defRPr sz="1400" i="1">
                <a:solidFill>
                  <a:srgbClr val="555555"/>
                </a:solidFill>
              </a:defRPr>
            </a:pPr>
            <a:r>
              <a:t>Always set a `DeletionPolicy` of `Retain` or `Snapshot` on databases and S3 buckets with important data.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Change sets: preview before you apply</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 cloudformation create-change-set \</a:t>
            </a:r>
            <a:br/>
            <a:r>
              <a:t>    --stack-name my-vpc-stack \</a:t>
            </a:r>
            <a:br/>
            <a:r>
              <a:t>    --change-set-name add-private-subnet \</a:t>
            </a:r>
            <a:br/>
            <a:r>
              <a:t>    --template-body file://vpc-template-v2.yaml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Drift detection</a:t>
            </a:r>
          </a:p>
        </p:txBody>
      </p:sp>
      <p:sp>
        <p:nvSpPr>
          <p:cNvPr id="3" name="Content Placeholder 2"/>
          <p:cNvSpPr>
            <a:spLocks noGrp="1"/>
          </p:cNvSpPr>
          <p:nvPr>
            <p:ph idx="1"/>
          </p:nvPr>
        </p:nvSpPr>
        <p:spPr/>
        <p:txBody>
          <a:bodyPr/>
          <a:lstStyle/>
          <a:p>
            <a:pPr>
              <a:defRPr sz="1800"/>
            </a:pPr>
            <a:r>
              <a:t>Manual changes outside CloudFormation cause "drift"</a:t>
            </a:r>
          </a:p>
          <a:p>
            <a:pPr>
              <a:defRPr sz="1800"/>
            </a:pPr>
            <a:r>
              <a:t>Drift detection compares actual state vs. template definition</a:t>
            </a:r>
          </a:p>
          <a:p>
            <a:pPr>
              <a:defRPr sz="1800"/>
            </a:pPr>
            <a:r>
              <a:t>Resources reported as `IN_SYNC`, `MODIFIED`, or `DELETED`</a:t>
            </a:r>
          </a:p>
          <a:p>
            <a:pPr>
              <a:defRPr sz="1800"/>
            </a:pPr>
            <a:r>
              <a:t>Run drift detection before applying stack updates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SAM</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SAM simplifies serverless templates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SAM Resource Type</a:t>
                      </a:r>
                    </a:p>
                  </a:txBody>
                  <a:tcPr>
                    <a:solidFill>
                      <a:srgbClr val="232F3E"/>
                    </a:solidFill>
                  </a:tcPr>
                </a:tc>
                <a:tc>
                  <a:txBody>
                    <a:bodyPr/>
                    <a:lstStyle/>
                    <a:p>
                      <a:pPr>
                        <a:defRPr sz="1400" b="1">
                          <a:solidFill>
                            <a:srgbClr val="FFFFFF"/>
                          </a:solidFill>
                        </a:defRPr>
                      </a:pPr>
                      <a:r>
                        <a:t>What It Creates Automatically</a:t>
                      </a:r>
                    </a:p>
                  </a:txBody>
                  <a:tcPr>
                    <a:solidFill>
                      <a:srgbClr val="232F3E"/>
                    </a:solidFill>
                  </a:tcPr>
                </a:tc>
              </a:tr>
              <a:tr h="365760">
                <a:tc>
                  <a:txBody>
                    <a:bodyPr/>
                    <a:lstStyle/>
                    <a:p>
                      <a:pPr>
                        <a:defRPr sz="1200"/>
                      </a:pPr>
                      <a:r>
                        <a:t>`AWS::Serverless::Api`</a:t>
                      </a:r>
                    </a:p>
                  </a:txBody>
                  <a:tcPr>
                    <a:solidFill>
                      <a:srgbClr val="F2F3F4"/>
                    </a:solidFill>
                  </a:tcPr>
                </a:tc>
                <a:tc>
                  <a:txBody>
                    <a:bodyPr/>
                    <a:lstStyle/>
                    <a:p>
                      <a:pPr>
                        <a:defRPr sz="1200"/>
                      </a:pPr>
                      <a:r>
                        <a:t>API Gateway REST API, deployment, stage</a:t>
                      </a:r>
                    </a:p>
                  </a:txBody>
                  <a:tcPr>
                    <a:solidFill>
                      <a:srgbClr val="F2F3F4"/>
                    </a:solidFill>
                  </a:tcPr>
                </a:tc>
              </a:tr>
              <a:tr h="365760">
                <a:tc>
                  <a:txBody>
                    <a:bodyPr/>
                    <a:lstStyle/>
                    <a:p>
                      <a:pPr>
                        <a:defRPr sz="1200"/>
                      </a:pPr>
                      <a:r>
                        <a:t>`AWS::Serverless::SimpleTable`</a:t>
                      </a:r>
                    </a:p>
                  </a:txBody>
                  <a:tcPr/>
                </a:tc>
                <a:tc>
                  <a:txBody>
                    <a:bodyPr/>
                    <a:lstStyle/>
                    <a:p>
                      <a:pPr>
                        <a:defRPr sz="1200"/>
                      </a:pPr>
                      <a:r>
                        <a:t>DynamoDB table with single-attribute key</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 simplifies serverless templates</a:t>
            </a:r>
          </a:p>
        </p:txBody>
      </p:sp>
      <p:sp>
        <p:nvSpPr>
          <p:cNvPr id="3" name="Content Placeholder 2"/>
          <p:cNvSpPr>
            <a:spLocks noGrp="1"/>
          </p:cNvSpPr>
          <p:nvPr>
            <p:ph idx="1"/>
          </p:nvPr>
        </p:nvSpPr>
        <p:spPr/>
        <p:txBody>
          <a:bodyPr/>
          <a:lstStyle/>
          <a:p>
            <a:pPr>
              <a:defRPr sz="1800"/>
            </a:pPr>
            <a:r>
              <a:t>SAM templates use `Transform: AWS::Serverless-2016-10-31`</a:t>
            </a:r>
          </a:p>
          <a:p>
            <a:pPr>
              <a:defRPr sz="1800"/>
            </a:pPr>
            <a:r>
              <a:t>The `Globals` section sets defaults for all functions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SAM template example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Transform: AWS::Serverless-2016-10-31</a:t>
            </a:r>
            <a:br/>
            <a:r>
              <a:t>Globals:</a:t>
            </a:r>
            <a:br/>
            <a:r>
              <a:t>  Function:</a:t>
            </a:r>
            <a:br/>
            <a:r>
              <a:t>    Runtime: python3.12</a:t>
            </a:r>
            <a:br/>
            <a:r>
              <a:t>    Timeout: 30</a:t>
            </a:r>
            <a:br/>
            <a:r>
              <a:t>Resources:</a:t>
            </a:r>
            <a:br/>
            <a:r>
              <a:t>  GetOrderFunction:</a:t>
            </a:r>
            <a:br/>
            <a:r>
              <a:t>    Type: AWS::Serverless::Function</a:t>
            </a:r>
            <a:br/>
            <a:r>
              <a:t>    Properties:</a:t>
            </a:r>
            <a:br/>
            <a:r>
              <a:t>      Handler: app.get_order</a:t>
            </a:r>
            <a:br/>
            <a:r>
              <a:t>      CodeUri: src/</a:t>
            </a:r>
            <a:br/>
            <a:r>
              <a:t>      Events:</a:t>
            </a:r>
            <a:br/>
            <a:r>
              <a:t>        GetOrder:</a:t>
            </a:r>
            <a:br/>
            <a:r>
              <a:t>          Type: Api</a:t>
            </a:r>
            <a:br/>
            <a:r>
              <a:t>          Properties:</a:t>
            </a:r>
            <a:br/>
            <a:r>
              <a:t>            Path: /orders/{id}</a:t>
            </a:r>
            <a:br/>
            <a:r>
              <a:t>            Method: get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SAM CLI workflow</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Command</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`sam build`</a:t>
                      </a:r>
                    </a:p>
                  </a:txBody>
                  <a:tcPr>
                    <a:solidFill>
                      <a:srgbClr val="F2F3F4"/>
                    </a:solidFill>
                  </a:tcPr>
                </a:tc>
                <a:tc>
                  <a:txBody>
                    <a:bodyPr/>
                    <a:lstStyle/>
                    <a:p>
                      <a:pPr>
                        <a:defRPr sz="1200"/>
                      </a:pPr>
                      <a:r>
                        <a:t>Install dependencies and prepare artifacts</a:t>
                      </a:r>
                    </a:p>
                  </a:txBody>
                  <a:tcPr>
                    <a:solidFill>
                      <a:srgbClr val="F2F3F4"/>
                    </a:solidFill>
                  </a:tcPr>
                </a:tc>
              </a:tr>
              <a:tr h="365760">
                <a:tc>
                  <a:txBody>
                    <a:bodyPr/>
                    <a:lstStyle/>
                    <a:p>
                      <a:pPr>
                        <a:defRPr sz="1200"/>
                      </a:pPr>
                      <a:r>
                        <a:t>`sam local invoke`</a:t>
                      </a:r>
                    </a:p>
                  </a:txBody>
                  <a:tcPr/>
                </a:tc>
                <a:tc>
                  <a:txBody>
                    <a:bodyPr/>
                    <a:lstStyle/>
                    <a:p>
                      <a:pPr>
                        <a:defRPr sz="1200"/>
                      </a:pPr>
                      <a:r>
                        <a:t>Test a function locally in Docker</a:t>
                      </a:r>
                    </a:p>
                  </a:txBody>
                  <a:tcPr/>
                </a:tc>
              </a:tr>
              <a:tr h="365760">
                <a:tc>
                  <a:txBody>
                    <a:bodyPr/>
                    <a:lstStyle/>
                    <a:p>
                      <a:pPr>
                        <a:defRPr sz="1200"/>
                      </a:pPr>
                      <a:r>
                        <a:t>`sam local start-api`</a:t>
                      </a:r>
                    </a:p>
                  </a:txBody>
                  <a:tcPr>
                    <a:solidFill>
                      <a:srgbClr val="F2F3F4"/>
                    </a:solidFill>
                  </a:tcPr>
                </a:tc>
                <a:tc>
                  <a:txBody>
                    <a:bodyPr/>
                    <a:lstStyle/>
                    <a:p>
                      <a:pPr>
                        <a:defRPr sz="1200"/>
                      </a:pPr>
                      <a:r>
                        <a:t>Start a local API Gateway simulator</a:t>
                      </a:r>
                    </a:p>
                  </a:txBody>
                  <a:tcPr>
                    <a:solidFill>
                      <a:srgbClr val="F2F3F4"/>
                    </a:solidFill>
                  </a:tcPr>
                </a:tc>
              </a:tr>
              <a:tr h="365760">
                <a:tc>
                  <a:txBody>
                    <a:bodyPr/>
                    <a:lstStyle/>
                    <a:p>
                      <a:pPr>
                        <a:defRPr sz="1200"/>
                      </a:pPr>
                      <a:r>
                        <a:t>`sam deploy --guided`</a:t>
                      </a:r>
                    </a:p>
                  </a:txBody>
                  <a:tcPr/>
                </a:tc>
                <a:tc>
                  <a:txBody>
                    <a:bodyPr/>
                    <a:lstStyle/>
                    <a:p>
                      <a:pPr>
                        <a:defRPr sz="1200"/>
                      </a:pPr>
                      <a:r>
                        <a:t>Package and deploy to AWS</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CloudFormation vs. SAM for a serverless API</a:t>
            </a:r>
          </a:p>
        </p:txBody>
      </p:sp>
      <p:sp>
        <p:nvSpPr>
          <p:cNvPr id="3" name="Content Placeholder 2"/>
          <p:cNvSpPr>
            <a:spLocks noGrp="1"/>
          </p:cNvSpPr>
          <p:nvPr>
            <p:ph idx="1"/>
          </p:nvPr>
        </p:nvSpPr>
        <p:spPr/>
        <p:txBody>
          <a:bodyPr/>
          <a:lstStyle/>
          <a:p>
            <a:pPr>
              <a:defRPr sz="1600"/>
            </a:pPr>
            <a:r>
              <a:t>You need to deploy a Lambda function behind API Gateway with a DynamoDB table. In raw CloudFormation, this requires separate resources for the function, role, API, deployment, stage, and table.</a:t>
            </a:r>
          </a:p>
          <a:p>
            <a:pPr>
              <a:defRPr sz="1600"/>
            </a:pPr>
            <a:r>
              <a:t>How many resources does the equivalent SAM template need?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CDK overview</a:t>
            </a:r>
          </a:p>
        </p:txBody>
      </p:sp>
      <p:sp>
        <p:nvSpPr>
          <p:cNvPr id="3" name="Text Placeholder 2"/>
          <p:cNvSpPr>
            <a:spLocks noGrp="1"/>
          </p:cNvSpPr>
          <p:nvPr>
            <p:ph type="body"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Imperative vs. declarative IaC</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Approach</a:t>
                      </a:r>
                    </a:p>
                  </a:txBody>
                  <a:tcPr>
                    <a:solidFill>
                      <a:srgbClr val="232F3E"/>
                    </a:solidFill>
                  </a:tcPr>
                </a:tc>
                <a:tc>
                  <a:txBody>
                    <a:bodyPr/>
                    <a:lstStyle/>
                    <a:p>
                      <a:pPr>
                        <a:defRPr sz="1400" b="1">
                          <a:solidFill>
                            <a:srgbClr val="FFFFFF"/>
                          </a:solidFill>
                        </a:defRPr>
                      </a:pPr>
                      <a:r>
                        <a:t>Tool</a:t>
                      </a:r>
                    </a:p>
                  </a:txBody>
                  <a:tcPr>
                    <a:solidFill>
                      <a:srgbClr val="232F3E"/>
                    </a:solidFill>
                  </a:tcPr>
                </a:tc>
                <a:tc>
                  <a:txBody>
                    <a:bodyPr/>
                    <a:lstStyle/>
                    <a:p>
                      <a:pPr>
                        <a:defRPr sz="1400" b="1">
                          <a:solidFill>
                            <a:srgbClr val="FFFFFF"/>
                          </a:solidFill>
                        </a:defRPr>
                      </a:pPr>
                      <a:r>
                        <a:t>How You Define Infrastructure</a:t>
                      </a:r>
                    </a:p>
                  </a:txBody>
                  <a:tcPr>
                    <a:solidFill>
                      <a:srgbClr val="232F3E"/>
                    </a:solidFill>
                  </a:tcPr>
                </a:tc>
              </a:tr>
              <a:tr h="365760">
                <a:tc>
                  <a:txBody>
                    <a:bodyPr/>
                    <a:lstStyle/>
                    <a:p>
                      <a:pPr>
                        <a:defRPr sz="1200"/>
                      </a:pPr>
                      <a:r>
                        <a:t>Imperative</a:t>
                      </a:r>
                    </a:p>
                  </a:txBody>
                  <a:tcPr>
                    <a:solidFill>
                      <a:srgbClr val="F2F3F4"/>
                    </a:solidFill>
                  </a:tcPr>
                </a:tc>
                <a:tc>
                  <a:txBody>
                    <a:bodyPr/>
                    <a:lstStyle/>
                    <a:p>
                      <a:pPr>
                        <a:defRPr sz="1200"/>
                      </a:pPr>
                      <a:r>
                        <a:t>CDK</a:t>
                      </a:r>
                    </a:p>
                  </a:txBody>
                  <a:tcPr>
                    <a:solidFill>
                      <a:srgbClr val="F2F3F4"/>
                    </a:solidFill>
                  </a:tcPr>
                </a:tc>
                <a:tc>
                  <a:txBody>
                    <a:bodyPr/>
                    <a:lstStyle/>
                    <a:p>
                      <a:pPr>
                        <a:defRPr sz="1200"/>
                      </a:pPr>
                      <a:r>
                        <a:t>Write TypeScript/Python code that generates the state</a:t>
                      </a:r>
                    </a:p>
                  </a:txBody>
                  <a:tcPr>
                    <a:solidFill>
                      <a:srgbClr val="F2F3F4"/>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Imperative vs. declarative IaC</a:t>
            </a:r>
          </a:p>
        </p:txBody>
      </p:sp>
      <p:sp>
        <p:nvSpPr>
          <p:cNvPr id="3" name="Content Placeholder 2"/>
          <p:cNvSpPr>
            <a:spLocks noGrp="1"/>
          </p:cNvSpPr>
          <p:nvPr>
            <p:ph idx="1"/>
          </p:nvPr>
        </p:nvSpPr>
        <p:spPr/>
        <p:txBody>
          <a:bodyPr/>
          <a:lstStyle/>
          <a:p>
            <a:pPr>
              <a:defRPr sz="1800"/>
            </a:pPr>
            <a:r>
              <a:t>CDK uses constructs at three levels: L1 (raw CFN), L2 (curated), L3 (patterns)</a:t>
            </a:r>
          </a:p>
          <a:p>
            <a:pPr>
              <a:defRPr sz="1800"/>
            </a:pPr>
            <a:r>
              <a:t>`bucket.grantRead(fn)` generates the correct IAM policy automatically</a:t>
            </a:r>
          </a:p>
          <a:p>
            <a:pPr>
              <a:defRPr sz="1800"/>
            </a:pPr>
            <a:r>
              <a:t>CDK synthesizes to CloudFormation under the hood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Choosing your IaC tool</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Criteria</a:t>
                      </a:r>
                    </a:p>
                  </a:txBody>
                  <a:tcPr>
                    <a:solidFill>
                      <a:srgbClr val="232F3E"/>
                    </a:solidFill>
                  </a:tcPr>
                </a:tc>
                <a:tc>
                  <a:txBody>
                    <a:bodyPr/>
                    <a:lstStyle/>
                    <a:p>
                      <a:pPr>
                        <a:defRPr sz="1400" b="1">
                          <a:solidFill>
                            <a:srgbClr val="FFFFFF"/>
                          </a:solidFill>
                        </a:defRPr>
                      </a:pPr>
                      <a:r>
                        <a:t>CloudFormation</a:t>
                      </a:r>
                    </a:p>
                  </a:txBody>
                  <a:tcPr>
                    <a:solidFill>
                      <a:srgbClr val="232F3E"/>
                    </a:solidFill>
                  </a:tcPr>
                </a:tc>
                <a:tc>
                  <a:txBody>
                    <a:bodyPr/>
                    <a:lstStyle/>
                    <a:p>
                      <a:pPr>
                        <a:defRPr sz="1400" b="1">
                          <a:solidFill>
                            <a:srgbClr val="FFFFFF"/>
                          </a:solidFill>
                        </a:defRPr>
                      </a:pPr>
                      <a:r>
                        <a:t>SAM</a:t>
                      </a:r>
                    </a:p>
                  </a:txBody>
                  <a:tcPr>
                    <a:solidFill>
                      <a:srgbClr val="232F3E"/>
                    </a:solidFill>
                  </a:tcPr>
                </a:tc>
                <a:tc>
                  <a:txBody>
                    <a:bodyPr/>
                    <a:lstStyle/>
                    <a:p>
                      <a:pPr>
                        <a:defRPr sz="1400" b="1">
                          <a:solidFill>
                            <a:srgbClr val="FFFFFF"/>
                          </a:solidFill>
                        </a:defRPr>
                      </a:pPr>
                      <a:r>
                        <a:t>CDK</a:t>
                      </a:r>
                    </a:p>
                  </a:txBody>
                  <a:tcPr>
                    <a:solidFill>
                      <a:srgbClr val="232F3E"/>
                    </a:solidFill>
                  </a:tcPr>
                </a:tc>
              </a:tr>
              <a:tr h="365760">
                <a:tc>
                  <a:txBody>
                    <a:bodyPr/>
                    <a:lstStyle/>
                    <a:p>
                      <a:pPr>
                        <a:defRPr sz="1200"/>
                      </a:pPr>
                      <a:r>
                        <a:t>Best for</a:t>
                      </a:r>
                    </a:p>
                  </a:txBody>
                  <a:tcPr>
                    <a:solidFill>
                      <a:srgbClr val="F2F3F4"/>
                    </a:solidFill>
                  </a:tcPr>
                </a:tc>
                <a:tc>
                  <a:txBody>
                    <a:bodyPr/>
                    <a:lstStyle/>
                    <a:p>
                      <a:pPr>
                        <a:defRPr sz="1200"/>
                      </a:pPr>
                      <a:r>
                        <a:t>General infrastructure</a:t>
                      </a:r>
                    </a:p>
                  </a:txBody>
                  <a:tcPr>
                    <a:solidFill>
                      <a:srgbClr val="F2F3F4"/>
                    </a:solidFill>
                  </a:tcPr>
                </a:tc>
                <a:tc>
                  <a:txBody>
                    <a:bodyPr/>
                    <a:lstStyle/>
                    <a:p>
                      <a:pPr>
                        <a:defRPr sz="1200"/>
                      </a:pPr>
                      <a:r>
                        <a:t>Serverless apps</a:t>
                      </a:r>
                    </a:p>
                  </a:txBody>
                  <a:tcPr>
                    <a:solidFill>
                      <a:srgbClr val="F2F3F4"/>
                    </a:solidFill>
                  </a:tcPr>
                </a:tc>
                <a:tc>
                  <a:txBody>
                    <a:bodyPr/>
                    <a:lstStyle/>
                    <a:p>
                      <a:pPr>
                        <a:defRPr sz="1200"/>
                      </a:pPr>
                      <a:r>
                        <a:t>Complex, reusable patterns</a:t>
                      </a:r>
                    </a:p>
                  </a:txBody>
                  <a:tcPr>
                    <a:solidFill>
                      <a:srgbClr val="F2F3F4"/>
                    </a:solidFill>
                  </a:tcPr>
                </a:tc>
              </a:tr>
              <a:tr h="365760">
                <a:tc>
                  <a:txBody>
                    <a:bodyPr/>
                    <a:lstStyle/>
                    <a:p>
                      <a:pPr>
                        <a:defRPr sz="1200"/>
                      </a:pPr>
                      <a:r>
                        <a:t>Local testing</a:t>
                      </a:r>
                    </a:p>
                  </a:txBody>
                  <a:tcPr/>
                </a:tc>
                <a:tc>
                  <a:txBody>
                    <a:bodyPr/>
                    <a:lstStyle/>
                    <a:p>
                      <a:pPr>
                        <a:defRPr sz="1200"/>
                      </a:pPr>
                      <a:r>
                        <a:t>No</a:t>
                      </a:r>
                    </a:p>
                  </a:txBody>
                  <a:tcPr/>
                </a:tc>
                <a:tc>
                  <a:txBody>
                    <a:bodyPr/>
                    <a:lstStyle/>
                    <a:p>
                      <a:pPr>
                        <a:defRPr sz="1200"/>
                      </a:pPr>
                      <a:r>
                        <a:t>`sam local invoke`</a:t>
                      </a:r>
                    </a:p>
                  </a:txBody>
                  <a:tcPr/>
                </a:tc>
                <a:tc>
                  <a:txBody>
                    <a:bodyPr/>
                    <a:lstStyle/>
                    <a:p>
                      <a:pPr>
                        <a:defRPr sz="1200"/>
                      </a:pPr>
                      <a:r>
                        <a:t>CDK assertions (unit tests)</a:t>
                      </a:r>
                    </a:p>
                  </a:txBody>
                  <a:tcPr/>
                </a:tc>
              </a:tr>
              <a:tr h="365760">
                <a:tc>
                  <a:txBody>
                    <a:bodyPr/>
                    <a:lstStyle/>
                    <a:p>
                      <a:pPr>
                        <a:defRPr sz="1200"/>
                      </a:pPr>
                      <a:r>
                        <a:t>Learning curve</a:t>
                      </a:r>
                    </a:p>
                  </a:txBody>
                  <a:tcPr>
                    <a:solidFill>
                      <a:srgbClr val="F2F3F4"/>
                    </a:solidFill>
                  </a:tcPr>
                </a:tc>
                <a:tc>
                  <a:txBody>
                    <a:bodyPr/>
                    <a:lstStyle/>
                    <a:p>
                      <a:pPr>
                        <a:defRPr sz="1200"/>
                      </a:pPr>
                      <a:r>
                        <a:t>Moderate</a:t>
                      </a:r>
                    </a:p>
                  </a:txBody>
                  <a:tcPr>
                    <a:solidFill>
                      <a:srgbClr val="F2F3F4"/>
                    </a:solidFill>
                  </a:tcPr>
                </a:tc>
                <a:tc>
                  <a:txBody>
                    <a:bodyPr/>
                    <a:lstStyle/>
                    <a:p>
                      <a:pPr>
                        <a:defRPr sz="1200"/>
                      </a:pPr>
                      <a:r>
                        <a:t>Low</a:t>
                      </a:r>
                    </a:p>
                  </a:txBody>
                  <a:tcPr>
                    <a:solidFill>
                      <a:srgbClr val="F2F3F4"/>
                    </a:solidFill>
                  </a:tcPr>
                </a:tc>
                <a:tc>
                  <a:txBody>
                    <a:bodyPr/>
                    <a:lstStyle/>
                    <a:p>
                      <a:pPr>
                        <a:defRPr sz="1200"/>
                      </a:pPr>
                      <a:r>
                        <a:t>Higher</a:t>
                      </a:r>
                    </a:p>
                  </a:txBody>
                  <a:tcPr>
                    <a:solidFill>
                      <a:srgbClr val="F2F3F4"/>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your IaC tool</a:t>
            </a:r>
          </a:p>
        </p:txBody>
      </p:sp>
      <p:sp>
        <p:nvSpPr>
          <p:cNvPr id="3" name="Content Placeholder 2"/>
          <p:cNvSpPr>
            <a:spLocks noGrp="1"/>
          </p:cNvSpPr>
          <p:nvPr>
            <p:ph idx="1"/>
          </p:nvPr>
        </p:nvSpPr>
        <p:spPr/>
        <p:txBody>
          <a:bodyPr/>
          <a:lstStyle/>
          <a:p>
            <a:pPr>
              <a:defRPr sz="1400" i="1">
                <a:solidFill>
                  <a:srgbClr val="555555"/>
                </a:solidFill>
              </a:defRPr>
            </a:pPr>
            <a:r>
              <a:t>These tools are not mutually exclusive. Many teams use SAM for serverless and CloudFormation for networking.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IaC eliminates manual provisioning by defining resources in version-controlled templates, ensuring repeatability and consistency</a:t>
            </a:r>
          </a:p>
          <a:p>
            <a:pPr>
              <a:defRPr sz="1800"/>
            </a:pPr>
            <a:r>
              <a:t>CloudFormation is the foundational IaC service on AWS; every resource from Modules 03-10 can be defined declaratively</a:t>
            </a:r>
          </a:p>
          <a:p>
            <a:pPr>
              <a:defRPr sz="1800"/>
            </a:pPr>
            <a:r>
              <a:t>Always use change sets to preview stack updates before executing them in production</a:t>
            </a:r>
          </a:p>
          <a:p>
            <a:pPr>
              <a:defRPr sz="1800"/>
            </a:pPr>
            <a:r>
              <a:t>SAM extends CloudFormation with simplified syntax for serverless apps; the SAM CLI enables local testing before deployment</a:t>
            </a:r>
          </a:p>
          <a:p>
            <a:pPr>
              <a:defRPr sz="1800"/>
            </a:pPr>
            <a:r>
              <a:t>Choose your IaC tool based on workload type and team skills: CloudFormation for general infra, SAM for serverless, CDK for complex patterns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CloudFormation VPC and SAM serverless API</a:t>
            </a:r>
          </a:p>
        </p:txBody>
      </p:sp>
      <p:sp>
        <p:nvSpPr>
          <p:cNvPr id="3" name="Content Placeholder 2"/>
          <p:cNvSpPr>
            <a:spLocks noGrp="1"/>
          </p:cNvSpPr>
          <p:nvPr>
            <p:ph idx="1"/>
          </p:nvPr>
        </p:nvSpPr>
        <p:spPr/>
        <p:txBody>
          <a:bodyPr/>
          <a:lstStyle/>
          <a:p>
            <a:pPr>
              <a:defRPr sz="1600"/>
            </a:pPr>
            <a:r>
              <a:t>What you will do:</a:t>
            </a:r>
          </a:p>
          <a:p>
            <a:pPr>
              <a:defRPr sz="1800"/>
            </a:pPr>
            <a:r>
              <a:t>Write a CloudFormation template that provisions a VPC with subnets</a:t>
            </a:r>
          </a:p>
          <a:p>
            <a:pPr>
              <a:defRPr sz="1800"/>
            </a:pPr>
            <a:r>
              <a:t>Use parameters for environment-specific values</a:t>
            </a:r>
          </a:p>
          <a:p>
            <a:pPr>
              <a:defRPr sz="1800"/>
            </a:pPr>
            <a:r>
              <a:t>Build a SAM template for a serverless API with Lambda and DynamoDB</a:t>
            </a:r>
          </a:p>
          <a:p>
            <a:pPr>
              <a:defRPr sz="1800"/>
            </a:pPr>
            <a:r>
              <a:t>Test locally with `sam local invoke` and deploy to AWS</a:t>
            </a:r>
          </a:p>
          <a:p>
            <a:pPr>
              <a:defRPr sz="1600"/>
            </a:pPr>
            <a:r>
              <a:t>Duration: 60 minutes</a:t>
            </a:r>
          </a:p>
          <a:p>
            <a:pPr>
              <a:defRPr sz="1600"/>
            </a:pPr>
            <a:r>
              <a:t>Key services: CloudFormation, SAM, Lambda, API Gateway, DynamoDB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`modules/11-infrastructure-as-code/resources.md`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