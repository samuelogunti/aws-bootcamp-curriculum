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Welcome to Module 18. Start by presenting a scenario: "You are building an e-commerce platform. Walk me through the architecture." Let students propose services, then guide them toward appropriate patterns. Breakdown: 10 min monolith vs. microservices, 10 min three-tier, 10 min serverless API, 15 min event-driven, 10 min static+API, 10 min data pipeline, 10 min CQRS, 10 min strangler fig, 5 min wrap-up.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10 minutes. Emphasize that the decision should be driven by organizational needs, not technology trends.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10 minutes. Draw the architecture on the whiteboard first, then discuss service choices.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10 minutes. Students built this in Module 09. Now discuss production optimizations.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15 minutes. Pause for a group exercise: give each team a scenario and ask them to design an event-driven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Expected answer: Order placed event published to EventBridge. Rule triggers Step Functions for payment validation (sequential). On payment success, Step Functions publishes PaymentProcessed event. EventBridge routes to: SQS queue for inventory Lambda, SNS for email notification, SQS queue for invoice Lambda. DLQs on each queue for failure handling. This exercises EventBridge routing, Step Functions orchestration, and SQS/SNS fan-out.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Expected answer: Start with a monolith (or modular monolith). Two developers cannot effectively build, deploy, and operate 8 independent services. The operational overhead (networking, service discovery, distributed tracing, independent deployments) would consume most of their time. Build the MVP as a single deployable unit, validate the product-market fit, then decompose using the strangler fig pattern when the team grows and specific components need independent scaling.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10 minutes. This combines S3 (Module 05) with the serverless API (Module 09) and CloudFront.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10 minutes. Cover the spectrum from small (Lambda) to large (Kinesis/Glue).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10 minutes. Emphasize that CQRS is overkill for most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section takes about 10 minutes. Walk through a concrete example: extracting the order management feature first because it changes weekly.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Expected answer: Static website + serverless API pattern. S3 + CloudFront for the frontend. API Gateway + Lambda + DynamoDB for the backend. SNS for email notifications. Reasoning: small team (no microservices overhead), variable traffic (serverless scales to zero), low operational burden. The three-tier pattern with EC2 would work but adds unnecessary server management for a small team. CQRS and event-driven are overkill for simple CRUD.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This is a fully open-ended lab. Students design an architecture from requirements. Deliverables include a diagram, document, and cost estimate. Encourage students to evaluate their design against the Well-Architected pillars from Module 17. Schedule peer reviews where teams present their architectures to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Take 5-10 minutes for questions. Common questions: "Serverless API vs. three-tier?" (Serverless for variable traffic and zero server management; three-tier for steady throughput, long-running processes, or persistent connections.) "When to use CQRS?" (Only when read and write patterns differ significantly. Most apps do not need it.)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18: Architecture Patterns on AWS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Phase 5: Architecting</a:t>
            </a:r>
          </a:p>
          <a:p>
            <a:pPr>
              <a:defRPr sz="1600"/>
            </a:pPr>
            <a:r>
              <a:t>Estimated lecture time: 90 to 105 minutes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By the end of this module, you will be able to:</a:t>
            </a:r>
          </a:p>
          <a:p>
            <a:pPr>
              <a:defRPr sz="1800"/>
            </a:pPr>
            <a:r>
              <a:t>Critique trade-offs between monolithic and microservices architectures</a:t>
            </a:r>
          </a:p>
          <a:p>
            <a:pPr>
              <a:defRPr sz="1800"/>
            </a:pPr>
            <a:r>
              <a:t>Design a three-tier web architecture and justify service selection</a:t>
            </a:r>
          </a:p>
          <a:p>
            <a:pPr>
              <a:defRPr sz="1800"/>
            </a:pPr>
            <a:r>
              <a:t>Architect a serverless API with optimizations for latency and cost</a:t>
            </a:r>
          </a:p>
          <a:p>
            <a:pPr>
              <a:defRPr sz="1800"/>
            </a:pPr>
            <a:r>
              <a:t>Design an event-driven architecture with failure handling</a:t>
            </a:r>
          </a:p>
          <a:p>
            <a:pPr>
              <a:defRPr sz="1800"/>
            </a:pPr>
            <a:r>
              <a:t>Propose a data processing pipeline and defend the design</a:t>
            </a:r>
          </a:p>
          <a:p>
            <a:pPr>
              <a:defRPr sz="1800"/>
            </a:pPr>
            <a:r>
              <a:t>Critique CQRS and evaluate when it is justified</a:t>
            </a:r>
          </a:p>
          <a:p>
            <a:pPr>
              <a:defRPr sz="1800"/>
            </a:pPr>
            <a:r>
              <a:t>Architect a strangler fig migration from monolith to microservices</a:t>
            </a:r>
          </a:p>
          <a:p>
            <a:pPr>
              <a:defRPr sz="1800"/>
            </a:pPr>
            <a:r>
              <a:t>Design a static website with dynamic API backend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Prerequisites and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Prerequisites: All modules 01-17, especially 07 (ALB), 08 (Messaging), 09 (Lambda), 10 (ECS), 17 (Well-Architected)</a:t>
            </a:r>
          </a:p>
          <a:p>
            <a:pPr>
              <a:defRPr sz="1600"/>
            </a:pPr>
            <a:r>
              <a:t>Agenda:</a:t>
            </a:r>
          </a:p>
          <a:p>
            <a:pPr>
              <a:defRPr sz="1800"/>
            </a:pPr>
            <a:r>
              <a:t>Monolith vs. microservices</a:t>
            </a:r>
          </a:p>
          <a:p>
            <a:pPr>
              <a:defRPr sz="1800"/>
            </a:pPr>
            <a:r>
              <a:t>Pattern 1: Three-tier web architecture</a:t>
            </a:r>
          </a:p>
          <a:p>
            <a:pPr>
              <a:defRPr sz="1800"/>
            </a:pPr>
            <a:r>
              <a:t>Pattern 2: Serverless API</a:t>
            </a:r>
          </a:p>
          <a:p>
            <a:pPr>
              <a:defRPr sz="1800"/>
            </a:pPr>
            <a:r>
              <a:t>Pattern 3: Event-driven architecture</a:t>
            </a:r>
          </a:p>
          <a:p>
            <a:pPr>
              <a:defRPr sz="1800"/>
            </a:pPr>
            <a:r>
              <a:t>Pattern 4: Static website with dynamic API</a:t>
            </a:r>
          </a:p>
          <a:p>
            <a:pPr>
              <a:defRPr sz="1800"/>
            </a:pPr>
            <a:r>
              <a:t>Pattern 5: Data processing pipeline</a:t>
            </a:r>
          </a:p>
          <a:p>
            <a:pPr>
              <a:defRPr sz="1800"/>
            </a:pPr>
            <a:r>
              <a:t>Pattern 6: CQRS</a:t>
            </a:r>
          </a:p>
          <a:p>
            <a:pPr>
              <a:defRPr sz="1800"/>
            </a:pPr>
            <a:r>
              <a:t>Pattern 7: Strangler fig migration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Monolith vs. microservices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Comparing monolith and microservices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Characteristic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Monolith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Microservices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Scaling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Scale entire application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Scale individual services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 ownership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Shared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Each service owns its data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Team structure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One team owns everything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Small teams own services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Simple initially, grows over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Complex from the start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Comparing monolith and microservices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Start with a monolith when your team is small and the domain is unclear. Decompose when teams need independent deployment.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 1: Three-tier web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Three-tier architecture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Options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When to Use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Application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EC2 + ASG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Long-running, stateful, specific OS needs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ECS Fargate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Containerized microservices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Application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Lambda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Event-driven, short-duration, variable traffic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Relational data, complex queries, joins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Data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DynamoDB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Key-value, predictable access patterns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 2: Serverless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Serverless API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Client --&gt; API Gateway --&gt; Lambda --&gt; DynamoDB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Production optimizations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Optimization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Benefit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DynamoDB DAX caching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Microsecond read latency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Lambda Provisioned Concurrency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Eliminates cold starts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API Gateway caching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Reduces Lambda invocations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Lambda Powertools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Structured logging, tracing, metrics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optimizations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For steady high-throughput traffic, ECS Fargate + ALB may be more cost-effective than per-invocation Lambda charges.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 3: Event-driven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Event-driven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Producer Service</a:t>
            </a:r>
            <a:br/>
            <a:r>
              <a:t>  |</a:t>
            </a:r>
            <a:br/>
            <a:r>
              <a:t>  v</a:t>
            </a:r>
            <a:br/>
            <a:r>
              <a:t>Amazon EventBridge --&gt; Rule: order.placed</a:t>
            </a:r>
            <a:br/>
            <a:r>
              <a:t>  |</a:t>
            </a:r>
            <a:br/>
            <a:r>
              <a:t>  +--&gt; SQS Queue --&gt; Inventory Service (Lambda)</a:t>
            </a:r>
            <a:br/>
            <a:r>
              <a:t>  +--&gt; SQS Queue --&gt; Payment Service (Lambda)</a:t>
            </a:r>
            <a:br/>
            <a:r>
              <a:t>  +--&gt; SNS Topic --&gt; Notification Service (email)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Choosing EventBridge, SQS, or SNS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Use Case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Recommended Service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Buffer messages for a single consumer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SQS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Fan out to multiple consumers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Fan out with buffering per consumer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SNS + SQS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Orchestrate multi-step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Step Functions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Choosing EventBridge, SQS, or SNS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400" i="1">
                <a:solidFill>
                  <a:srgbClr val="555555"/>
                </a:solidFill>
              </a:defRPr>
            </a:pPr>
            <a:r>
              <a:t>Design events as immutable facts ("OrderPlaced"), not commands ("ProcessPayment").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Think about it: designing an event-driven order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An e-commerce platform needs to: (1) validate payment, (2) update inventory, (3) send confirmation email, (4) generate an invoice PDF. Steps 2, 3, and 4 can happen in parallel after payment succeeds.</a:t>
            </a:r>
          </a:p>
          <a:p>
            <a:pPr>
              <a:defRPr sz="1600"/>
            </a:pPr>
            <a:r>
              <a:t>Design the event-driven architecture. Which services handle each step?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Think about it: monolith or microservices?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 two-person startup is building an MVP for a food delivery app. They plan to use 8 microservices from day one: user service, restaurant service, order service, payment service, delivery service, notification service, search service, and analytics service.</a:t>
            </a:r>
          </a:p>
          <a:p>
            <a:pPr>
              <a:defRPr sz="1600"/>
            </a:pPr>
            <a:r>
              <a:t>What would you recommend instead, and why?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 4: Static website with dynamic API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Static + API pattern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Benefit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Explanation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Cost efficiency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S3 + CloudFront is very inexpensive for static content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Independent scaling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Frontend and backend scale independently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Security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S3 stays private; CloudFront uses OAC for access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 5: Data processing pipeline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Data pipeline architecture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Pipeline Scale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Recommended Services</a:t>
                      </a:r>
                    </a:p>
                  </a:txBody>
                  <a:tcPr>
                    <a:solidFill>
                      <a:srgbClr val="232F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Medium (GB-scale, batch)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S3 + AWS Glue + Athena/Redshift</a:t>
                      </a:r>
                    </a:p>
                  </a:txBody>
                  <a:tcPr>
                    <a:solidFill>
                      <a:srgbClr val="F2F3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Large (real-time, TB-scale)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Kinesis + Lambda + S3/Redshift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 6: CQRS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CQRS: separating read and write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Write path: API Gateway, Lambda, DynamoDB (write-optimized)</a:t>
            </a:r>
          </a:p>
          <a:p>
            <a:pPr>
              <a:defRPr sz="1800"/>
            </a:pPr>
            <a:r>
              <a:t>DynamoDB Streams triggers Lambda to update read model</a:t>
            </a:r>
          </a:p>
          <a:p>
            <a:pPr>
              <a:defRPr sz="1800"/>
            </a:pPr>
            <a:r>
              <a:t>Read path: API Gateway, Lambda, read-optimized store (GSIs, ElastiCache, OpenSearch)</a:t>
            </a:r>
          </a:p>
          <a:p>
            <a:pPr>
              <a:defRPr sz="1600"/>
            </a:pPr>
            <a:r>
              <a:t>When CQRS is justified:</a:t>
            </a:r>
          </a:p>
          <a:p>
            <a:pPr>
              <a:defRPr sz="1800"/>
            </a:pPr>
            <a:r>
              <a:t>Read and write patterns differ significantly</a:t>
            </a:r>
          </a:p>
          <a:p>
            <a:pPr>
              <a:defRPr sz="1800"/>
            </a:pPr>
            <a:r>
              <a:t>Read traffic is orders of magnitude higher than writes</a:t>
            </a:r>
          </a:p>
          <a:p>
            <a:pPr>
              <a:defRPr sz="1800"/>
            </a:pPr>
            <a:r>
              <a:t>Different query patterns need different data models</a:t>
            </a:r>
          </a:p>
          <a:p>
            <a:pPr>
              <a:defRPr sz="1400" i="1">
                <a:solidFill>
                  <a:srgbClr val="555555"/>
                </a:solidFill>
              </a:defRPr>
            </a:pPr>
            <a:r>
              <a:t>CQRS adds complexity (eventual consistency, extra infrastructure). Do not apply it to simple CRUD applications.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 7: Strangler fig migration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Incremental migration from monolith to microservices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8229600" cy="4572000"/>
          </a:xfrm>
          <a:prstGeom prst="round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CDD6F4"/>
                </a:solidFill>
                <a:latin typeface="Courier New"/>
              </a:defRPr>
            </a:pPr>
            <a:r>
              <a:t>Phase 1: Users --&gt; ALB --&gt; Monolith (all features)</a:t>
            </a:r>
            <a:br/>
            <a:br/>
            <a:r>
              <a:t>Phase 2: Users --&gt; ALB --&gt; /orders/* --&gt; Order Service</a:t>
            </a:r>
            <a:br/>
            <a:r>
              <a:t>                       --&gt; /*        --&gt; Monolith</a:t>
            </a:r>
            <a:br/>
            <a:br/>
            <a:r>
              <a:t>Phase 3: Users --&gt; ALB --&gt; /orders/*    --&gt; Order Service</a:t>
            </a:r>
            <a:br/>
            <a:r>
              <a:t>                       --&gt; /payments/* --&gt; Payment Service</a:t>
            </a:r>
            <a:br/>
            <a:r>
              <a:t>                       --&gt; /*          --&gt; Monolith (shrinking)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Design challenge: choosing an architecture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A startup is building a task management app. Requirements: web frontend, REST API with CRUD operations, user authentication, email notifications on task assignment. Team size: 3 developers. Traffic: low initially, expected to grow.</a:t>
            </a:r>
          </a:p>
          <a:p>
            <a:pPr>
              <a:defRPr sz="1600"/>
            </a:pPr>
            <a:r>
              <a:t>Which architecture pattern(s) would you recommend, and why?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Start with the simplest architecture that meets requirements; evolve toward complexity only when specific needs justify it</a:t>
            </a:r>
          </a:p>
          <a:p>
            <a:pPr>
              <a:defRPr sz="1800"/>
            </a:pPr>
            <a:r>
              <a:t>The three-tier architecture (ALB + compute + database) is the foundation for most web apps; service choice depends on workload characteristics</a:t>
            </a:r>
          </a:p>
          <a:p>
            <a:pPr>
              <a:defRPr sz="1800"/>
            </a:pPr>
            <a:r>
              <a:t>Event-driven architectures decouple producers from consumers using EventBridge, SQS, and SNS for independent scaling and failure isolation</a:t>
            </a:r>
          </a:p>
          <a:p>
            <a:pPr>
              <a:defRPr sz="1800"/>
            </a:pPr>
            <a:r>
              <a:t>The strangler fig pattern enables safe, incremental migration from monolith to microservices via ALB path-based routing</a:t>
            </a:r>
          </a:p>
          <a:p>
            <a:pPr>
              <a:defRPr sz="1800"/>
            </a:pPr>
            <a:r>
              <a:t>Architecture is a design activity: draw the diagram first, evaluate against Well-Architected pillars, then build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preview: architecture design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What you will do:</a:t>
            </a:r>
          </a:p>
          <a:p>
            <a:pPr>
              <a:defRPr sz="1800"/>
            </a:pPr>
            <a:r>
              <a:t>Choose a real-world scenario (e-commerce, IoT, content platform)</a:t>
            </a:r>
          </a:p>
          <a:p>
            <a:pPr>
              <a:defRPr sz="1800"/>
            </a:pPr>
            <a:r>
              <a:t>Design a complete architecture using patterns from this module</a:t>
            </a:r>
          </a:p>
          <a:p>
            <a:pPr>
              <a:defRPr sz="1800"/>
            </a:pPr>
            <a:r>
              <a:t>Create an architecture diagram with all services and data flows</a:t>
            </a:r>
          </a:p>
          <a:p>
            <a:pPr>
              <a:defRPr sz="1800"/>
            </a:pPr>
            <a:r>
              <a:t>Write an architecture document justifying service choices</a:t>
            </a:r>
          </a:p>
          <a:p>
            <a:pPr>
              <a:defRPr sz="1800"/>
            </a:pPr>
            <a:r>
              <a:t>Produce a cost estimate using the AWS Pricing Calculator</a:t>
            </a:r>
          </a:p>
          <a:p>
            <a:pPr>
              <a:defRPr sz="1600"/>
            </a:pPr>
            <a:r>
              <a:t>Duration: 60 minutes (open-ended format)</a:t>
            </a:r>
          </a:p>
          <a:p>
            <a:pPr>
              <a:defRPr sz="1600"/>
            </a:pPr>
            <a:r>
              <a:t>Key services: Varies by chosen scenario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Review `modules/18-architecture-patterns/resources.md` for further reading.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