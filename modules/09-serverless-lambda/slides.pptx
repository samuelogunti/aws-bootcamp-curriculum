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Welcome to Module 09, the first module in Phase 3 (Building Applications). This module covers Lambda and serverless architecture. Breakdown: 10 min serverless overview, 15 min Lambda fundamentals, 10 min runtimes, 15 min event sources, 10 min IAM and config, 10 min cold starts, 10 min layers and packaging, 10 min API Gateway integration.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approximately 10 minutes. Connect to Module 04: EC2 is like owning a car (you maintain it), Lambda is like a taxi (you pay per ride).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approximately 15 minutes. Walk through the handler, event, and context with a live demo in the console.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Answer: It depends on concurrency, but far fewer than 100. Lambda reuses execution environments for subsequent invocations (warm starts). If all 100 invocations are handled by 10 concurrent environments, the connection is created 10 times (once per environment during Init). This is why placing initialization outside the handler is a best practice.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approximately 10 minutes. Cover managed runtimes and container image packaging.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approximately 15 minutes. Draw push-based on one side and poll-based on the other. Have students categorize each service.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Answer: Scenario A is push-based (S3 event notification triggers Lambda directly on upload). Scenario B is poll-based (Lambda polls the SQS queue with configurable batch size and concurrency). The key distinction: push is immediate and event-driven, poll gives you control over processing rate and batching.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approximately 10 minutes. Connect to Module 02's IAM concepts.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approximately 10 minutes. Run a live demo showing cold start vs warm start duration difference.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approximately 10 minutes. Cover layers for code sharing and the two packaging formats.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approximately 10 minutes. Show the full serverless API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Lambda: zero cost at night, automatic scaling, no servers to manage, but 29s timeout limit and potential cold starts. EC2: more control, no timeout limit, but you pay for instances even at night (unless you scale to zero, which takes time), and you manage patching and scaling. For this traffic pattern (high variability, zero at night), Lambda is likely the better fit. The key insight is that Lambda excels when traffic is variable and you want to pay only for actual usage.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is the first Phase 3 lab with semi-guided steps. Students will create a Lambda function with a Python handler, connect it to API Gateway, create a DynamoDB table, and wire up S3 and SQS triggers. Steps 1-4 are guided; steps 5-7 provide the goal and hints but let students figure out the implementation. Remind students about the Free Tier limits for Lambda.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Take 5-10 minutes for questions. Common questions involve Lambda vs EC2 selection, handling secrets, and VPC timeout issues. Transition to the lab when ready.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Module 09: Serverless Computing with AWS Lambda</a:t>
            </a:r>
          </a:p>
        </p:txBody>
      </p:sp>
      <p:sp>
        <p:nvSpPr>
          <p:cNvPr id="3" name="Content Placeholder 2"/>
          <p:cNvSpPr>
            <a:spLocks noGrp="1"/>
          </p:cNvSpPr>
          <p:nvPr>
            <p:ph idx="1"/>
          </p:nvPr>
        </p:nvSpPr>
        <p:spPr/>
        <p:txBody>
          <a:bodyPr/>
          <a:lstStyle/>
          <a:p>
            <a:pPr>
              <a:defRPr sz="1600"/>
            </a:pPr>
            <a:r>
              <a:t>Phase 3: Building Applications</a:t>
            </a:r>
          </a:p>
          <a:p>
            <a:pPr>
              <a:defRPr sz="1600"/>
            </a:pPr>
            <a:r>
              <a:t>Estimated lecture time: 90 minutes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Learning objectives</a:t>
            </a:r>
          </a:p>
        </p:txBody>
      </p:sp>
      <p:sp>
        <p:nvSpPr>
          <p:cNvPr id="3" name="Content Placeholder 2"/>
          <p:cNvSpPr>
            <a:spLocks noGrp="1"/>
          </p:cNvSpPr>
          <p:nvPr>
            <p:ph idx="1"/>
          </p:nvPr>
        </p:nvSpPr>
        <p:spPr/>
        <p:txBody>
          <a:bodyPr/>
          <a:lstStyle/>
          <a:p>
            <a:pPr>
              <a:defRPr sz="1600"/>
            </a:pPr>
            <a:r>
              <a:t>By the end of this module, you will be able to:</a:t>
            </a:r>
          </a:p>
          <a:p>
            <a:pPr>
              <a:defRPr sz="1800"/>
            </a:pPr>
            <a:r>
              <a:t>Build a Lambda function with a Python handler that processes event data</a:t>
            </a:r>
          </a:p>
          <a:p>
            <a:pPr>
              <a:defRPr sz="1800"/>
            </a:pPr>
            <a:r>
              <a:t>Construct a serverless REST API with API Gateway, Lambda, and DynamoDB</a:t>
            </a:r>
          </a:p>
          <a:p>
            <a:pPr>
              <a:defRPr sz="1800"/>
            </a:pPr>
            <a:r>
              <a:t>Integrate Lambda with multiple event sources (S3, SQS, SNS, DynamoDB Streams)</a:t>
            </a:r>
          </a:p>
          <a:p>
            <a:pPr>
              <a:defRPr sz="1800"/>
            </a:pPr>
            <a:r>
              <a:t>Troubleshoot cold start latency and apply mitigation strategies</a:t>
            </a:r>
          </a:p>
          <a:p>
            <a:pPr>
              <a:defRPr sz="1800"/>
            </a:pPr>
            <a:r>
              <a:t>Compare push-based triggers vs. poll-based event source mappings</a:t>
            </a:r>
          </a:p>
          <a:p>
            <a:pPr>
              <a:defRPr sz="1800"/>
            </a:pPr>
            <a:r>
              <a:t>Differentiate .zip archives vs. container images for Lambda packaging</a:t>
            </a:r>
          </a:p>
          <a:p>
            <a:pPr>
              <a:defRPr sz="1800"/>
            </a:pPr>
            <a:r>
              <a:t>Build reusable components using Lambda Layers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Prerequisites and agenda</a:t>
            </a:r>
          </a:p>
        </p:txBody>
      </p:sp>
      <p:sp>
        <p:nvSpPr>
          <p:cNvPr id="3" name="Content Placeholder 2"/>
          <p:cNvSpPr>
            <a:spLocks noGrp="1"/>
          </p:cNvSpPr>
          <p:nvPr>
            <p:ph idx="1"/>
          </p:nvPr>
        </p:nvSpPr>
        <p:spPr/>
        <p:txBody>
          <a:bodyPr/>
          <a:lstStyle/>
          <a:p>
            <a:pPr>
              <a:defRPr sz="1600"/>
            </a:pPr>
            <a:r>
              <a:t>Prerequisites: Module 02 (IAM roles), Module 05 (S3 events), Module 06 (DynamoDB), Module 08 (SQS, SNS, EventBridge)</a:t>
            </a:r>
          </a:p>
          <a:p>
            <a:pPr>
              <a:defRPr sz="1600"/>
            </a:pPr>
            <a:r>
              <a:t>Agenda:</a:t>
            </a:r>
          </a:p>
          <a:p>
            <a:pPr>
              <a:defRPr sz="1800"/>
            </a:pPr>
            <a:r>
              <a:t>What is serverless computing?</a:t>
            </a:r>
          </a:p>
          <a:p>
            <a:pPr>
              <a:defRPr sz="1800"/>
            </a:pPr>
            <a:r>
              <a:t>Lambda fundamentals: handler, event, context</a:t>
            </a:r>
          </a:p>
          <a:p>
            <a:pPr>
              <a:defRPr sz="1800"/>
            </a:pPr>
            <a:r>
              <a:t>Supported runtimes</a:t>
            </a:r>
          </a:p>
          <a:p>
            <a:pPr>
              <a:defRPr sz="1800"/>
            </a:pPr>
            <a:r>
              <a:t>Event sources and triggers</a:t>
            </a:r>
          </a:p>
          <a:p>
            <a:pPr>
              <a:defRPr sz="1800"/>
            </a:pPr>
            <a:r>
              <a:t>IAM execution roles and configuration</a:t>
            </a:r>
          </a:p>
          <a:p>
            <a:pPr>
              <a:defRPr sz="1800"/>
            </a:pPr>
            <a:r>
              <a:t>Cold starts: causes and mitigation</a:t>
            </a:r>
          </a:p>
          <a:p>
            <a:pPr>
              <a:defRPr sz="1800"/>
            </a:pPr>
            <a:r>
              <a:t>Lambda Layers and packaging</a:t>
            </a:r>
          </a:p>
          <a:p>
            <a:pPr>
              <a:defRPr sz="1800"/>
            </a:pPr>
            <a:r>
              <a:t>API Gateway and Lambda: building REST APIs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is serverless computing?</a:t>
            </a:r>
          </a:p>
        </p:txBody>
      </p:sp>
      <p:sp>
        <p:nvSpPr>
          <p:cNvPr id="3" name="Text Placeholder 2"/>
          <p:cNvSpPr>
            <a:spLocks noGrp="1"/>
          </p:cNvSpPr>
          <p:nvPr>
            <p:ph type="body" idx="1"/>
          </p:nvPr>
        </p:nvSpPr>
        <p:spPr/>
        <p:txBody>
          <a:bodyPr/>
          <a:lstStyle/>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Serverless characteristics</a:t>
            </a:r>
          </a:p>
        </p:txBody>
      </p:sp>
      <p:sp>
        <p:nvSpPr>
          <p:cNvPr id="3" name="Content Placeholder 2"/>
          <p:cNvSpPr>
            <a:spLocks noGrp="1"/>
          </p:cNvSpPr>
          <p:nvPr>
            <p:ph idx="1"/>
          </p:nvPr>
        </p:nvSpPr>
        <p:spPr/>
        <p:txBody>
          <a:bodyPr/>
          <a:lstStyle/>
          <a:p>
            <a:pPr>
              <a:defRPr sz="1800"/>
            </a:pPr>
            <a:r>
              <a:t>No server management: AWS handles provisioning, patching, scaling</a:t>
            </a:r>
          </a:p>
          <a:p>
            <a:pPr>
              <a:defRPr sz="1800"/>
            </a:pPr>
            <a:r>
              <a:t>Pay-per-invocation: charged per request and execution duration</a:t>
            </a:r>
          </a:p>
          <a:p>
            <a:pPr>
              <a:defRPr sz="1800"/>
            </a:pPr>
            <a:r>
              <a:t>Automatic scaling: from zero to thousands of concurrent executions</a:t>
            </a:r>
          </a:p>
          <a:p>
            <a:pPr>
              <a:defRPr sz="1800"/>
            </a:pPr>
            <a:r>
              <a:t>Event-driven: functions run in response to events, not continuously</a:t>
            </a:r>
          </a:p>
          <a:p>
            <a:pPr>
              <a:defRPr sz="1600"/>
            </a:pPr>
            <a:r>
              <a:t>Well suited for: file processing, API requests, data transformation, scheduled tasks</a:t>
            </a:r>
          </a:p>
          <a:p>
            <a:pPr>
              <a:defRPr sz="1400" i="1">
                <a:solidFill>
                  <a:srgbClr val="555555"/>
                </a:solidFill>
              </a:defRPr>
            </a:pPr>
            <a:r>
              <a:t>Serverless does not replace all compute. Long-running processes (over 15 min) or persistent connections are better on EC2 or containers.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Lambda fundamentals</a:t>
            </a:r>
          </a:p>
        </p:txBody>
      </p:sp>
      <p:sp>
        <p:nvSpPr>
          <p:cNvPr id="3" name="Text Placeholder 2"/>
          <p:cNvSpPr>
            <a:spLocks noGrp="1"/>
          </p:cNvSpPr>
          <p:nvPr>
            <p:ph type="body" idx="1"/>
          </p:nvPr>
        </p:nvSpPr>
        <p:spPr/>
        <p:txBody>
          <a:bodyPr/>
          <a:lstStyle/>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The handler function</a:t>
            </a:r>
          </a:p>
        </p:txBody>
      </p:sp>
      <p:sp>
        <p:nvSpPr>
          <p:cNvPr id="4" name="Rounded Rectangle 3"/>
          <p:cNvSpPr/>
          <p:nvPr/>
        </p:nvSpPr>
        <p:spPr>
          <a:xfrm>
            <a:off x="457200" y="1097280"/>
            <a:ext cx="8229600" cy="457200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CDD6F4"/>
                </a:solidFill>
                <a:latin typeface="Courier New"/>
              </a:defRPr>
            </a:pPr>
            <a:r>
              <a:t>def lambda_handler(event, context):</a:t>
            </a:r>
            <a:br/>
            <a:r>
              <a:t>    name = event.get("name", "World")</a:t>
            </a:r>
            <a:br/>
            <a:r>
              <a:t>    return {</a:t>
            </a:r>
            <a:br/>
            <a:r>
              <a:t>        "statusCode": 200,</a:t>
            </a:r>
            <a:br/>
            <a:r>
              <a:t>        "body": f"Hello, {name}"</a:t>
            </a:r>
            <a:br/>
            <a:r>
              <a:t>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Runs once during Init (connection reuse)</a:t>
            </a:r>
          </a:p>
        </p:txBody>
      </p:sp>
      <p:sp>
        <p:nvSpPr>
          <p:cNvPr id="4" name="Rounded Rectangle 3"/>
          <p:cNvSpPr/>
          <p:nvPr/>
        </p:nvSpPr>
        <p:spPr>
          <a:xfrm>
            <a:off x="457200" y="1097280"/>
            <a:ext cx="8229600" cy="457200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CDD6F4"/>
                </a:solidFill>
                <a:latin typeface="Courier New"/>
              </a:defRPr>
            </a:pPr>
            <a:r>
              <a:t>import boto3</a:t>
            </a:r>
            <a:br/>
            <a:br/>
            <a:r>
              <a:t>dynamodb = boto3.resource("dynamodb")</a:t>
            </a:r>
            <a:br/>
            <a:r>
              <a:t>table = dynamodb.Table("Orders")</a:t>
            </a:r>
            <a:br/>
            <a:br/>
            <a:r>
              <a:t>def lambda_handler(event, context):</a:t>
            </a:r>
            <a:br/>
            <a:r>
              <a:t>    return table.get_item(Key={"OrderId": event["order_id"]})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Quick check: execution environment reuse</a:t>
            </a:r>
          </a:p>
        </p:txBody>
      </p:sp>
      <p:sp>
        <p:nvSpPr>
          <p:cNvPr id="3" name="Content Placeholder 2"/>
          <p:cNvSpPr>
            <a:spLocks noGrp="1"/>
          </p:cNvSpPr>
          <p:nvPr>
            <p:ph idx="1"/>
          </p:nvPr>
        </p:nvSpPr>
        <p:spPr/>
        <p:txBody>
          <a:bodyPr/>
          <a:lstStyle/>
          <a:p>
            <a:pPr>
              <a:defRPr sz="1600"/>
            </a:pPr>
            <a:r>
              <a:t>A Lambda function initializes a database connection outside the handler. The function is invoked 100 times in rapid succession.</a:t>
            </a:r>
          </a:p>
          <a:p>
            <a:pPr>
              <a:defRPr sz="1600"/>
            </a:pPr>
            <a:r>
              <a:t>How many times is the database connection created?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Supported runtimes</a:t>
            </a:r>
          </a:p>
        </p:txBody>
      </p:sp>
      <p:sp>
        <p:nvSpPr>
          <p:cNvPr id="3" name="Text Placeholder 2"/>
          <p:cNvSpPr>
            <a:spLocks noGrp="1"/>
          </p:cNvSpPr>
          <p:nvPr>
            <p:ph type="body" idx="1"/>
          </p:nvPr>
        </p:nvSpPr>
        <p:spPr/>
        <p:txBody>
          <a:bodyPr/>
          <a:lstStyle/>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Managed runtime options</a:t>
            </a:r>
          </a:p>
        </p:txBody>
      </p:sp>
      <p:graphicFrame>
        <p:nvGraphicFramePr>
          <p:cNvPr id="4" name="Table 3"/>
          <p:cNvGraphicFramePr>
            <a:graphicFrameLocks noGrp="1"/>
          </p:cNvGraphicFramePr>
          <p:nvPr/>
        </p:nvGraphicFramePr>
        <p:xfrm>
          <a:off x="457200" y="1097280"/>
          <a:ext cx="8229600" cy="1828800"/>
        </p:xfrm>
        <a:graphic>
          <a:graphicData uri="http://schemas.openxmlformats.org/drawingml/2006/table">
            <a:tbl>
              <a:tblPr firstRow="1" bandRow="1">
                <a:tableStyleId>{5C22544A-7EE6-4342-B048-85BDC9FD1C3A}</a:tableStyleId>
              </a:tblPr>
              <a:tblGrid>
                <a:gridCol w="2743200"/>
                <a:gridCol w="2743200"/>
                <a:gridCol w="2743200"/>
              </a:tblGrid>
              <a:tr h="365760">
                <a:tc>
                  <a:txBody>
                    <a:bodyPr/>
                    <a:lstStyle/>
                    <a:p>
                      <a:pPr>
                        <a:defRPr sz="1400" b="1">
                          <a:solidFill>
                            <a:srgbClr val="FFFFFF"/>
                          </a:solidFill>
                        </a:defRPr>
                      </a:pPr>
                      <a:r>
                        <a:t>Runtime</a:t>
                      </a:r>
                    </a:p>
                  </a:txBody>
                  <a:tcPr>
                    <a:solidFill>
                      <a:srgbClr val="232F3E"/>
                    </a:solidFill>
                  </a:tcPr>
                </a:tc>
                <a:tc>
                  <a:txBody>
                    <a:bodyPr/>
                    <a:lstStyle/>
                    <a:p>
                      <a:pPr>
                        <a:defRPr sz="1400" b="1">
                          <a:solidFill>
                            <a:srgbClr val="FFFFFF"/>
                          </a:solidFill>
                        </a:defRPr>
                      </a:pPr>
                      <a:r>
                        <a:t>Languages</a:t>
                      </a:r>
                    </a:p>
                  </a:txBody>
                  <a:tcPr>
                    <a:solidFill>
                      <a:srgbClr val="232F3E"/>
                    </a:solidFill>
                  </a:tcPr>
                </a:tc>
                <a:tc>
                  <a:txBody>
                    <a:bodyPr/>
                    <a:lstStyle/>
                    <a:p>
                      <a:pPr>
                        <a:defRPr sz="1400" b="1">
                          <a:solidFill>
                            <a:srgbClr val="FFFFFF"/>
                          </a:solidFill>
                        </a:defRPr>
                      </a:pPr>
                      <a:r>
                        <a:t>Notes</a:t>
                      </a:r>
                    </a:p>
                  </a:txBody>
                  <a:tcPr>
                    <a:solidFill>
                      <a:srgbClr val="232F3E"/>
                    </a:solidFill>
                  </a:tcPr>
                </a:tc>
              </a:tr>
              <a:tr h="365760">
                <a:tc>
                  <a:txBody>
                    <a:bodyPr/>
                    <a:lstStyle/>
                    <a:p>
                      <a:pPr>
                        <a:defRPr sz="1200"/>
                      </a:pPr>
                      <a:r>
                        <a:t>Python</a:t>
                      </a:r>
                    </a:p>
                  </a:txBody>
                  <a:tcPr>
                    <a:solidFill>
                      <a:srgbClr val="F2F3F4"/>
                    </a:solidFill>
                  </a:tcPr>
                </a:tc>
                <a:tc>
                  <a:txBody>
                    <a:bodyPr/>
                    <a:lstStyle/>
                    <a:p>
                      <a:pPr>
                        <a:defRPr sz="1200"/>
                      </a:pPr>
                      <a:r>
                        <a:t>Python</a:t>
                      </a:r>
                    </a:p>
                  </a:txBody>
                  <a:tcPr>
                    <a:solidFill>
                      <a:srgbClr val="F2F3F4"/>
                    </a:solidFill>
                  </a:tcPr>
                </a:tc>
                <a:tc>
                  <a:txBody>
                    <a:bodyPr/>
                    <a:lstStyle/>
                    <a:p>
                      <a:pPr>
                        <a:defRPr sz="1200"/>
                      </a:pPr>
                      <a:r>
                        <a:t>Includes boto3</a:t>
                      </a:r>
                    </a:p>
                  </a:txBody>
                  <a:tcPr>
                    <a:solidFill>
                      <a:srgbClr val="F2F3F4"/>
                    </a:solidFill>
                  </a:tcPr>
                </a:tc>
              </a:tr>
              <a:tr h="365760">
                <a:tc>
                  <a:txBody>
                    <a:bodyPr/>
                    <a:lstStyle/>
                    <a:p>
                      <a:pPr>
                        <a:defRPr sz="1200"/>
                      </a:pPr>
                      <a:r>
                        <a:t>Java</a:t>
                      </a:r>
                    </a:p>
                  </a:txBody>
                  <a:tcPr/>
                </a:tc>
                <a:tc>
                  <a:txBody>
                    <a:bodyPr/>
                    <a:lstStyle/>
                    <a:p>
                      <a:pPr>
                        <a:defRPr sz="1200"/>
                      </a:pPr>
                      <a:r>
                        <a:t>Java, Kotlin, Scala</a:t>
                      </a:r>
                    </a:p>
                  </a:txBody>
                  <a:tcPr/>
                </a:tc>
                <a:tc>
                  <a:txBody>
                    <a:bodyPr/>
                    <a:lstStyle/>
                    <a:p>
                      <a:pPr>
                        <a:defRPr sz="1200"/>
                      </a:pPr>
                      <a:r>
                        <a:t>Supports SnapStart</a:t>
                      </a:r>
                    </a:p>
                  </a:txBody>
                  <a:tcPr/>
                </a:tc>
              </a:tr>
              <a:tr h="365760">
                <a:tc>
                  <a:txBody>
                    <a:bodyPr/>
                    <a:lstStyle/>
                    <a:p>
                      <a:pPr>
                        <a:defRPr sz="1200"/>
                      </a:pPr>
                      <a:r>
                        <a:t>.NET</a:t>
                      </a:r>
                    </a:p>
                  </a:txBody>
                  <a:tcPr>
                    <a:solidFill>
                      <a:srgbClr val="F2F3F4"/>
                    </a:solidFill>
                  </a:tcPr>
                </a:tc>
                <a:tc>
                  <a:txBody>
                    <a:bodyPr/>
                    <a:lstStyle/>
                    <a:p>
                      <a:pPr>
                        <a:defRPr sz="1200"/>
                      </a:pPr>
                      <a:r>
                        <a:t>C#, F#, PowerShell</a:t>
                      </a:r>
                    </a:p>
                  </a:txBody>
                  <a:tcPr>
                    <a:solidFill>
                      <a:srgbClr val="F2F3F4"/>
                    </a:solidFill>
                  </a:tcPr>
                </a:tc>
                <a:tc>
                  <a:txBody>
                    <a:bodyPr/>
                    <a:lstStyle/>
                    <a:p>
                      <a:pPr>
                        <a:defRPr sz="1200"/>
                      </a:pPr>
                      <a:r>
                        <a:t>.NET 8 managed runtime</a:t>
                      </a:r>
                    </a:p>
                  </a:txBody>
                  <a:tcPr>
                    <a:solidFill>
                      <a:srgbClr val="F2F3F4"/>
                    </a:solidFill>
                  </a:tcPr>
                </a:tc>
              </a:tr>
              <a:tr h="365760">
                <a:tc>
                  <a:txBody>
                    <a:bodyPr/>
                    <a:lstStyle/>
                    <a:p>
                      <a:pPr>
                        <a:defRPr sz="1200"/>
                      </a:pPr>
                      <a:r>
                        <a:t>Ruby</a:t>
                      </a:r>
                    </a:p>
                  </a:txBody>
                  <a:tcPr/>
                </a:tc>
                <a:tc>
                  <a:txBody>
                    <a:bodyPr/>
                    <a:lstStyle/>
                    <a:p>
                      <a:pPr>
                        <a:defRPr sz="1200"/>
                      </a:pPr>
                      <a:r>
                        <a:t>Ruby</a:t>
                      </a:r>
                    </a:p>
                  </a:txBody>
                  <a:tcPr/>
                </a:tc>
                <a:tc>
                  <a:txBody>
                    <a:bodyPr/>
                    <a:lstStyle/>
                    <a:p>
                      <a:pPr>
                        <a:defRPr sz="1200"/>
                      </a:pPr>
                      <a:r>
                        <a:t>Includes AWS SDK for Ruby</a:t>
                      </a:r>
                    </a:p>
                  </a:txBody>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Managed runtime options</a:t>
            </a:r>
          </a:p>
        </p:txBody>
      </p:sp>
      <p:sp>
        <p:nvSpPr>
          <p:cNvPr id="3" name="Content Placeholder 2"/>
          <p:cNvSpPr>
            <a:spLocks noGrp="1"/>
          </p:cNvSpPr>
          <p:nvPr>
            <p:ph idx="1"/>
          </p:nvPr>
        </p:nvSpPr>
        <p:spPr/>
        <p:txBody>
          <a:bodyPr/>
          <a:lstStyle/>
          <a:p>
            <a:pPr>
              <a:defRPr sz="1800"/>
            </a:pPr>
            <a:r>
              <a:t>Custom runtimes via `provided.al2023` (Go, Rust, C++)</a:t>
            </a:r>
          </a:p>
          <a:p>
            <a:pPr>
              <a:defRPr sz="1800"/>
            </a:pPr>
            <a:r>
              <a:t>Container images up to 10 GB for full control</a:t>
            </a:r>
          </a:p>
          <a:p>
            <a:pPr>
              <a:defRPr sz="1400" i="1">
                <a:solidFill>
                  <a:srgbClr val="555555"/>
                </a:solidFill>
              </a:defRPr>
            </a:pPr>
            <a:r>
              <a:t>Python and Node.js have the fastest cold starts. Java and .NET offer strong type systems.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Event sources and triggers</a:t>
            </a:r>
          </a:p>
        </p:txBody>
      </p:sp>
      <p:sp>
        <p:nvSpPr>
          <p:cNvPr id="3" name="Text Placeholder 2"/>
          <p:cNvSpPr>
            <a:spLocks noGrp="1"/>
          </p:cNvSpPr>
          <p:nvPr>
            <p:ph type="body" idx="1"/>
          </p:nvPr>
        </p:nvSpPr>
        <p:spPr/>
        <p:txBody>
          <a:bodyPr/>
          <a:lstStyle/>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Push-based triggers</a:t>
            </a:r>
          </a:p>
        </p:txBody>
      </p:sp>
      <p:sp>
        <p:nvSpPr>
          <p:cNvPr id="3" name="Content Placeholder 2"/>
          <p:cNvSpPr>
            <a:spLocks noGrp="1"/>
          </p:cNvSpPr>
          <p:nvPr>
            <p:ph idx="1"/>
          </p:nvPr>
        </p:nvSpPr>
        <p:spPr/>
        <p:txBody>
          <a:bodyPr/>
          <a:lstStyle/>
          <a:p>
            <a:pPr>
              <a:defRPr sz="1600"/>
            </a:pPr>
            <a:r>
              <a:t>The source service invokes Lambda directly:</a:t>
            </a:r>
          </a:p>
          <a:p>
            <a:pPr>
              <a:defRPr sz="1800"/>
            </a:pPr>
            <a:r>
              <a:t>API Gateway: on HTTP requests</a:t>
            </a:r>
          </a:p>
          <a:p>
            <a:pPr>
              <a:defRPr sz="1800"/>
            </a:pPr>
            <a:r>
              <a:t>S3: on object creation/deletion (Module 05)</a:t>
            </a:r>
          </a:p>
          <a:p>
            <a:pPr>
              <a:defRPr sz="1800"/>
            </a:pPr>
            <a:r>
              <a:t>SNS: on message published to topic (Module 08)</a:t>
            </a:r>
          </a:p>
          <a:p>
            <a:pPr>
              <a:defRPr sz="1800"/>
            </a:pPr>
            <a:r>
              <a:t>EventBridge: on matching event pattern</a:t>
            </a:r>
          </a:p>
          <a:p>
            <a:pPr>
              <a:defRPr sz="1800"/>
            </a:pPr>
            <a:r>
              <a:t>CloudWatch Events: on schedule (cron/rate)</a:t>
            </a:r>
          </a:p>
          <a:p>
            <a:pPr>
              <a:defRPr sz="1600"/>
            </a:pPr>
            <a:r>
              <a:t>Permission model: resource-based policy on the function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Poll-based event source mappings</a:t>
            </a:r>
          </a:p>
        </p:txBody>
      </p:sp>
      <p:sp>
        <p:nvSpPr>
          <p:cNvPr id="3" name="Content Placeholder 2"/>
          <p:cNvSpPr>
            <a:spLocks noGrp="1"/>
          </p:cNvSpPr>
          <p:nvPr>
            <p:ph idx="1"/>
          </p:nvPr>
        </p:nvSpPr>
        <p:spPr/>
        <p:txBody>
          <a:bodyPr/>
          <a:lstStyle/>
          <a:p>
            <a:pPr>
              <a:defRPr sz="1600"/>
            </a:pPr>
            <a:r>
              <a:t>Lambda polls the source for new records:</a:t>
            </a:r>
          </a:p>
          <a:p>
            <a:pPr>
              <a:defRPr sz="1800"/>
            </a:pPr>
            <a:r>
              <a:t>SQS: polls queue for messages (Module 08)</a:t>
            </a:r>
          </a:p>
          <a:p>
            <a:pPr>
              <a:defRPr sz="1800"/>
            </a:pPr>
            <a:r>
              <a:t>DynamoDB Streams: polls for table changes (Module 06)</a:t>
            </a:r>
          </a:p>
          <a:p>
            <a:pPr>
              <a:defRPr sz="1800"/>
            </a:pPr>
            <a:r>
              <a:t>Kinesis Data Streams: polls for new data records</a:t>
            </a:r>
          </a:p>
          <a:p>
            <a:pPr>
              <a:defRPr sz="1600"/>
            </a:pPr>
            <a:r>
              <a:t>Permission model: execution role needs read access to the source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Push vs. poll comparison</a:t>
            </a:r>
          </a:p>
        </p:txBody>
      </p:sp>
      <p:graphicFrame>
        <p:nvGraphicFramePr>
          <p:cNvPr id="4" name="Table 3"/>
          <p:cNvGraphicFramePr>
            <a:graphicFrameLocks noGrp="1"/>
          </p:cNvGraphicFramePr>
          <p:nvPr/>
        </p:nvGraphicFramePr>
        <p:xfrm>
          <a:off x="457200" y="1097280"/>
          <a:ext cx="8229600" cy="1828800"/>
        </p:xfrm>
        <a:graphic>
          <a:graphicData uri="http://schemas.openxmlformats.org/drawingml/2006/table">
            <a:tbl>
              <a:tblPr firstRow="1" bandRow="1">
                <a:tableStyleId>{5C22544A-7EE6-4342-B048-85BDC9FD1C3A}</a:tableStyleId>
              </a:tblPr>
              <a:tblGrid>
                <a:gridCol w="2743200"/>
                <a:gridCol w="2743200"/>
                <a:gridCol w="2743200"/>
              </a:tblGrid>
              <a:tr h="365760">
                <a:tc>
                  <a:txBody>
                    <a:bodyPr/>
                    <a:lstStyle/>
                    <a:p>
                      <a:pPr>
                        <a:defRPr sz="1400" b="1">
                          <a:solidFill>
                            <a:srgbClr val="FFFFFF"/>
                          </a:solidFill>
                        </a:defRPr>
                      </a:pPr>
                      <a:r>
                        <a:t>Feature</a:t>
                      </a:r>
                    </a:p>
                  </a:txBody>
                  <a:tcPr>
                    <a:solidFill>
                      <a:srgbClr val="232F3E"/>
                    </a:solidFill>
                  </a:tcPr>
                </a:tc>
                <a:tc>
                  <a:txBody>
                    <a:bodyPr/>
                    <a:lstStyle/>
                    <a:p>
                      <a:pPr>
                        <a:defRPr sz="1400" b="1">
                          <a:solidFill>
                            <a:srgbClr val="FFFFFF"/>
                          </a:solidFill>
                        </a:defRPr>
                      </a:pPr>
                      <a:r>
                        <a:t>Push-Based</a:t>
                      </a:r>
                    </a:p>
                  </a:txBody>
                  <a:tcPr>
                    <a:solidFill>
                      <a:srgbClr val="232F3E"/>
                    </a:solidFill>
                  </a:tcPr>
                </a:tc>
                <a:tc>
                  <a:txBody>
                    <a:bodyPr/>
                    <a:lstStyle/>
                    <a:p>
                      <a:pPr>
                        <a:defRPr sz="1400" b="1">
                          <a:solidFill>
                            <a:srgbClr val="FFFFFF"/>
                          </a:solidFill>
                        </a:defRPr>
                      </a:pPr>
                      <a:r>
                        <a:t>Poll-Based</a:t>
                      </a:r>
                    </a:p>
                  </a:txBody>
                  <a:tcPr>
                    <a:solidFill>
                      <a:srgbClr val="232F3E"/>
                    </a:solidFill>
                  </a:tcPr>
                </a:tc>
              </a:tr>
              <a:tr h="365760">
                <a:tc>
                  <a:txBody>
                    <a:bodyPr/>
                    <a:lstStyle/>
                    <a:p>
                      <a:pPr>
                        <a:defRPr sz="1200"/>
                      </a:pPr>
                      <a:r>
                        <a:t>Permission model</a:t>
                      </a:r>
                    </a:p>
                  </a:txBody>
                  <a:tcPr>
                    <a:solidFill>
                      <a:srgbClr val="F2F3F4"/>
                    </a:solidFill>
                  </a:tcPr>
                </a:tc>
                <a:tc>
                  <a:txBody>
                    <a:bodyPr/>
                    <a:lstStyle/>
                    <a:p>
                      <a:pPr>
                        <a:defRPr sz="1200"/>
                      </a:pPr>
                      <a:r>
                        <a:t>Resource-based policy</a:t>
                      </a:r>
                    </a:p>
                  </a:txBody>
                  <a:tcPr>
                    <a:solidFill>
                      <a:srgbClr val="F2F3F4"/>
                    </a:solidFill>
                  </a:tcPr>
                </a:tc>
                <a:tc>
                  <a:txBody>
                    <a:bodyPr/>
                    <a:lstStyle/>
                    <a:p>
                      <a:pPr>
                        <a:defRPr sz="1200"/>
                      </a:pPr>
                      <a:r>
                        <a:t>Execution role IAM policy</a:t>
                      </a:r>
                    </a:p>
                  </a:txBody>
                  <a:tcPr>
                    <a:solidFill>
                      <a:srgbClr val="F2F3F4"/>
                    </a:solidFill>
                  </a:tcPr>
                </a:tc>
              </a:tr>
              <a:tr h="365760">
                <a:tc>
                  <a:txBody>
                    <a:bodyPr/>
                    <a:lstStyle/>
                    <a:p>
                      <a:pPr>
                        <a:defRPr sz="1200"/>
                      </a:pPr>
                      <a:r>
                        <a:t>Batching</a:t>
                      </a:r>
                    </a:p>
                  </a:txBody>
                  <a:tcPr/>
                </a:tc>
                <a:tc>
                  <a:txBody>
                    <a:bodyPr/>
                    <a:lstStyle/>
                    <a:p>
                      <a:pPr>
                        <a:defRPr sz="1200"/>
                      </a:pPr>
                      <a:r>
                        <a:t>Typically single event</a:t>
                      </a:r>
                    </a:p>
                  </a:txBody>
                  <a:tcPr/>
                </a:tc>
                <a:tc>
                  <a:txBody>
                    <a:bodyPr/>
                    <a:lstStyle/>
                    <a:p>
                      <a:pPr>
                        <a:defRPr sz="1200"/>
                      </a:pPr>
                      <a:r>
                        <a:t>Configurable batch size</a:t>
                      </a:r>
                    </a:p>
                  </a:txBody>
                  <a:tcPr/>
                </a:tc>
              </a:tr>
              <a:tr h="365760">
                <a:tc>
                  <a:txBody>
                    <a:bodyPr/>
                    <a:lstStyle/>
                    <a:p>
                      <a:pPr>
                        <a:defRPr sz="1200"/>
                      </a:pPr>
                      <a:r>
                        <a:t>Error handling</a:t>
                      </a:r>
                    </a:p>
                  </a:txBody>
                  <a:tcPr>
                    <a:solidFill>
                      <a:srgbClr val="F2F3F4"/>
                    </a:solidFill>
                  </a:tcPr>
                </a:tc>
                <a:tc>
                  <a:txBody>
                    <a:bodyPr/>
                    <a:lstStyle/>
                    <a:p>
                      <a:pPr>
                        <a:defRPr sz="1200"/>
                      </a:pPr>
                      <a:r>
                        <a:t>Sync/async invocation type</a:t>
                      </a:r>
                    </a:p>
                  </a:txBody>
                  <a:tcPr>
                    <a:solidFill>
                      <a:srgbClr val="F2F3F4"/>
                    </a:solidFill>
                  </a:tcPr>
                </a:tc>
                <a:tc>
                  <a:txBody>
                    <a:bodyPr/>
                    <a:lstStyle/>
                    <a:p>
                      <a:pPr>
                        <a:defRPr sz="1200"/>
                      </a:pPr>
                      <a:r>
                        <a:t>Auto retries, failure destinations</a:t>
                      </a:r>
                    </a:p>
                  </a:txBody>
                  <a:tcPr>
                    <a:solidFill>
                      <a:srgbClr val="F2F3F4"/>
                    </a:solidFill>
                  </a:tcPr>
                </a:tc>
              </a:tr>
              <a:tr h="365760">
                <a:tc>
                  <a:txBody>
                    <a:bodyPr/>
                    <a:lstStyle/>
                    <a:p>
                      <a:pPr>
                        <a:defRPr sz="1200"/>
                      </a:pPr>
                      <a:r>
                        <a:t>Examples</a:t>
                      </a:r>
                    </a:p>
                  </a:txBody>
                  <a:tcPr/>
                </a:tc>
                <a:tc>
                  <a:txBody>
                    <a:bodyPr/>
                    <a:lstStyle/>
                    <a:p>
                      <a:pPr>
                        <a:defRPr sz="1200"/>
                      </a:pPr>
                      <a:r>
                        <a:t>API Gateway, S3, SNS</a:t>
                      </a:r>
                    </a:p>
                  </a:txBody>
                  <a:tcPr/>
                </a:tc>
                <a:tc>
                  <a:txBody>
                    <a:bodyPr/>
                    <a:lstStyle/>
                    <a:p>
                      <a:pPr>
                        <a:defRPr sz="1200"/>
                      </a:pPr>
                      <a:r>
                        <a:t>SQS, DynamoDB Streams</a:t>
                      </a:r>
                    </a:p>
                  </a:txBody>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Discussion: choosing an invocation pattern</a:t>
            </a:r>
          </a:p>
        </p:txBody>
      </p:sp>
      <p:sp>
        <p:nvSpPr>
          <p:cNvPr id="3" name="Content Placeholder 2"/>
          <p:cNvSpPr>
            <a:spLocks noGrp="1"/>
          </p:cNvSpPr>
          <p:nvPr>
            <p:ph idx="1"/>
          </p:nvPr>
        </p:nvSpPr>
        <p:spPr/>
        <p:txBody>
          <a:bodyPr/>
          <a:lstStyle/>
          <a:p>
            <a:pPr>
              <a:defRPr sz="1600"/>
            </a:pPr>
            <a:r>
              <a:t>Scenario A: Process images immediately when uploaded to S3.</a:t>
            </a:r>
          </a:p>
          <a:p>
            <a:pPr>
              <a:defRPr sz="1600"/>
            </a:pPr>
            <a:r>
              <a:t>Scenario B: Drain a queue of order processing messages at a controlled rate.</a:t>
            </a:r>
          </a:p>
          <a:p>
            <a:pPr>
              <a:defRPr sz="1600"/>
            </a:pPr>
            <a:r>
              <a:t>Which invocation pattern fits each scenario?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IAM execution roles and configuration</a:t>
            </a:r>
          </a:p>
        </p:txBody>
      </p:sp>
      <p:sp>
        <p:nvSpPr>
          <p:cNvPr id="3" name="Text Placeholder 2"/>
          <p:cNvSpPr>
            <a:spLocks noGrp="1"/>
          </p:cNvSpPr>
          <p:nvPr>
            <p:ph type="body" idx="1"/>
          </p:nvPr>
        </p:nvSpPr>
        <p:spPr/>
        <p:txBody>
          <a:bodyPr/>
          <a:lstStyle/>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Execution role: least privilege</a:t>
            </a:r>
          </a:p>
        </p:txBody>
      </p:sp>
      <p:graphicFrame>
        <p:nvGraphicFramePr>
          <p:cNvPr id="4" name="Table 3"/>
          <p:cNvGraphicFramePr>
            <a:graphicFrameLocks noGrp="1"/>
          </p:cNvGraphicFramePr>
          <p:nvPr/>
        </p:nvGraphicFramePr>
        <p:xfrm>
          <a:off x="457200" y="1097280"/>
          <a:ext cx="8229600" cy="1097280"/>
        </p:xfrm>
        <a:graphic>
          <a:graphicData uri="http://schemas.openxmlformats.org/drawingml/2006/table">
            <a:tbl>
              <a:tblPr firstRow="1" bandRow="1">
                <a:tableStyleId>{5C22544A-7EE6-4342-B048-85BDC9FD1C3A}</a:tableStyleId>
              </a:tblPr>
              <a:tblGrid>
                <a:gridCol w="4114800"/>
                <a:gridCol w="4114800"/>
              </a:tblGrid>
              <a:tr h="365760">
                <a:tc>
                  <a:txBody>
                    <a:bodyPr/>
                    <a:lstStyle/>
                    <a:p>
                      <a:pPr>
                        <a:defRPr sz="1400" b="1">
                          <a:solidFill>
                            <a:srgbClr val="FFFFFF"/>
                          </a:solidFill>
                        </a:defRPr>
                      </a:pPr>
                      <a:r>
                        <a:t>Managed Policy</a:t>
                      </a:r>
                    </a:p>
                  </a:txBody>
                  <a:tcPr>
                    <a:solidFill>
                      <a:srgbClr val="232F3E"/>
                    </a:solidFill>
                  </a:tcPr>
                </a:tc>
                <a:tc>
                  <a:txBody>
                    <a:bodyPr/>
                    <a:lstStyle/>
                    <a:p>
                      <a:pPr>
                        <a:defRPr sz="1400" b="1">
                          <a:solidFill>
                            <a:srgbClr val="FFFFFF"/>
                          </a:solidFill>
                        </a:defRPr>
                      </a:pPr>
                      <a:r>
                        <a:t>Permissions</a:t>
                      </a:r>
                    </a:p>
                  </a:txBody>
                  <a:tcPr>
                    <a:solidFill>
                      <a:srgbClr val="232F3E"/>
                    </a:solidFill>
                  </a:tcPr>
                </a:tc>
              </a:tr>
              <a:tr h="365760">
                <a:tc>
                  <a:txBody>
                    <a:bodyPr/>
                    <a:lstStyle/>
                    <a:p>
                      <a:pPr>
                        <a:defRPr sz="1200"/>
                      </a:pPr>
                      <a:r>
                        <a:t>AWSLambdaDynamoDBExecutionRole</a:t>
                      </a:r>
                    </a:p>
                  </a:txBody>
                  <a:tcPr>
                    <a:solidFill>
                      <a:srgbClr val="F2F3F4"/>
                    </a:solidFill>
                  </a:tcPr>
                </a:tc>
                <a:tc>
                  <a:txBody>
                    <a:bodyPr/>
                    <a:lstStyle/>
                    <a:p>
                      <a:pPr>
                        <a:defRPr sz="1200"/>
                      </a:pPr>
                      <a:r>
                        <a:t>DynamoDB Streams + Logs</a:t>
                      </a:r>
                    </a:p>
                  </a:txBody>
                  <a:tcPr>
                    <a:solidFill>
                      <a:srgbClr val="F2F3F4"/>
                    </a:solidFill>
                  </a:tcPr>
                </a:tc>
              </a:tr>
              <a:tr h="365760">
                <a:tc>
                  <a:txBody>
                    <a:bodyPr/>
                    <a:lstStyle/>
                    <a:p>
                      <a:pPr>
                        <a:defRPr sz="1200"/>
                      </a:pPr>
                      <a:r>
                        <a:t>AWSLambdaSQSQueueExecutionRole</a:t>
                      </a:r>
                    </a:p>
                  </a:txBody>
                  <a:tcPr/>
                </a:tc>
                <a:tc>
                  <a:txBody>
                    <a:bodyPr/>
                    <a:lstStyle/>
                    <a:p>
                      <a:pPr>
                        <a:defRPr sz="1200"/>
                      </a:pPr>
                      <a:r>
                        <a:t>SQS + Logs</a:t>
                      </a:r>
                    </a:p>
                  </a:txBody>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Execution role: least privilege</a:t>
            </a:r>
          </a:p>
        </p:txBody>
      </p:sp>
      <p:sp>
        <p:nvSpPr>
          <p:cNvPr id="3" name="Content Placeholder 2"/>
          <p:cNvSpPr>
            <a:spLocks noGrp="1"/>
          </p:cNvSpPr>
          <p:nvPr>
            <p:ph idx="1"/>
          </p:nvPr>
        </p:nvSpPr>
        <p:spPr/>
        <p:txBody>
          <a:bodyPr/>
          <a:lstStyle/>
          <a:p>
            <a:pPr>
              <a:defRPr sz="1600"/>
            </a:pPr>
            <a:r>
              <a:t>Every Lambda function needs an IAM execution role:</a:t>
            </a:r>
          </a:p>
          <a:p>
            <a:pPr>
              <a:defRPr sz="1400" i="1">
                <a:solidFill>
                  <a:srgbClr val="555555"/>
                </a:solidFill>
              </a:defRPr>
            </a:pPr>
            <a:r>
              <a:t>AWSLambdaBasicExecutionRole only grants logging. Add permissions for every other service your function accesses.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Configuration settings</a:t>
            </a:r>
          </a:p>
        </p:txBody>
      </p:sp>
      <p:graphicFrame>
        <p:nvGraphicFramePr>
          <p:cNvPr id="4" name="Table 3"/>
          <p:cNvGraphicFramePr>
            <a:graphicFrameLocks noGrp="1"/>
          </p:cNvGraphicFramePr>
          <p:nvPr/>
        </p:nvGraphicFramePr>
        <p:xfrm>
          <a:off x="457200" y="1097280"/>
          <a:ext cx="8229600" cy="1463040"/>
        </p:xfrm>
        <a:graphic>
          <a:graphicData uri="http://schemas.openxmlformats.org/drawingml/2006/table">
            <a:tbl>
              <a:tblPr firstRow="1" bandRow="1">
                <a:tableStyleId>{5C22544A-7EE6-4342-B048-85BDC9FD1C3A}</a:tableStyleId>
              </a:tblPr>
              <a:tblGrid>
                <a:gridCol w="2057400"/>
                <a:gridCol w="2057400"/>
                <a:gridCol w="2057400"/>
                <a:gridCol w="2057400"/>
              </a:tblGrid>
              <a:tr h="365760">
                <a:tc>
                  <a:txBody>
                    <a:bodyPr/>
                    <a:lstStyle/>
                    <a:p>
                      <a:pPr>
                        <a:defRPr sz="1400" b="1">
                          <a:solidFill>
                            <a:srgbClr val="FFFFFF"/>
                          </a:solidFill>
                        </a:defRPr>
                      </a:pPr>
                      <a:r>
                        <a:t>Setting</a:t>
                      </a:r>
                    </a:p>
                  </a:txBody>
                  <a:tcPr>
                    <a:solidFill>
                      <a:srgbClr val="232F3E"/>
                    </a:solidFill>
                  </a:tcPr>
                </a:tc>
                <a:tc>
                  <a:txBody>
                    <a:bodyPr/>
                    <a:lstStyle/>
                    <a:p>
                      <a:pPr>
                        <a:defRPr sz="1400" b="1">
                          <a:solidFill>
                            <a:srgbClr val="FFFFFF"/>
                          </a:solidFill>
                        </a:defRPr>
                      </a:pPr>
                      <a:r>
                        <a:t>Range</a:t>
                      </a:r>
                    </a:p>
                  </a:txBody>
                  <a:tcPr>
                    <a:solidFill>
                      <a:srgbClr val="232F3E"/>
                    </a:solidFill>
                  </a:tcPr>
                </a:tc>
                <a:tc>
                  <a:txBody>
                    <a:bodyPr/>
                    <a:lstStyle/>
                    <a:p>
                      <a:pPr>
                        <a:defRPr sz="1400" b="1">
                          <a:solidFill>
                            <a:srgbClr val="FFFFFF"/>
                          </a:solidFill>
                        </a:defRPr>
                      </a:pPr>
                      <a:r>
                        <a:t>Default</a:t>
                      </a:r>
                    </a:p>
                  </a:txBody>
                  <a:tcPr>
                    <a:solidFill>
                      <a:srgbClr val="232F3E"/>
                    </a:solidFill>
                  </a:tcPr>
                </a:tc>
                <a:tc>
                  <a:txBody>
                    <a:bodyPr/>
                    <a:lstStyle/>
                    <a:p>
                      <a:pPr>
                        <a:defRPr sz="1400" b="1">
                          <a:solidFill>
                            <a:srgbClr val="FFFFFF"/>
                          </a:solidFill>
                        </a:defRPr>
                      </a:pPr>
                      <a:r>
                        <a:t>Impact</a:t>
                      </a:r>
                    </a:p>
                  </a:txBody>
                  <a:tcPr>
                    <a:solidFill>
                      <a:srgbClr val="232F3E"/>
                    </a:solidFill>
                  </a:tcPr>
                </a:tc>
              </a:tr>
              <a:tr h="365760">
                <a:tc>
                  <a:txBody>
                    <a:bodyPr/>
                    <a:lstStyle/>
                    <a:p>
                      <a:pPr>
                        <a:defRPr sz="1200"/>
                      </a:pPr>
                      <a:r>
                        <a:t>Timeout</a:t>
                      </a:r>
                    </a:p>
                  </a:txBody>
                  <a:tcPr>
                    <a:solidFill>
                      <a:srgbClr val="F2F3F4"/>
                    </a:solidFill>
                  </a:tcPr>
                </a:tc>
                <a:tc>
                  <a:txBody>
                    <a:bodyPr/>
                    <a:lstStyle/>
                    <a:p>
                      <a:pPr>
                        <a:defRPr sz="1200"/>
                      </a:pPr>
                      <a:r>
                        <a:t>1s to 900s</a:t>
                      </a:r>
                    </a:p>
                  </a:txBody>
                  <a:tcPr>
                    <a:solidFill>
                      <a:srgbClr val="F2F3F4"/>
                    </a:solidFill>
                  </a:tcPr>
                </a:tc>
                <a:tc>
                  <a:txBody>
                    <a:bodyPr/>
                    <a:lstStyle/>
                    <a:p>
                      <a:pPr>
                        <a:defRPr sz="1200"/>
                      </a:pPr>
                      <a:r>
                        <a:t>3s</a:t>
                      </a:r>
                    </a:p>
                  </a:txBody>
                  <a:tcPr>
                    <a:solidFill>
                      <a:srgbClr val="F2F3F4"/>
                    </a:solidFill>
                  </a:tcPr>
                </a:tc>
                <a:tc>
                  <a:txBody>
                    <a:bodyPr/>
                    <a:lstStyle/>
                    <a:p>
                      <a:pPr>
                        <a:defRPr sz="1200"/>
                      </a:pPr>
                      <a:r>
                        <a:t>Max execution time</a:t>
                      </a:r>
                    </a:p>
                  </a:txBody>
                  <a:tcPr>
                    <a:solidFill>
                      <a:srgbClr val="F2F3F4"/>
                    </a:solidFill>
                  </a:tcPr>
                </a:tc>
              </a:tr>
              <a:tr h="365760">
                <a:tc>
                  <a:txBody>
                    <a:bodyPr/>
                    <a:lstStyle/>
                    <a:p>
                      <a:pPr>
                        <a:defRPr sz="1200"/>
                      </a:pPr>
                      <a:r>
                        <a:t>Reserved concurrency</a:t>
                      </a:r>
                    </a:p>
                  </a:txBody>
                  <a:tcPr/>
                </a:tc>
                <a:tc>
                  <a:txBody>
                    <a:bodyPr/>
                    <a:lstStyle/>
                    <a:p>
                      <a:pPr>
                        <a:defRPr sz="1200"/>
                      </a:pPr>
                      <a:r>
                        <a:t>0 to account limit</a:t>
                      </a:r>
                    </a:p>
                  </a:txBody>
                  <a:tcPr/>
                </a:tc>
                <a:tc>
                  <a:txBody>
                    <a:bodyPr/>
                    <a:lstStyle/>
                    <a:p>
                      <a:pPr>
                        <a:defRPr sz="1200"/>
                      </a:pPr>
                      <a:r>
                        <a:t>Unreserved</a:t>
                      </a:r>
                    </a:p>
                  </a:txBody>
                  <a:tcPr/>
                </a:tc>
                <a:tc>
                  <a:txBody>
                    <a:bodyPr/>
                    <a:lstStyle/>
                    <a:p>
                      <a:pPr>
                        <a:defRPr sz="1200"/>
                      </a:pPr>
                      <a:r>
                        <a:t>Caps concurrent executions</a:t>
                      </a:r>
                    </a:p>
                  </a:txBody>
                  <a:tcPr/>
                </a:tc>
              </a:tr>
              <a:tr h="365760">
                <a:tc>
                  <a:txBody>
                    <a:bodyPr/>
                    <a:lstStyle/>
                    <a:p>
                      <a:pPr>
                        <a:defRPr sz="1200"/>
                      </a:pPr>
                      <a:r>
                        <a:t>Ephemeral storage</a:t>
                      </a:r>
                    </a:p>
                  </a:txBody>
                  <a:tcPr>
                    <a:solidFill>
                      <a:srgbClr val="F2F3F4"/>
                    </a:solidFill>
                  </a:tcPr>
                </a:tc>
                <a:tc>
                  <a:txBody>
                    <a:bodyPr/>
                    <a:lstStyle/>
                    <a:p>
                      <a:pPr>
                        <a:defRPr sz="1200"/>
                      </a:pPr>
                      <a:r>
                        <a:t>512 MB to 10,240 MB</a:t>
                      </a:r>
                    </a:p>
                  </a:txBody>
                  <a:tcPr>
                    <a:solidFill>
                      <a:srgbClr val="F2F3F4"/>
                    </a:solidFill>
                  </a:tcPr>
                </a:tc>
                <a:tc>
                  <a:txBody>
                    <a:bodyPr/>
                    <a:lstStyle/>
                    <a:p>
                      <a:pPr>
                        <a:defRPr sz="1200"/>
                      </a:pPr>
                      <a:r>
                        <a:t>512 MB</a:t>
                      </a:r>
                    </a:p>
                  </a:txBody>
                  <a:tcPr>
                    <a:solidFill>
                      <a:srgbClr val="F2F3F4"/>
                    </a:solidFill>
                  </a:tcPr>
                </a:tc>
                <a:tc>
                  <a:txBody>
                    <a:bodyPr/>
                    <a:lstStyle/>
                    <a:p>
                      <a:pPr>
                        <a:defRPr sz="1200"/>
                      </a:pPr>
                      <a:r>
                        <a:t>Temp disk in `/tmp`</a:t>
                      </a:r>
                    </a:p>
                  </a:txBody>
                  <a:tcPr>
                    <a:solidFill>
                      <a:srgbClr val="F2F3F4"/>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Configuration settings</a:t>
            </a:r>
          </a:p>
        </p:txBody>
      </p:sp>
      <p:sp>
        <p:nvSpPr>
          <p:cNvPr id="3" name="Content Placeholder 2"/>
          <p:cNvSpPr>
            <a:spLocks noGrp="1"/>
          </p:cNvSpPr>
          <p:nvPr>
            <p:ph idx="1"/>
          </p:nvPr>
        </p:nvSpPr>
        <p:spPr/>
        <p:txBody>
          <a:bodyPr/>
          <a:lstStyle/>
          <a:p>
            <a:pPr>
              <a:defRPr sz="1400" i="1">
                <a:solidFill>
                  <a:srgbClr val="555555"/>
                </a:solidFill>
              </a:defRPr>
            </a:pPr>
            <a:r>
              <a:t>Use Lambda Power Tuning to find the optimal memory setting. More memory often reduces cost.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Cold starts</a:t>
            </a:r>
          </a:p>
        </p:txBody>
      </p:sp>
      <p:sp>
        <p:nvSpPr>
          <p:cNvPr id="3" name="Text Placeholder 2"/>
          <p:cNvSpPr>
            <a:spLocks noGrp="1"/>
          </p:cNvSpPr>
          <p:nvPr>
            <p:ph type="body" idx="1"/>
          </p:nvPr>
        </p:nvSpPr>
        <p:spPr/>
        <p:txBody>
          <a:bodyPr/>
          <a:lstStyle/>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causes cold starts?</a:t>
            </a:r>
          </a:p>
        </p:txBody>
      </p:sp>
      <p:sp>
        <p:nvSpPr>
          <p:cNvPr id="3" name="Content Placeholder 2"/>
          <p:cNvSpPr>
            <a:spLocks noGrp="1"/>
          </p:cNvSpPr>
          <p:nvPr>
            <p:ph idx="1"/>
          </p:nvPr>
        </p:nvSpPr>
        <p:spPr/>
        <p:txBody>
          <a:bodyPr/>
          <a:lstStyle/>
          <a:p>
            <a:pPr>
              <a:defRPr sz="1800"/>
            </a:pPr>
            <a:r>
              <a:t>First invocation or after a period of inactivity</a:t>
            </a:r>
          </a:p>
          <a:p>
            <a:pPr>
              <a:defRPr sz="1800"/>
            </a:pPr>
            <a:r>
              <a:t>Scaling up beyond available execution environments</a:t>
            </a:r>
          </a:p>
          <a:p>
            <a:pPr>
              <a:defRPr sz="1800"/>
            </a:pPr>
            <a:r>
              <a:t>Code or configuration changes</a:t>
            </a:r>
          </a:p>
          <a:p>
            <a:pPr>
              <a:defRPr sz="1600"/>
            </a:pPr>
            <a:r>
              <a:t>Cold start duration depends on: runtime language, package size, initialization code, VPC configuration, and memory allocation.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Mitigation strategies</a:t>
            </a:r>
          </a:p>
        </p:txBody>
      </p:sp>
      <p:graphicFrame>
        <p:nvGraphicFramePr>
          <p:cNvPr id="4" name="Table 3"/>
          <p:cNvGraphicFramePr>
            <a:graphicFrameLocks noGrp="1"/>
          </p:cNvGraphicFramePr>
          <p:nvPr/>
        </p:nvGraphicFramePr>
        <p:xfrm>
          <a:off x="457200" y="1097280"/>
          <a:ext cx="8229600" cy="1828800"/>
        </p:xfrm>
        <a:graphic>
          <a:graphicData uri="http://schemas.openxmlformats.org/drawingml/2006/table">
            <a:tbl>
              <a:tblPr firstRow="1" bandRow="1">
                <a:tableStyleId>{5C22544A-7EE6-4342-B048-85BDC9FD1C3A}</a:tableStyleId>
              </a:tblPr>
              <a:tblGrid>
                <a:gridCol w="2743200"/>
                <a:gridCol w="2743200"/>
                <a:gridCol w="2743200"/>
              </a:tblGrid>
              <a:tr h="365760">
                <a:tc>
                  <a:txBody>
                    <a:bodyPr/>
                    <a:lstStyle/>
                    <a:p>
                      <a:pPr>
                        <a:defRPr sz="1400" b="1">
                          <a:solidFill>
                            <a:srgbClr val="FFFFFF"/>
                          </a:solidFill>
                        </a:defRPr>
                      </a:pPr>
                      <a:r>
                        <a:t>Strategy</a:t>
                      </a:r>
                    </a:p>
                  </a:txBody>
                  <a:tcPr>
                    <a:solidFill>
                      <a:srgbClr val="232F3E"/>
                    </a:solidFill>
                  </a:tcPr>
                </a:tc>
                <a:tc>
                  <a:txBody>
                    <a:bodyPr/>
                    <a:lstStyle/>
                    <a:p>
                      <a:pPr>
                        <a:defRPr sz="1400" b="1">
                          <a:solidFill>
                            <a:srgbClr val="FFFFFF"/>
                          </a:solidFill>
                        </a:defRPr>
                      </a:pPr>
                      <a:r>
                        <a:t>How It Helps</a:t>
                      </a:r>
                    </a:p>
                  </a:txBody>
                  <a:tcPr>
                    <a:solidFill>
                      <a:srgbClr val="232F3E"/>
                    </a:solidFill>
                  </a:tcPr>
                </a:tc>
                <a:tc>
                  <a:txBody>
                    <a:bodyPr/>
                    <a:lstStyle/>
                    <a:p>
                      <a:pPr>
                        <a:defRPr sz="1400" b="1">
                          <a:solidFill>
                            <a:srgbClr val="FFFFFF"/>
                          </a:solidFill>
                        </a:defRPr>
                      </a:pPr>
                      <a:r>
                        <a:t>Trade-off</a:t>
                      </a:r>
                    </a:p>
                  </a:txBody>
                  <a:tcPr>
                    <a:solidFill>
                      <a:srgbClr val="232F3E"/>
                    </a:solidFill>
                  </a:tcPr>
                </a:tc>
              </a:tr>
              <a:tr h="365760">
                <a:tc>
                  <a:txBody>
                    <a:bodyPr/>
                    <a:lstStyle/>
                    <a:p>
                      <a:pPr>
                        <a:defRPr sz="1200"/>
                      </a:pPr>
                      <a:r>
                        <a:t>Minimize package size</a:t>
                      </a:r>
                    </a:p>
                  </a:txBody>
                  <a:tcPr>
                    <a:solidFill>
                      <a:srgbClr val="F2F3F4"/>
                    </a:solidFill>
                  </a:tcPr>
                </a:tc>
                <a:tc>
                  <a:txBody>
                    <a:bodyPr/>
                    <a:lstStyle/>
                    <a:p>
                      <a:pPr>
                        <a:defRPr sz="1200"/>
                      </a:pPr>
                      <a:r>
                        <a:t>Faster download and extract</a:t>
                      </a:r>
                    </a:p>
                  </a:txBody>
                  <a:tcPr>
                    <a:solidFill>
                      <a:srgbClr val="F2F3F4"/>
                    </a:solidFill>
                  </a:tcPr>
                </a:tc>
                <a:tc>
                  <a:txBody>
                    <a:bodyPr/>
                    <a:lstStyle/>
                    <a:p>
                      <a:pPr>
                        <a:defRPr sz="1200"/>
                      </a:pPr>
                      <a:r>
                        <a:t>Careful dependency management</a:t>
                      </a:r>
                    </a:p>
                  </a:txBody>
                  <a:tcPr>
                    <a:solidFill>
                      <a:srgbClr val="F2F3F4"/>
                    </a:solidFill>
                  </a:tcPr>
                </a:tc>
              </a:tr>
              <a:tr h="365760">
                <a:tc>
                  <a:txBody>
                    <a:bodyPr/>
                    <a:lstStyle/>
                    <a:p>
                      <a:pPr>
                        <a:defRPr sz="1200"/>
                      </a:pPr>
                      <a:r>
                        <a:t>SnapStart (Java only)</a:t>
                      </a:r>
                    </a:p>
                  </a:txBody>
                  <a:tcPr/>
                </a:tc>
                <a:tc>
                  <a:txBody>
                    <a:bodyPr/>
                    <a:lstStyle/>
                    <a:p>
                      <a:pPr>
                        <a:defRPr sz="1200"/>
                      </a:pPr>
                      <a:r>
                        <a:t>Snapshot-based restore</a:t>
                      </a:r>
                    </a:p>
                  </a:txBody>
                  <a:tcPr/>
                </a:tc>
                <a:tc>
                  <a:txBody>
                    <a:bodyPr/>
                    <a:lstStyle/>
                    <a:p>
                      <a:pPr>
                        <a:defRPr sz="1200"/>
                      </a:pPr>
                      <a:r>
                        <a:t>Java runtimes only</a:t>
                      </a:r>
                    </a:p>
                  </a:txBody>
                  <a:tcPr/>
                </a:tc>
              </a:tr>
              <a:tr h="365760">
                <a:tc>
                  <a:txBody>
                    <a:bodyPr/>
                    <a:lstStyle/>
                    <a:p>
                      <a:pPr>
                        <a:defRPr sz="1200"/>
                      </a:pPr>
                      <a:r>
                        <a:t>Init outside handler</a:t>
                      </a:r>
                    </a:p>
                  </a:txBody>
                  <a:tcPr>
                    <a:solidFill>
                      <a:srgbClr val="F2F3F4"/>
                    </a:solidFill>
                  </a:tcPr>
                </a:tc>
                <a:tc>
                  <a:txBody>
                    <a:bodyPr/>
                    <a:lstStyle/>
                    <a:p>
                      <a:pPr>
                        <a:defRPr sz="1200"/>
                      </a:pPr>
                      <a:r>
                        <a:t>Reuse across invocations</a:t>
                      </a:r>
                    </a:p>
                  </a:txBody>
                  <a:tcPr>
                    <a:solidFill>
                      <a:srgbClr val="F2F3F4"/>
                    </a:solidFill>
                  </a:tcPr>
                </a:tc>
                <a:tc>
                  <a:txBody>
                    <a:bodyPr/>
                    <a:lstStyle/>
                    <a:p>
                      <a:pPr>
                        <a:defRPr sz="1200"/>
                      </a:pPr>
                      <a:r>
                        <a:t>None (always do this)</a:t>
                      </a:r>
                    </a:p>
                  </a:txBody>
                  <a:tcPr>
                    <a:solidFill>
                      <a:srgbClr val="F2F3F4"/>
                    </a:solidFill>
                  </a:tcPr>
                </a:tc>
              </a:tr>
              <a:tr h="365760">
                <a:tc>
                  <a:txBody>
                    <a:bodyPr/>
                    <a:lstStyle/>
                    <a:p>
                      <a:pPr>
                        <a:defRPr sz="1200"/>
                      </a:pPr>
                      <a:r>
                        <a:t>Lightweight runtime</a:t>
                      </a:r>
                    </a:p>
                  </a:txBody>
                  <a:tcPr/>
                </a:tc>
                <a:tc>
                  <a:txBody>
                    <a:bodyPr/>
                    <a:lstStyle/>
                    <a:p>
                      <a:pPr>
                        <a:defRPr sz="1200"/>
                      </a:pPr>
                      <a:r>
                        <a:t>Python/Node.js start faster</a:t>
                      </a:r>
                    </a:p>
                  </a:txBody>
                  <a:tcPr/>
                </a:tc>
                <a:tc>
                  <a:txBody>
                    <a:bodyPr/>
                    <a:lstStyle/>
                    <a:p>
                      <a:pPr>
                        <a:defRPr sz="1200"/>
                      </a:pPr>
                      <a:r>
                        <a:t>Language choice constraints</a:t>
                      </a:r>
                    </a:p>
                  </a:txBody>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Mitigation strategies</a:t>
            </a:r>
          </a:p>
        </p:txBody>
      </p:sp>
      <p:sp>
        <p:nvSpPr>
          <p:cNvPr id="3" name="Content Placeholder 2"/>
          <p:cNvSpPr>
            <a:spLocks noGrp="1"/>
          </p:cNvSpPr>
          <p:nvPr>
            <p:ph idx="1"/>
          </p:nvPr>
        </p:nvSpPr>
        <p:spPr/>
        <p:txBody>
          <a:bodyPr/>
          <a:lstStyle/>
          <a:p>
            <a:pPr>
              <a:defRPr sz="1400" i="1">
                <a:solidFill>
                  <a:srgbClr val="555555"/>
                </a:solidFill>
              </a:defRPr>
            </a:pPr>
            <a:r>
              <a:t>For most workloads, cold starts add 100-500ms (Python/Node.js). Use provisioned concurrency for latency-sensitive APIs.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Lambda Layers and packaging</a:t>
            </a:r>
          </a:p>
        </p:txBody>
      </p:sp>
      <p:sp>
        <p:nvSpPr>
          <p:cNvPr id="3" name="Text Placeholder 2"/>
          <p:cNvSpPr>
            <a:spLocks noGrp="1"/>
          </p:cNvSpPr>
          <p:nvPr>
            <p:ph type="body" idx="1"/>
          </p:nvPr>
        </p:nvSpPr>
        <p:spPr/>
        <p:txBody>
          <a:bodyPr/>
          <a:lstStyle/>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Lambda Layers</a:t>
            </a:r>
          </a:p>
        </p:txBody>
      </p:sp>
      <p:sp>
        <p:nvSpPr>
          <p:cNvPr id="3" name="Content Placeholder 2"/>
          <p:cNvSpPr>
            <a:spLocks noGrp="1"/>
          </p:cNvSpPr>
          <p:nvPr>
            <p:ph idx="1"/>
          </p:nvPr>
        </p:nvSpPr>
        <p:spPr/>
        <p:txBody>
          <a:bodyPr/>
          <a:lstStyle/>
          <a:p>
            <a:pPr>
              <a:defRPr sz="1800"/>
            </a:pPr>
            <a:r>
              <a:t>Package libraries and dependencies separately from function code</a:t>
            </a:r>
          </a:p>
          <a:p>
            <a:pPr>
              <a:defRPr sz="1800"/>
            </a:pPr>
            <a:r>
              <a:t>Extracted to `/opt` in the execution environment</a:t>
            </a:r>
          </a:p>
          <a:p>
            <a:pPr>
              <a:defRPr sz="1800"/>
            </a:pPr>
            <a:r>
              <a:t>Share across multiple functions (up to 5 layers per function)</a:t>
            </a:r>
          </a:p>
          <a:p>
            <a:pPr>
              <a:defRPr sz="1800"/>
            </a:pPr>
            <a:r>
              <a:t>Smaller deployment packages = faster deployments and cold starts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Packaging: .zip vs. container images</a:t>
            </a:r>
          </a:p>
        </p:txBody>
      </p:sp>
      <p:graphicFrame>
        <p:nvGraphicFramePr>
          <p:cNvPr id="4" name="Table 3"/>
          <p:cNvGraphicFramePr>
            <a:graphicFrameLocks noGrp="1"/>
          </p:cNvGraphicFramePr>
          <p:nvPr/>
        </p:nvGraphicFramePr>
        <p:xfrm>
          <a:off x="457200" y="1097280"/>
          <a:ext cx="8229600" cy="1828800"/>
        </p:xfrm>
        <a:graphic>
          <a:graphicData uri="http://schemas.openxmlformats.org/drawingml/2006/table">
            <a:tbl>
              <a:tblPr firstRow="1" bandRow="1">
                <a:tableStyleId>{5C22544A-7EE6-4342-B048-85BDC9FD1C3A}</a:tableStyleId>
              </a:tblPr>
              <a:tblGrid>
                <a:gridCol w="2743200"/>
                <a:gridCol w="2743200"/>
                <a:gridCol w="2743200"/>
              </a:tblGrid>
              <a:tr h="365760">
                <a:tc>
                  <a:txBody>
                    <a:bodyPr/>
                    <a:lstStyle/>
                    <a:p>
                      <a:pPr>
                        <a:defRPr sz="1400" b="1">
                          <a:solidFill>
                            <a:srgbClr val="FFFFFF"/>
                          </a:solidFill>
                        </a:defRPr>
                      </a:pPr>
                      <a:r>
                        <a:t>Feature</a:t>
                      </a:r>
                    </a:p>
                  </a:txBody>
                  <a:tcPr>
                    <a:solidFill>
                      <a:srgbClr val="232F3E"/>
                    </a:solidFill>
                  </a:tcPr>
                </a:tc>
                <a:tc>
                  <a:txBody>
                    <a:bodyPr/>
                    <a:lstStyle/>
                    <a:p>
                      <a:pPr>
                        <a:defRPr sz="1400" b="1">
                          <a:solidFill>
                            <a:srgbClr val="FFFFFF"/>
                          </a:solidFill>
                        </a:defRPr>
                      </a:pPr>
                      <a:r>
                        <a:t>.zip Archive</a:t>
                      </a:r>
                    </a:p>
                  </a:txBody>
                  <a:tcPr>
                    <a:solidFill>
                      <a:srgbClr val="232F3E"/>
                    </a:solidFill>
                  </a:tcPr>
                </a:tc>
                <a:tc>
                  <a:txBody>
                    <a:bodyPr/>
                    <a:lstStyle/>
                    <a:p>
                      <a:pPr>
                        <a:defRPr sz="1400" b="1">
                          <a:solidFill>
                            <a:srgbClr val="FFFFFF"/>
                          </a:solidFill>
                        </a:defRPr>
                      </a:pPr>
                      <a:r>
                        <a:t>Container Image</a:t>
                      </a:r>
                    </a:p>
                  </a:txBody>
                  <a:tcPr>
                    <a:solidFill>
                      <a:srgbClr val="232F3E"/>
                    </a:solidFill>
                  </a:tcPr>
                </a:tc>
              </a:tr>
              <a:tr h="365760">
                <a:tc>
                  <a:txBody>
                    <a:bodyPr/>
                    <a:lstStyle/>
                    <a:p>
                      <a:pPr>
                        <a:defRPr sz="1200"/>
                      </a:pPr>
                      <a:r>
                        <a:t>Build tool</a:t>
                      </a:r>
                    </a:p>
                  </a:txBody>
                  <a:tcPr>
                    <a:solidFill>
                      <a:srgbClr val="F2F3F4"/>
                    </a:solidFill>
                  </a:tcPr>
                </a:tc>
                <a:tc>
                  <a:txBody>
                    <a:bodyPr/>
                    <a:lstStyle/>
                    <a:p>
                      <a:pPr>
                        <a:defRPr sz="1200"/>
                      </a:pPr>
                      <a:r>
                        <a:t>zip, pip, npm</a:t>
                      </a:r>
                    </a:p>
                  </a:txBody>
                  <a:tcPr>
                    <a:solidFill>
                      <a:srgbClr val="F2F3F4"/>
                    </a:solidFill>
                  </a:tcPr>
                </a:tc>
                <a:tc>
                  <a:txBody>
                    <a:bodyPr/>
                    <a:lstStyle/>
                    <a:p>
                      <a:pPr>
                        <a:defRPr sz="1200"/>
                      </a:pPr>
                      <a:r>
                        <a:t>Docker</a:t>
                      </a:r>
                    </a:p>
                  </a:txBody>
                  <a:tcPr>
                    <a:solidFill>
                      <a:srgbClr val="F2F3F4"/>
                    </a:solidFill>
                  </a:tcPr>
                </a:tc>
              </a:tr>
              <a:tr h="365760">
                <a:tc>
                  <a:txBody>
                    <a:bodyPr/>
                    <a:lstStyle/>
                    <a:p>
                      <a:pPr>
                        <a:defRPr sz="1200"/>
                      </a:pPr>
                      <a:r>
                        <a:t>Registry</a:t>
                      </a:r>
                    </a:p>
                  </a:txBody>
                  <a:tcPr/>
                </a:tc>
                <a:tc>
                  <a:txBody>
                    <a:bodyPr/>
                    <a:lstStyle/>
                    <a:p>
                      <a:pPr>
                        <a:defRPr sz="1200"/>
                      </a:pPr>
                      <a:r>
                        <a:t>Lambda service or S3</a:t>
                      </a:r>
                    </a:p>
                  </a:txBody>
                  <a:tcPr/>
                </a:tc>
                <a:tc>
                  <a:txBody>
                    <a:bodyPr/>
                    <a:lstStyle/>
                    <a:p>
                      <a:pPr>
                        <a:defRPr sz="1200"/>
                      </a:pPr>
                      <a:r>
                        <a:t>Amazon ECR</a:t>
                      </a:r>
                    </a:p>
                  </a:txBody>
                  <a:tcPr/>
                </a:tc>
              </a:tr>
              <a:tr h="365760">
                <a:tc>
                  <a:txBody>
                    <a:bodyPr/>
                    <a:lstStyle/>
                    <a:p>
                      <a:pPr>
                        <a:defRPr sz="1200"/>
                      </a:pPr>
                      <a:r>
                        <a:t>Custom OS libraries</a:t>
                      </a:r>
                    </a:p>
                  </a:txBody>
                  <a:tcPr>
                    <a:solidFill>
                      <a:srgbClr val="F2F3F4"/>
                    </a:solidFill>
                  </a:tcPr>
                </a:tc>
                <a:tc>
                  <a:txBody>
                    <a:bodyPr/>
                    <a:lstStyle/>
                    <a:p>
                      <a:pPr>
                        <a:defRPr sz="1200"/>
                      </a:pPr>
                      <a:r>
                        <a:t>Limited</a:t>
                      </a:r>
                    </a:p>
                  </a:txBody>
                  <a:tcPr>
                    <a:solidFill>
                      <a:srgbClr val="F2F3F4"/>
                    </a:solidFill>
                  </a:tcPr>
                </a:tc>
                <a:tc>
                  <a:txBody>
                    <a:bodyPr/>
                    <a:lstStyle/>
                    <a:p>
                      <a:pPr>
                        <a:defRPr sz="1200"/>
                      </a:pPr>
                      <a:r>
                        <a:t>Full control</a:t>
                      </a:r>
                    </a:p>
                  </a:txBody>
                  <a:tcPr>
                    <a:solidFill>
                      <a:srgbClr val="F2F3F4"/>
                    </a:solidFill>
                  </a:tcPr>
                </a:tc>
              </a:tr>
              <a:tr h="365760">
                <a:tc>
                  <a:txBody>
                    <a:bodyPr/>
                    <a:lstStyle/>
                    <a:p>
                      <a:pPr>
                        <a:defRPr sz="1200"/>
                      </a:pPr>
                      <a:r>
                        <a:t>Best for</a:t>
                      </a:r>
                    </a:p>
                  </a:txBody>
                  <a:tcPr/>
                </a:tc>
                <a:tc>
                  <a:txBody>
                    <a:bodyPr/>
                    <a:lstStyle/>
                    <a:p>
                      <a:pPr>
                        <a:defRPr sz="1200"/>
                      </a:pPr>
                      <a:r>
                        <a:t>Standard dependencies</a:t>
                      </a:r>
                    </a:p>
                  </a:txBody>
                  <a:tcPr/>
                </a:tc>
                <a:tc>
                  <a:txBody>
                    <a:bodyPr/>
                    <a:lstStyle/>
                    <a:p>
                      <a:pPr>
                        <a:defRPr sz="1200"/>
                      </a:pPr>
                      <a:r>
                        <a:t>Large deps, container workflows</a:t>
                      </a:r>
                    </a:p>
                  </a:txBody>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Packaging: .zip vs. container images</a:t>
            </a:r>
          </a:p>
        </p:txBody>
      </p:sp>
      <p:sp>
        <p:nvSpPr>
          <p:cNvPr id="3" name="Content Placeholder 2"/>
          <p:cNvSpPr>
            <a:spLocks noGrp="1"/>
          </p:cNvSpPr>
          <p:nvPr>
            <p:ph idx="1"/>
          </p:nvPr>
        </p:nvSpPr>
        <p:spPr/>
        <p:txBody>
          <a:bodyPr/>
          <a:lstStyle/>
          <a:p>
            <a:pPr>
              <a:defRPr sz="1400" i="1">
                <a:solidFill>
                  <a:srgbClr val="555555"/>
                </a:solidFill>
              </a:defRPr>
            </a:pPr>
            <a:r>
              <a:t>Start with .zip for simplicity. Use container images when dependencies exceed the size limit.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API Gateway and Lambda</a:t>
            </a:r>
          </a:p>
        </p:txBody>
      </p:sp>
      <p:sp>
        <p:nvSpPr>
          <p:cNvPr id="3" name="Text Placeholder 2"/>
          <p:cNvSpPr>
            <a:spLocks noGrp="1"/>
          </p:cNvSpPr>
          <p:nvPr>
            <p:ph type="body" idx="1"/>
          </p:nvPr>
        </p:nvSpPr>
        <p:spPr/>
        <p:txBody>
          <a:bodyPr/>
          <a:lstStyle/>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Building a serverless REST API</a:t>
            </a:r>
          </a:p>
        </p:txBody>
      </p:sp>
      <p:sp>
        <p:nvSpPr>
          <p:cNvPr id="4" name="Rounded Rectangle 3"/>
          <p:cNvSpPr/>
          <p:nvPr/>
        </p:nvSpPr>
        <p:spPr>
          <a:xfrm>
            <a:off x="457200" y="1097280"/>
            <a:ext cx="8229600" cy="457200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CDD6F4"/>
                </a:solidFill>
                <a:latin typeface="Courier New"/>
              </a:defRPr>
            </a:pPr>
            <a:r>
              <a:t>Client --&gt; API Gateway --&gt; Lambda --&gt; DynamoDB</a:t>
            </a:r>
            <a:br/>
            <a:r>
              <a:t>                                 --&gt; CloudWatch Logs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Think about it: serverless trade-offs</a:t>
            </a:r>
          </a:p>
        </p:txBody>
      </p:sp>
      <p:sp>
        <p:nvSpPr>
          <p:cNvPr id="3" name="Content Placeholder 2"/>
          <p:cNvSpPr>
            <a:spLocks noGrp="1"/>
          </p:cNvSpPr>
          <p:nvPr>
            <p:ph idx="1"/>
          </p:nvPr>
        </p:nvSpPr>
        <p:spPr/>
        <p:txBody>
          <a:bodyPr/>
          <a:lstStyle/>
          <a:p>
            <a:pPr>
              <a:defRPr sz="1600"/>
            </a:pPr>
            <a:r>
              <a:t>Your team is deciding between EC2 with Auto Scaling and Lambda for a new REST API that receives 1,000 requests per second during business hours and near zero at night.</a:t>
            </a:r>
          </a:p>
          <a:p>
            <a:pPr>
              <a:defRPr sz="1600"/>
            </a:pPr>
            <a:r>
              <a:t>What are the trade-offs of each approach?</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takeaways</a:t>
            </a:r>
          </a:p>
        </p:txBody>
      </p:sp>
      <p:sp>
        <p:nvSpPr>
          <p:cNvPr id="3" name="Content Placeholder 2"/>
          <p:cNvSpPr>
            <a:spLocks noGrp="1"/>
          </p:cNvSpPr>
          <p:nvPr>
            <p:ph idx="1"/>
          </p:nvPr>
        </p:nvSpPr>
        <p:spPr/>
        <p:txBody>
          <a:bodyPr/>
          <a:lstStyle/>
          <a:p>
            <a:pPr>
              <a:defRPr sz="1800"/>
            </a:pPr>
            <a:r>
              <a:t>Lambda runs code in response to events with no servers to manage, scaling automatically and charging only for actual compute time.</a:t>
            </a:r>
          </a:p>
          <a:p>
            <a:pPr>
              <a:defRPr sz="1800"/>
            </a:pPr>
            <a:r>
              <a:t>Every function needs an IAM execution role following least privilege, granting only the specific actions on specific resources the function needs.</a:t>
            </a:r>
          </a:p>
          <a:p>
            <a:pPr>
              <a:defRPr sz="1800"/>
            </a:pPr>
            <a:r>
              <a:t>Cold starts add latency to new execution environments; mitigate with small packages, init outside the handler, and provisioned concurrency for latency-sensitive workloads.</a:t>
            </a:r>
          </a:p>
          <a:p>
            <a:pPr>
              <a:defRPr sz="1800"/>
            </a:pPr>
            <a:r>
              <a:t>Lambda integrates via push-based triggers (S3, SNS, API Gateway) and poll-based event source mappings (SQS, DynamoDB Streams).</a:t>
            </a:r>
          </a:p>
          <a:p>
            <a:pPr>
              <a:defRPr sz="1800"/>
            </a:pPr>
            <a:r>
              <a:t>API Gateway + Lambda + DynamoDB creates a fully serverless REST API with no infrastructure to provision and pay-per-request pricing.</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Lab preview: building serverless applications</a:t>
            </a:r>
          </a:p>
        </p:txBody>
      </p:sp>
      <p:sp>
        <p:nvSpPr>
          <p:cNvPr id="3" name="Content Placeholder 2"/>
          <p:cNvSpPr>
            <a:spLocks noGrp="1"/>
          </p:cNvSpPr>
          <p:nvPr>
            <p:ph idx="1"/>
          </p:nvPr>
        </p:nvSpPr>
        <p:spPr/>
        <p:txBody>
          <a:bodyPr/>
          <a:lstStyle/>
          <a:p>
            <a:pPr>
              <a:defRPr sz="1600"/>
            </a:pPr>
            <a:r>
              <a:t>Objective: Create Lambda functions triggered by API Gateway, S3, and SQS; build a serverless API with DynamoDB backend</a:t>
            </a:r>
          </a:p>
          <a:p>
            <a:pPr>
              <a:defRPr sz="1600"/>
            </a:pPr>
            <a:r>
              <a:t>Key services: AWS Lambda, API Gateway, DynamoDB, S3, SQS, IAM</a:t>
            </a:r>
          </a:p>
          <a:p>
            <a:pPr>
              <a:defRPr sz="1600"/>
            </a:pPr>
            <a:r>
              <a:t>Duration: 60 minutes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Questions?</a:t>
            </a:r>
          </a:p>
        </p:txBody>
      </p:sp>
      <p:sp>
        <p:nvSpPr>
          <p:cNvPr id="3" name="Content Placeholder 2"/>
          <p:cNvSpPr>
            <a:spLocks noGrp="1"/>
          </p:cNvSpPr>
          <p:nvPr>
            <p:ph idx="1"/>
          </p:nvPr>
        </p:nvSpPr>
        <p:spPr/>
        <p:txBody>
          <a:bodyPr/>
          <a:lstStyle/>
          <a:p>
            <a:pPr>
              <a:defRPr sz="1600"/>
            </a:pPr>
            <a:r>
              <a:t>Review `modules/09-serverless-lambda/resources.md` for further reading.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