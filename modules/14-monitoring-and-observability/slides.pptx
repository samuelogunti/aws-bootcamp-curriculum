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Welcome to Module 14. This module teaches students how to collect, analyze, and act on operational data from the infrastructure they built in previous modules. Breakdown: 10 min three pillars, 15 min CloudWatch metrics, 10 min alarms, 15 min CloudWatch Logs, 10 min X-Ray, 10 min golden signals and dashboards, 10 min alerting best practices, 5 min wrap-up.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This section takes about 10 minutes. Use the car analogy: metrics are dashboard gauges, logs are the mechanic's diagnostic report, traces are GPS tracking a delivery route.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This section takes about 15 minutes. Show a real CloudWatch dashboard if possible. Walk through each widget.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Expected answer: Averages are dominated by the majority of fast requests. If 99% of requests take 50ms and 1% take 5 seconds, the average is ~100ms but 1% of users have a terrible experience. Alert on p95 or p99 latency to catch tail latency issues. This is why the four golden signals recommend percentiles for latency.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This section takes about 10 minutes. Cover the three alarm types and alarm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This section takes about 15 minutes. Pause after Logs Insights for a hands-on exercise. Give students a sample query to modify.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Answer: Set CloudWatch Logs retention to 30 days for operational troubleshooting. Configure a subscription filter to stream logs to S3 for long-term retention (1 year). S3 Standard-IA or Glacier is much cheaper than CloudWatch Logs storage for data you rarely query. Use Athena for ad-hoc queries on the archived logs.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This section takes about 10 minutes. Show the trace diagram to illustrate how a request flows through multiple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This section takes about 5 minutes. These are the minimum metrics for any user-facing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Expected answer: Latency: Lambda Duration p95/p99 and API Gateway latency. Traffic: API Gateway RequestCount. Errors: Lambda Errors count and API Gateway 5XX count. Saturation: Lambda ConcurrentExecutions (vs. account limit), DynamoDB ConsumedReadCapacityUnits. Also include an alarm status widget at the top for at-a-glance health.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The lab has 3 guided steps and 3 semi-guided steps. Prepare a Lambda function that occasionally throws errors so students have real data to query. Remind students to set log retention policies to avoid ongoing charges.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Take 5-10 minutes for questions. Common questions: "CloudWatch Logs vs. CloudTrail?" (Logs stores app-generated data; CloudTrail records AWS API calls.) "Do I need X-Ray if I have metrics and logs?" (X-Ray is essential for multi-service architectures where you need to trace a request across boundaries.)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14: Monitoring and Observability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Phase 4: Production Readiness</a:t>
            </a:r>
          </a:p>
          <a:p>
            <a:pPr>
              <a:defRPr sz="1600"/>
            </a:pPr>
            <a:r>
              <a:t>Estimated lecture time: 75 to 90 minutes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By the end of this module, you will be able to:</a:t>
            </a:r>
          </a:p>
          <a:p>
            <a:pPr>
              <a:defRPr sz="1800"/>
            </a:pPr>
            <a:r>
              <a:t>Analyze the three pillars of observability (metrics, logs, traces)</a:t>
            </a:r>
          </a:p>
          <a:p>
            <a:pPr>
              <a:defRPr sz="1800"/>
            </a:pPr>
            <a:r>
              <a:t>Assess CloudWatch metrics and recommend configurations for EC2, Lambda, ECS, RDS, ALB</a:t>
            </a:r>
          </a:p>
          <a:p>
            <a:pPr>
              <a:defRPr sz="1800"/>
            </a:pPr>
            <a:r>
              <a:t>Evaluate CloudWatch alarm types (static, anomaly detection, composite)</a:t>
            </a:r>
          </a:p>
          <a:p>
            <a:pPr>
              <a:defRPr sz="1800"/>
            </a:pPr>
            <a:r>
              <a:t>Analyze logs using CloudWatch Logs Insights queries</a:t>
            </a:r>
          </a:p>
          <a:p>
            <a:pPr>
              <a:defRPr sz="1800"/>
            </a:pPr>
            <a:r>
              <a:t>Assess X-Ray traces to identify bottlenecks across multi-service architectures</a:t>
            </a:r>
          </a:p>
          <a:p>
            <a:pPr>
              <a:defRPr sz="1800"/>
            </a:pPr>
            <a:r>
              <a:t>Recommend dashboard designs surfacing the four golden signals</a:t>
            </a:r>
          </a:p>
          <a:p>
            <a:pPr>
              <a:defRPr sz="1800"/>
            </a:pPr>
            <a:r>
              <a:t>Evaluate alerting strategies that minimize alert fatigue</a:t>
            </a:r>
          </a:p>
          <a:p>
            <a:pPr>
              <a:defRPr sz="1800"/>
            </a:pPr>
            <a:r>
              <a:t>Optimize logging costs with retention policies and structured logging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Prerequisites and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Prerequisites: Modules 04 (EC2), 07 (ALB), 09 (Lambda), 10 (ECS), 13 (Security)</a:t>
            </a:r>
          </a:p>
          <a:p>
            <a:pPr>
              <a:defRPr sz="1600"/>
            </a:pPr>
            <a:r>
              <a:t>Agenda:</a:t>
            </a:r>
          </a:p>
          <a:p>
            <a:pPr>
              <a:defRPr sz="1800"/>
            </a:pPr>
            <a:r>
              <a:t>The three pillars of observability</a:t>
            </a:r>
          </a:p>
          <a:p>
            <a:pPr>
              <a:defRPr sz="1800"/>
            </a:pPr>
            <a:r>
              <a:t>Amazon CloudWatch metrics (built-in and custom)</a:t>
            </a:r>
          </a:p>
          <a:p>
            <a:pPr>
              <a:defRPr sz="1800"/>
            </a:pPr>
            <a:r>
              <a:t>CloudWatch alarms</a:t>
            </a:r>
          </a:p>
          <a:p>
            <a:pPr>
              <a:defRPr sz="1800"/>
            </a:pPr>
            <a:r>
              <a:t>CloudWatch Logs and Logs Insights</a:t>
            </a:r>
          </a:p>
          <a:p>
            <a:pPr>
              <a:defRPr sz="1800"/>
            </a:pPr>
            <a:r>
              <a:t>AWS X-Ray: distributed tracing</a:t>
            </a:r>
          </a:p>
          <a:p>
            <a:pPr>
              <a:defRPr sz="1800"/>
            </a:pPr>
            <a:r>
              <a:t>The four golden signals</a:t>
            </a:r>
          </a:p>
          <a:p>
            <a:pPr>
              <a:defRPr sz="1800"/>
            </a:pPr>
            <a:r>
              <a:t>CloudWatch dashboards</a:t>
            </a:r>
          </a:p>
          <a:p>
            <a:pPr>
              <a:defRPr sz="1800"/>
            </a:pPr>
            <a:r>
              <a:t>Alerting best practices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three pillars of observability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Metrics, logs, and traces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Pillar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What It Captures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Question It Answers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AWS Service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Logs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Timestamped records of discrete events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"What happened, and in what order?"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CloudWatch Logs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Traces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End-to-end request paths across 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"Where is the bottleneck?"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AWS X-Ray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Metrics, logs, and traces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Metrics tell you something is wrong (error rate spiked)</a:t>
            </a:r>
          </a:p>
          <a:p>
            <a:pPr>
              <a:defRPr sz="1800"/>
            </a:pPr>
            <a:r>
              <a:t>Logs tell you what went wrong (a specific exception)</a:t>
            </a:r>
          </a:p>
          <a:p>
            <a:pPr>
              <a:defRPr sz="1800"/>
            </a:pPr>
            <a:r>
              <a:t>Traces tell you where it went wrong (which service is slow)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Amazon CloudWatch metrics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Built-in metrics by service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Service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Key Metrics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Default Period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Lambda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`Invocations`, `Duration`, `Errors`, `Throttles`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 min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ALB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`RequestCount`, `TargetResponseTime`, `HTTPCode_5XX`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 min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RDS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`CPUUtilization`, `FreeableMemory`, `DatabaseConnections`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 min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`CPUUtilization`, `MemoryUtilization`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 min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Custom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8229600" cy="45720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CDD6F4"/>
                </a:solidFill>
                <a:latin typeface="Courier New"/>
              </a:defRPr>
            </a:pPr>
            <a:r>
              <a:t>aws cloudwatch put-metric-data \</a:t>
            </a:r>
            <a:br/>
            <a:r>
              <a:t>  --namespace "BootcampApp" \</a:t>
            </a:r>
            <a:br/>
            <a:r>
              <a:t>  --metric-name "OrdersProcessed" \</a:t>
            </a:r>
            <a:br/>
            <a:r>
              <a:t>  --dimensions "Environment=production,Service=order-api" \</a:t>
            </a:r>
            <a:br/>
            <a:r>
              <a:t>  --value 42 \</a:t>
            </a:r>
            <a:br/>
            <a:r>
              <a:t>  --unit Count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Discussion: averages vs. percentiles for latency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Your API has an average latency of 100ms. A customer reports that the API is "sometimes very slow." You check the p99 latency and find it is 5 seconds.</a:t>
            </a:r>
          </a:p>
          <a:p>
            <a:pPr>
              <a:defRPr sz="1600"/>
            </a:pPr>
            <a:r>
              <a:t>Why does the average hide this problem? What metric should you alert on?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CloudWatch alarms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Alarm types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How It Works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Best For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Anomaly detection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ML-based baseline; triggers on deviation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Metrics with time-of-day patterns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Composite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Combines alarms with AND/OR/NOT logic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Reducing noise (require multiple conditions)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Alarm actions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Use Case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Auto Scaling policy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Scale out EC2 or ECS tasks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Systems Manager Automation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Auto-remediate (restart service, clear cache)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EC2 actions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Stop, terminate, or reboot an instance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Alarm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i="1">
                <a:solidFill>
                  <a:srgbClr val="555555"/>
                </a:solidFill>
              </a:defRPr>
            </a:pPr>
            <a:r>
              <a:t>Alert on symptoms (high error rate, high latency), not causes (high CPU). High CPU during a batch job is expected.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CloudWatch Logs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Structured logging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8229600" cy="45720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CDD6F4"/>
                </a:solidFill>
                <a:latin typeface="Courier New"/>
              </a:defRPr>
            </a:pPr>
            <a:r>
              <a:t>2026-04-15 10:30:45 ERROR Failed to process order 12345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CloudWatch Logs Insights queries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8229600" cy="45720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CDD6F4"/>
                </a:solidFill>
                <a:latin typeface="Courier New"/>
              </a:defRPr>
            </a:pPr>
            <a:r>
              <a:t>fields @timestamp, @message</a:t>
            </a:r>
            <a:br/>
            <a:r>
              <a:t>| filter @message like /ERROR/</a:t>
            </a:r>
            <a:br/>
            <a:r>
              <a:t>| stats count(*) as errorCount by @message</a:t>
            </a:r>
            <a:br/>
            <a:r>
              <a:t>| sort errorCount desc</a:t>
            </a:r>
            <a:br/>
            <a:r>
              <a:t>| limit 10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Log retention and cost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Retention Period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Use Case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30 days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Production app logs (most troubleshooting is within 30 days)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90 to 365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Compliance or audit logs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Never expire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Consider archiving to S3 instead for lower cost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 retention and cost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i="1">
                <a:solidFill>
                  <a:srgbClr val="555555"/>
                </a:solidFill>
              </a:defRPr>
            </a:pPr>
            <a:r>
              <a:t>For long-term retention, stream logs to S3. S3 storage is significantly cheaper than CloudWatch Logs storage.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check: which log retention?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Your Lambda function processes payment transactions. Regulations require you to retain transaction logs for one year. The function generates 10 GB of logs per month.</a:t>
            </a:r>
          </a:p>
          <a:p>
            <a:pPr>
              <a:defRPr sz="1600"/>
            </a:pPr>
            <a:r>
              <a:t>What retention strategy minimizes cost while meeting compliance?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X-Ray: distributed tracing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How X-Ray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8229600" cy="45720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CDD6F4"/>
                </a:solidFill>
                <a:latin typeface="Courier New"/>
              </a:defRPr>
            </a:pPr>
            <a:r>
              <a:t>Client request</a:t>
            </a:r>
            <a:br/>
            <a:r>
              <a:t>    |</a:t>
            </a:r>
            <a:br/>
            <a:r>
              <a:t>    v</a:t>
            </a:r>
            <a:br/>
            <a:r>
              <a:t>API Gateway (segment: 15ms)</a:t>
            </a:r>
            <a:br/>
            <a:r>
              <a:t>    |</a:t>
            </a:r>
            <a:br/>
            <a:r>
              <a:t>    v</a:t>
            </a:r>
            <a:br/>
            <a:r>
              <a:t>Lambda function (segment: 200ms)</a:t>
            </a:r>
            <a:br/>
            <a:r>
              <a:t>    |</a:t>
            </a:r>
            <a:br/>
            <a:r>
              <a:t>    +--&gt; DynamoDB GetItem (subsegment: 8ms)</a:t>
            </a:r>
            <a:br/>
            <a:r>
              <a:t>    +--&gt; S3 PutObject (subsegment: 45ms)</a:t>
            </a:r>
            <a:br/>
            <a:r>
              <a:t>    +--&gt; SNS Publish (subsegment: 12ms)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Enabling X-Ray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Service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How to Enable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What It Traces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API Gateway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Enable tracing on the stage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Request routing, integration latency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Add X-Ray daemon as a sidecar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Application requests, SDK calls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ALB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Automatically propagates trace headers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Request routing to targets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Enabling X-Ray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i="1">
                <a:solidFill>
                  <a:srgbClr val="555555"/>
                </a:solidFill>
              </a:defRPr>
            </a:pPr>
            <a:r>
              <a:t>For Lambda, enabling active tracing is a single configuration change. No code changes needed for AWS SDK calls.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four golden signals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Latency, traffic, errors, saturation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Signal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What It Measures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CloudWatch Examples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Traffic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Volume of requests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ALB `RequestCount`, Lambda `Invocations`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Errors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Rate of failed requests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ALB `HTTPCode_5XX`, Lambda `Errors`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Saturation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How full a resource is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EC2 `CPUUtilization`, RDS `DatabaseConnections`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Latency, traffic, errors, saturation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Check signals in order: errors, latency, traffic, saturation</a:t>
            </a:r>
          </a:p>
          <a:p>
            <a:pPr>
              <a:defRPr sz="1800"/>
            </a:pPr>
            <a:r>
              <a:t>This systematic approach leads to faster diagnosis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Discussion: designing a monitoring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You operate a serverless API (API Gateway, Lambda, DynamoDB) serving 1,000 requests per minute. You need a CloudWatch dashboard for the operations team.</a:t>
            </a:r>
          </a:p>
          <a:p>
            <a:pPr>
              <a:defRPr sz="1600"/>
            </a:pPr>
            <a:r>
              <a:t>Which widgets would you include to cover all four golden signals?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Alerting best practices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Principle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Every alert must be actionable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If no action possible, remove the alert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Use severity levels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Critical (page), Warning (ticket), Info (dashboard)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Avoid alert fatigue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Review frequency monthly; tune or remove noisy alerts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Include context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What is wrong, which resource, dashboard link, runbook link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Alerting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i="1">
                <a:solidFill>
                  <a:srgbClr val="555555"/>
                </a:solidFill>
              </a:defRPr>
            </a:pPr>
            <a:r>
              <a:t>Start with 5 high-signal alerts the team trusts, not 50 alerts everyone ignores.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Observability rests on three pillars: metrics (is it healthy?), logs (what happened?), traces (where is the bottleneck?). Use all three together.</a:t>
            </a:r>
          </a:p>
          <a:p>
            <a:pPr>
              <a:defRPr sz="1800"/>
            </a:pPr>
            <a:r>
              <a:t>CloudWatch provides built-in metrics for most services; publish custom metrics for app-specific measurements; use percentiles, not averages, for latency</a:t>
            </a:r>
          </a:p>
          <a:p>
            <a:pPr>
              <a:defRPr sz="1800"/>
            </a:pPr>
            <a:r>
              <a:t>Configure alarms on symptoms (error rate, latency), not causes (CPU); use composite alarms to reduce noise</a:t>
            </a:r>
          </a:p>
          <a:p>
            <a:pPr>
              <a:defRPr sz="1800"/>
            </a:pPr>
            <a:r>
              <a:t>Use structured JSON logging so Logs Insights can parse, filter, and aggregate efficiently</a:t>
            </a:r>
          </a:p>
          <a:p>
            <a:pPr>
              <a:defRPr sz="1800"/>
            </a:pPr>
            <a:r>
              <a:t>X-Ray traces requests across service boundaries; enable it on Lambda, API Gateway, and ECS for multi-service architectures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preview: monitoring a serverless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What you will do:</a:t>
            </a:r>
          </a:p>
          <a:p>
            <a:pPr>
              <a:defRPr sz="1800"/>
            </a:pPr>
            <a:r>
              <a:t>Deploy a Lambda function with structured JSON logging</a:t>
            </a:r>
          </a:p>
          <a:p>
            <a:pPr>
              <a:defRPr sz="1800"/>
            </a:pPr>
            <a:r>
              <a:t>Create CloudWatch alarms on error rate and latency</a:t>
            </a:r>
          </a:p>
          <a:p>
            <a:pPr>
              <a:defRPr sz="1800"/>
            </a:pPr>
            <a:r>
              <a:t>Write Logs Insights queries to find error patterns</a:t>
            </a:r>
          </a:p>
          <a:p>
            <a:pPr>
              <a:defRPr sz="1800"/>
            </a:pPr>
            <a:r>
              <a:t>Enable X-Ray tracing and analyze traces</a:t>
            </a:r>
          </a:p>
          <a:p>
            <a:pPr>
              <a:defRPr sz="1800"/>
            </a:pPr>
            <a:r>
              <a:t>Build a CloudWatch dashboard with the four golden signals</a:t>
            </a:r>
          </a:p>
          <a:p>
            <a:pPr>
              <a:defRPr sz="1600"/>
            </a:pPr>
            <a:r>
              <a:t>Duration: 60 minutes</a:t>
            </a:r>
          </a:p>
          <a:p>
            <a:pPr>
              <a:defRPr sz="1600"/>
            </a:pPr>
            <a:r>
              <a:t>Key services: CloudWatch, CloudWatch Logs, X-Ray, Lambda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Review `modules/14-monitoring-and-observability/resources.md` for further reading.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