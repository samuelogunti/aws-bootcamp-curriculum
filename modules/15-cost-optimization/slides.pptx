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Welcome to Module 15. Start by asking students to estimate how much their bootcamp lab resources would cost if left running for a month. Use the AWS Pricing Calculator to show the actual cost. Breakdown: 10 min pricing models, 10 min Cost Explorer, 10 min Budgets, 15 min right-sizing, 15 min Savings Plans/RIs, 10 min cost traps, 10 min storage optimization, 5 min wrap-up.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This section takes about 10 minutes. Emphasize that data transfer is the most overlooked cost driver.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This section takes about 10 minutes. Show Cost Explorer's interface and how to filter by service, tag, and time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Expected answer: Filter by S3 service, then by tag (which project?), then by usage type (storage vs. requests vs. data transfer). Check if a new data pipeline is writing large volumes. Check if cross-Region replication was enabled. Check if a public bucket is being scraped. Data transfer costs often indicate unexpected external access or cross-Region traffic.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This section takes about 5 minutes. Emphasize that budget alerts are reactive, not preventive.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This section takes about 10 minutes. Emphasize: right-size before committing to discounts.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This section takes about 15 minutes. Use the gym membership analogy: Savings Plans work at any gym in the chain (flexible); RIs are for a specific gym location (cheaper but less flexible).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Answer: EC2 Instance Savings Plan for the m5.large instances (highest discount for a stable, known instance family). Compute Savings Plan for Lambda (flexible, applies to variable serverless usage). Start with a conservative commitment covering 70% of baseline EC2 usage and increase over time. Do not use RIs for Lambda (not supported).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This section takes about 10 minutes. Pause for a group exercise: give each team a mock Cost Explorer report and ask them to identify the top three optimization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Expected answer: 1) Downsize EC2 first (right-size before committing). 2) Buy Savings Plans based on the optimized instance sizes. 3) Delete old snapshots (lowest impact, do anytime). The key insight is that committing to discounts before right-sizing locks in waste. Always right-size first.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This is the first open-ended lab in the curriculum. Students receive goals and constraints, not step-by-step instructions. Deliverables include a cost optimization report, budget setup, and tagging audit. Encourage students to use the Pricing Calculator to estimate monthly costs.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Take 5-10 minutes for questions. Common questions: "Is the Free Tier really free?" (Yes, within limits. Exceeding limits incurs standard charges. Common gotchas: running instances 24/7, creating resources in multiple Regions, forgetting cleanup.) "How much can I realistically save?" (20-40% for most organizations through right-sizing, commitments, and waste elimination.)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15: Cost Optimization</a:t>
            </a:r>
          </a:p>
        </p:txBody>
      </p:sp>
      <p:sp>
        <p:nvSpPr>
          <p:cNvPr id="3" name="Content Placeholder 2"/>
          <p:cNvSpPr>
            <a:spLocks noGrp="1"/>
          </p:cNvSpPr>
          <p:nvPr>
            <p:ph idx="1"/>
          </p:nvPr>
        </p:nvSpPr>
        <p:spPr/>
        <p:txBody>
          <a:bodyPr/>
          <a:lstStyle/>
          <a:p>
            <a:pPr>
              <a:defRPr sz="1600"/>
            </a:pPr>
            <a:r>
              <a:t>Phase 4: Production Readiness</a:t>
            </a:r>
          </a:p>
          <a:p>
            <a:pPr>
              <a:defRPr sz="1600"/>
            </a:pPr>
            <a:r>
              <a:t>Estimated lecture time: 75 to 90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Learning objectives</a:t>
            </a:r>
          </a:p>
        </p:txBody>
      </p:sp>
      <p:sp>
        <p:nvSpPr>
          <p:cNvPr id="3" name="Content Placeholder 2"/>
          <p:cNvSpPr>
            <a:spLocks noGrp="1"/>
          </p:cNvSpPr>
          <p:nvPr>
            <p:ph idx="1"/>
          </p:nvPr>
        </p:nvSpPr>
        <p:spPr/>
        <p:txBody>
          <a:bodyPr/>
          <a:lstStyle/>
          <a:p>
            <a:pPr>
              <a:defRPr sz="1600"/>
            </a:pPr>
            <a:r>
              <a:t>By the end of this module, you will be able to:</a:t>
            </a:r>
          </a:p>
          <a:p>
            <a:pPr>
              <a:defRPr sz="1800"/>
            </a:pPr>
            <a:r>
              <a:t>Analyze AWS pricing models and evaluate cost-effectiveness for given workloads</a:t>
            </a:r>
          </a:p>
          <a:p>
            <a:pPr>
              <a:defRPr sz="1800"/>
            </a:pPr>
            <a:r>
              <a:t>Assess spending using Cost Explorer to identify trends and anomalies</a:t>
            </a:r>
          </a:p>
          <a:p>
            <a:pPr>
              <a:defRPr sz="1800"/>
            </a:pPr>
            <a:r>
              <a:t>Recommend a tagging strategy for cost allocation</a:t>
            </a:r>
          </a:p>
          <a:p>
            <a:pPr>
              <a:defRPr sz="1800"/>
            </a:pPr>
            <a:r>
              <a:t>Evaluate right-sizing recommendations from Compute Optimizer</a:t>
            </a:r>
          </a:p>
          <a:p>
            <a:pPr>
              <a:defRPr sz="1800"/>
            </a:pPr>
            <a:r>
              <a:t>Analyze common cost traps and recommend remediation</a:t>
            </a:r>
          </a:p>
          <a:p>
            <a:pPr>
              <a:defRPr sz="1800"/>
            </a:pPr>
            <a:r>
              <a:t>Assess trade-offs between Savings Plans and Reserved Instances</a:t>
            </a:r>
          </a:p>
          <a:p>
            <a:pPr>
              <a:defRPr sz="1800"/>
            </a:pPr>
            <a:r>
              <a:t>Optimize storage costs with lifecycle policies and class transitions</a:t>
            </a:r>
          </a:p>
          <a:p>
            <a:pPr>
              <a:defRPr sz="1800"/>
            </a:pPr>
            <a:r>
              <a:t>Justify budget alert configurations for early warning of overruns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Prerequisites and agenda</a:t>
            </a:r>
          </a:p>
        </p:txBody>
      </p:sp>
      <p:sp>
        <p:nvSpPr>
          <p:cNvPr id="3" name="Content Placeholder 2"/>
          <p:cNvSpPr>
            <a:spLocks noGrp="1"/>
          </p:cNvSpPr>
          <p:nvPr>
            <p:ph idx="1"/>
          </p:nvPr>
        </p:nvSpPr>
        <p:spPr/>
        <p:txBody>
          <a:bodyPr/>
          <a:lstStyle/>
          <a:p>
            <a:pPr>
              <a:defRPr sz="1600"/>
            </a:pPr>
            <a:r>
              <a:t>Prerequisites: Modules 01 (Free Tier), 04 (EC2), 05 (S3), 06 (Databases), 09 (Lambda), 14 (Monitoring)</a:t>
            </a:r>
          </a:p>
          <a:p>
            <a:pPr>
              <a:defRPr sz="1600"/>
            </a:pPr>
            <a:r>
              <a:t>Agenda:</a:t>
            </a:r>
          </a:p>
          <a:p>
            <a:pPr>
              <a:defRPr sz="1800"/>
            </a:pPr>
            <a:r>
              <a:t>How AWS pricing works</a:t>
            </a:r>
          </a:p>
          <a:p>
            <a:pPr>
              <a:defRPr sz="1800"/>
            </a:pPr>
            <a:r>
              <a:t>AWS Cost Explorer</a:t>
            </a:r>
          </a:p>
          <a:p>
            <a:pPr>
              <a:defRPr sz="1800"/>
            </a:pPr>
            <a:r>
              <a:t>AWS Budgets</a:t>
            </a:r>
          </a:p>
          <a:p>
            <a:pPr>
              <a:defRPr sz="1800"/>
            </a:pPr>
            <a:r>
              <a:t>Right-sizing with Compute Optimizer</a:t>
            </a:r>
          </a:p>
          <a:p>
            <a:pPr>
              <a:defRPr sz="1800"/>
            </a:pPr>
            <a:r>
              <a:t>Savings Plans and Reserved Instances</a:t>
            </a:r>
          </a:p>
          <a:p>
            <a:pPr>
              <a:defRPr sz="1800"/>
            </a:pPr>
            <a:r>
              <a:t>Common cost traps and remediation</a:t>
            </a:r>
          </a:p>
          <a:p>
            <a:pPr>
              <a:defRPr sz="1800"/>
            </a:pPr>
            <a:r>
              <a:t>Storage cost optimization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AWS pricing works</a:t>
            </a:r>
          </a:p>
        </p:txBody>
      </p:sp>
      <p:sp>
        <p:nvSpPr>
          <p:cNvPr id="3" name="Text Placeholder 2"/>
          <p:cNvSpPr>
            <a:spLocks noGrp="1"/>
          </p:cNvSpPr>
          <p:nvPr>
            <p:ph type="body" idx="1"/>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Common pricing dimensions</a:t>
            </a:r>
          </a:p>
        </p:txBody>
      </p:sp>
      <p:graphicFrame>
        <p:nvGraphicFramePr>
          <p:cNvPr id="4" name="Table 3"/>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pPr>
                        <a:defRPr sz="1400" b="1">
                          <a:solidFill>
                            <a:srgbClr val="FFFFFF"/>
                          </a:solidFill>
                        </a:defRPr>
                      </a:pPr>
                      <a:r>
                        <a:t>Dimension</a:t>
                      </a:r>
                    </a:p>
                  </a:txBody>
                  <a:tcPr>
                    <a:solidFill>
                      <a:srgbClr val="232F3E"/>
                    </a:solidFill>
                  </a:tcPr>
                </a:tc>
                <a:tc>
                  <a:txBody>
                    <a:bodyPr/>
                    <a:lstStyle/>
                    <a:p>
                      <a:pPr>
                        <a:defRPr sz="1400" b="1">
                          <a:solidFill>
                            <a:srgbClr val="FFFFFF"/>
                          </a:solidFill>
                        </a:defRPr>
                      </a:pPr>
                      <a:r>
                        <a:t>Services</a:t>
                      </a:r>
                    </a:p>
                  </a:txBody>
                  <a:tcPr>
                    <a:solidFill>
                      <a:srgbClr val="232F3E"/>
                    </a:solidFill>
                  </a:tcPr>
                </a:tc>
                <a:tc>
                  <a:txBody>
                    <a:bodyPr/>
                    <a:lstStyle/>
                    <a:p>
                      <a:pPr>
                        <a:defRPr sz="1400" b="1">
                          <a:solidFill>
                            <a:srgbClr val="FFFFFF"/>
                          </a:solidFill>
                        </a:defRPr>
                      </a:pPr>
                      <a:r>
                        <a:t>Example</a:t>
                      </a:r>
                    </a:p>
                  </a:txBody>
                  <a:tcPr>
                    <a:solidFill>
                      <a:srgbClr val="232F3E"/>
                    </a:solidFill>
                  </a:tcPr>
                </a:tc>
              </a:tr>
              <a:tr h="365760">
                <a:tc>
                  <a:txBody>
                    <a:bodyPr/>
                    <a:lstStyle/>
                    <a:p>
                      <a:pPr>
                        <a:defRPr sz="1200"/>
                      </a:pPr>
                      <a:r>
                        <a:t>Storage volume</a:t>
                      </a:r>
                    </a:p>
                  </a:txBody>
                  <a:tcPr>
                    <a:solidFill>
                      <a:srgbClr val="F2F3F4"/>
                    </a:solidFill>
                  </a:tcPr>
                </a:tc>
                <a:tc>
                  <a:txBody>
                    <a:bodyPr/>
                    <a:lstStyle/>
                    <a:p>
                      <a:pPr>
                        <a:defRPr sz="1200"/>
                      </a:pPr>
                      <a:r>
                        <a:t>S3, EBS, RDS, DynamoDB</a:t>
                      </a:r>
                    </a:p>
                  </a:txBody>
                  <a:tcPr>
                    <a:solidFill>
                      <a:srgbClr val="F2F3F4"/>
                    </a:solidFill>
                  </a:tcPr>
                </a:tc>
                <a:tc>
                  <a:txBody>
                    <a:bodyPr/>
                    <a:lstStyle/>
                    <a:p>
                      <a:pPr>
                        <a:defRPr sz="1200"/>
                      </a:pPr>
                      <a:r>
                        <a:t>Per GB-month</a:t>
                      </a:r>
                    </a:p>
                  </a:txBody>
                  <a:tcPr>
                    <a:solidFill>
                      <a:srgbClr val="F2F3F4"/>
                    </a:solidFill>
                  </a:tcPr>
                </a:tc>
              </a:tr>
              <a:tr h="365760">
                <a:tc>
                  <a:txBody>
                    <a:bodyPr/>
                    <a:lstStyle/>
                    <a:p>
                      <a:pPr>
                        <a:defRPr sz="1200"/>
                      </a:pPr>
                      <a:r>
                        <a:t>Data transfer</a:t>
                      </a:r>
                    </a:p>
                  </a:txBody>
                  <a:tcPr/>
                </a:tc>
                <a:tc>
                  <a:txBody>
                    <a:bodyPr/>
                    <a:lstStyle/>
                    <a:p>
                      <a:pPr>
                        <a:defRPr sz="1200"/>
                      </a:pPr>
                      <a:r>
                        <a:t>All services</a:t>
                      </a:r>
                    </a:p>
                  </a:txBody>
                  <a:tcPr/>
                </a:tc>
                <a:tc>
                  <a:txBody>
                    <a:bodyPr/>
                    <a:lstStyle/>
                    <a:p>
                      <a:pPr>
                        <a:defRPr sz="1200"/>
                      </a:pPr>
                      <a:r>
                        <a:t>Per GB out to internet or across Regions</a:t>
                      </a:r>
                    </a:p>
                  </a:txBody>
                  <a:tcPr/>
                </a:tc>
              </a:tr>
              <a:tr h="365760">
                <a:tc>
                  <a:txBody>
                    <a:bodyPr/>
                    <a:lstStyle/>
                    <a:p>
                      <a:pPr>
                        <a:defRPr sz="1200"/>
                      </a:pPr>
                      <a:r>
                        <a:t>API requests</a:t>
                      </a:r>
                    </a:p>
                  </a:txBody>
                  <a:tcPr>
                    <a:solidFill>
                      <a:srgbClr val="F2F3F4"/>
                    </a:solidFill>
                  </a:tcPr>
                </a:tc>
                <a:tc>
                  <a:txBody>
                    <a:bodyPr/>
                    <a:lstStyle/>
                    <a:p>
                      <a:pPr>
                        <a:defRPr sz="1200"/>
                      </a:pPr>
                      <a:r>
                        <a:t>S3, DynamoDB, API Gateway, KMS</a:t>
                      </a:r>
                    </a:p>
                  </a:txBody>
                  <a:tcPr>
                    <a:solidFill>
                      <a:srgbClr val="F2F3F4"/>
                    </a:solidFill>
                  </a:tcPr>
                </a:tc>
                <a:tc>
                  <a:txBody>
                    <a:bodyPr/>
                    <a:lstStyle/>
                    <a:p>
                      <a:pPr>
                        <a:defRPr sz="1200"/>
                      </a:pPr>
                      <a:r>
                        <a:t>Per 1,000 or 1,000,000 requests</a:t>
                      </a:r>
                    </a:p>
                  </a:txBody>
                  <a:tcPr>
                    <a:solidFill>
                      <a:srgbClr val="F2F3F4"/>
                    </a:solidFill>
                  </a:tcPr>
                </a:tc>
              </a:tr>
              <a:tr h="365760">
                <a:tc>
                  <a:txBody>
                    <a:bodyPr/>
                    <a:lstStyle/>
                    <a:p>
                      <a:pPr>
                        <a:defRPr sz="1200"/>
                      </a:pPr>
                      <a:r>
                        <a:t>Provisioned capacity</a:t>
                      </a:r>
                    </a:p>
                  </a:txBody>
                  <a:tcPr/>
                </a:tc>
                <a:tc>
                  <a:txBody>
                    <a:bodyPr/>
                    <a:lstStyle/>
                    <a:p>
                      <a:pPr>
                        <a:defRPr sz="1200"/>
                      </a:pPr>
                      <a:r>
                        <a:t>RDS, DynamoDB, ElastiCache</a:t>
                      </a:r>
                    </a:p>
                  </a:txBody>
                  <a:tcPr/>
                </a:tc>
                <a:tc>
                  <a:txBody>
                    <a:bodyPr/>
                    <a:lstStyle/>
                    <a:p>
                      <a:pPr>
                        <a:defRPr sz="1200"/>
                      </a:pPr>
                      <a:r>
                        <a:t>Per unit-hour</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Common pricing dimensions</a:t>
            </a:r>
          </a:p>
        </p:txBody>
      </p:sp>
      <p:sp>
        <p:nvSpPr>
          <p:cNvPr id="3" name="Content Placeholder 2"/>
          <p:cNvSpPr>
            <a:spLocks noGrp="1"/>
          </p:cNvSpPr>
          <p:nvPr>
            <p:ph idx="1"/>
          </p:nvPr>
        </p:nvSpPr>
        <p:spPr/>
        <p:txBody>
          <a:bodyPr/>
          <a:lstStyle/>
          <a:p>
            <a:pPr>
              <a:defRPr sz="1400" i="1">
                <a:solidFill>
                  <a:srgbClr val="555555"/>
                </a:solidFill>
              </a:defRPr>
            </a:pPr>
            <a:r>
              <a:t>Data transfer within the same AZ is free. Between AZs costs a small fee. Between Regions or to the internet costs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AWS Cost Explorer</a:t>
            </a:r>
          </a:p>
        </p:txBody>
      </p:sp>
      <p:sp>
        <p:nvSpPr>
          <p:cNvPr id="3" name="Text Placeholder 2"/>
          <p:cNvSpPr>
            <a:spLocks noGrp="1"/>
          </p:cNvSpPr>
          <p:nvPr>
            <p:ph type="body" idx="1"/>
          </p:nvPr>
        </p:nvSpPr>
        <p:spPr/>
        <p:txBody>
          <a:bodyPr/>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Explorer capabilities</a:t>
            </a:r>
          </a:p>
        </p:txBody>
      </p:sp>
      <p:sp>
        <p:nvSpPr>
          <p:cNvPr id="3" name="Content Placeholder 2"/>
          <p:cNvSpPr>
            <a:spLocks noGrp="1"/>
          </p:cNvSpPr>
          <p:nvPr>
            <p:ph idx="1"/>
          </p:nvPr>
        </p:nvSpPr>
        <p:spPr/>
        <p:txBody>
          <a:bodyPr/>
          <a:lstStyle/>
          <a:p>
            <a:pPr>
              <a:defRPr sz="1800"/>
            </a:pPr>
            <a:r>
              <a:t>View spending by service, account, Region, or tag</a:t>
            </a:r>
          </a:p>
          <a:p>
            <a:pPr>
              <a:defRPr sz="1800"/>
            </a:pPr>
            <a:r>
              <a:t>Compare spending across months and identify trends</a:t>
            </a:r>
          </a:p>
          <a:p>
            <a:pPr>
              <a:defRPr sz="1800"/>
            </a:pPr>
            <a:r>
              <a:t>Forecast future spending based on historical patterns</a:t>
            </a:r>
          </a:p>
          <a:p>
            <a:pPr>
              <a:defRPr sz="1800"/>
            </a:pPr>
            <a:r>
              <a:t>Get Savings Plans and Reserved Instance recommendations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Cost allocation tags</a:t>
            </a:r>
          </a:p>
        </p:txBody>
      </p:sp>
      <p:graphicFrame>
        <p:nvGraphicFramePr>
          <p:cNvPr id="4" name="Table 3"/>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pPr>
                        <a:defRPr sz="1400" b="1">
                          <a:solidFill>
                            <a:srgbClr val="FFFFFF"/>
                          </a:solidFill>
                        </a:defRPr>
                      </a:pPr>
                      <a:r>
                        <a:t>Tag Key</a:t>
                      </a:r>
                    </a:p>
                  </a:txBody>
                  <a:tcPr>
                    <a:solidFill>
                      <a:srgbClr val="232F3E"/>
                    </a:solidFill>
                  </a:tcPr>
                </a:tc>
                <a:tc>
                  <a:txBody>
                    <a:bodyPr/>
                    <a:lstStyle/>
                    <a:p>
                      <a:pPr>
                        <a:defRPr sz="1400" b="1">
                          <a:solidFill>
                            <a:srgbClr val="FFFFFF"/>
                          </a:solidFill>
                        </a:defRPr>
                      </a:pPr>
                      <a:r>
                        <a:t>Purpose</a:t>
                      </a:r>
                    </a:p>
                  </a:txBody>
                  <a:tcPr>
                    <a:solidFill>
                      <a:srgbClr val="232F3E"/>
                    </a:solidFill>
                  </a:tcPr>
                </a:tc>
                <a:tc>
                  <a:txBody>
                    <a:bodyPr/>
                    <a:lstStyle/>
                    <a:p>
                      <a:pPr>
                        <a:defRPr sz="1400" b="1">
                          <a:solidFill>
                            <a:srgbClr val="FFFFFF"/>
                          </a:solidFill>
                        </a:defRPr>
                      </a:pPr>
                      <a:r>
                        <a:t>Example Values</a:t>
                      </a:r>
                    </a:p>
                  </a:txBody>
                  <a:tcPr>
                    <a:solidFill>
                      <a:srgbClr val="232F3E"/>
                    </a:solidFill>
                  </a:tcPr>
                </a:tc>
              </a:tr>
              <a:tr h="365760">
                <a:tc>
                  <a:txBody>
                    <a:bodyPr/>
                    <a:lstStyle/>
                    <a:p>
                      <a:pPr>
                        <a:defRPr sz="1200"/>
                      </a:pPr>
                      <a:r>
                        <a:t>`Environment`</a:t>
                      </a:r>
                    </a:p>
                  </a:txBody>
                  <a:tcPr>
                    <a:solidFill>
                      <a:srgbClr val="F2F3F4"/>
                    </a:solidFill>
                  </a:tcPr>
                </a:tc>
                <a:tc>
                  <a:txBody>
                    <a:bodyPr/>
                    <a:lstStyle/>
                    <a:p>
                      <a:pPr>
                        <a:defRPr sz="1200"/>
                      </a:pPr>
                      <a:r>
                        <a:t>Distinguish environments</a:t>
                      </a:r>
                    </a:p>
                  </a:txBody>
                  <a:tcPr>
                    <a:solidFill>
                      <a:srgbClr val="F2F3F4"/>
                    </a:solidFill>
                  </a:tcPr>
                </a:tc>
                <a:tc>
                  <a:txBody>
                    <a:bodyPr/>
                    <a:lstStyle/>
                    <a:p>
                      <a:pPr>
                        <a:defRPr sz="1200"/>
                      </a:pPr>
                      <a:r>
                        <a:t>`production`, `staging`, `dev`</a:t>
                      </a:r>
                    </a:p>
                  </a:txBody>
                  <a:tcPr>
                    <a:solidFill>
                      <a:srgbClr val="F2F3F4"/>
                    </a:solidFill>
                  </a:tcPr>
                </a:tc>
              </a:tr>
              <a:tr h="365760">
                <a:tc>
                  <a:txBody>
                    <a:bodyPr/>
                    <a:lstStyle/>
                    <a:p>
                      <a:pPr>
                        <a:defRPr sz="1200"/>
                      </a:pPr>
                      <a:r>
                        <a:t>`Owner`</a:t>
                      </a:r>
                    </a:p>
                  </a:txBody>
                  <a:tcPr/>
                </a:tc>
                <a:tc>
                  <a:txBody>
                    <a:bodyPr/>
                    <a:lstStyle/>
                    <a:p>
                      <a:pPr>
                        <a:defRPr sz="1200"/>
                      </a:pPr>
                      <a:r>
                        <a:t>Who is responsible</a:t>
                      </a:r>
                    </a:p>
                  </a:txBody>
                  <a:tcPr/>
                </a:tc>
                <a:tc>
                  <a:txBody>
                    <a:bodyPr/>
                    <a:lstStyle/>
                    <a:p>
                      <a:pPr>
                        <a:defRPr sz="1200"/>
                      </a:pPr>
                      <a:r>
                        <a:t>`team-backend`, `jsmith`</a:t>
                      </a:r>
                    </a:p>
                  </a:txBody>
                  <a:tcPr/>
                </a:tc>
              </a:tr>
              <a:tr h="365760">
                <a:tc>
                  <a:txBody>
                    <a:bodyPr/>
                    <a:lstStyle/>
                    <a:p>
                      <a:pPr>
                        <a:defRPr sz="1200"/>
                      </a:pPr>
                      <a:r>
                        <a:t>`CostCenter`</a:t>
                      </a:r>
                    </a:p>
                  </a:txBody>
                  <a:tcPr>
                    <a:solidFill>
                      <a:srgbClr val="F2F3F4"/>
                    </a:solidFill>
                  </a:tcPr>
                </a:tc>
                <a:tc>
                  <a:txBody>
                    <a:bodyPr/>
                    <a:lstStyle/>
                    <a:p>
                      <a:pPr>
                        <a:defRPr sz="1200"/>
                      </a:pPr>
                      <a:r>
                        <a:t>Map to organizational cost centers</a:t>
                      </a:r>
                    </a:p>
                  </a:txBody>
                  <a:tcPr>
                    <a:solidFill>
                      <a:srgbClr val="F2F3F4"/>
                    </a:solidFill>
                  </a:tcPr>
                </a:tc>
                <a:tc>
                  <a:txBody>
                    <a:bodyPr/>
                    <a:lstStyle/>
                    <a:p>
                      <a:pPr>
                        <a:defRPr sz="1200"/>
                      </a:pPr>
                      <a:r>
                        <a:t>`engineering`, `marketing`</a:t>
                      </a:r>
                    </a:p>
                  </a:txBody>
                  <a:tcPr>
                    <a:solidFill>
                      <a:srgbClr val="F2F3F4"/>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allocation tags</a:t>
            </a:r>
          </a:p>
        </p:txBody>
      </p:sp>
      <p:sp>
        <p:nvSpPr>
          <p:cNvPr id="3" name="Content Placeholder 2"/>
          <p:cNvSpPr>
            <a:spLocks noGrp="1"/>
          </p:cNvSpPr>
          <p:nvPr>
            <p:ph idx="1"/>
          </p:nvPr>
        </p:nvSpPr>
        <p:spPr/>
        <p:txBody>
          <a:bodyPr/>
          <a:lstStyle/>
          <a:p>
            <a:pPr>
              <a:defRPr sz="1400" i="1">
                <a:solidFill>
                  <a:srgbClr val="555555"/>
                </a:solidFill>
              </a:defRPr>
            </a:pPr>
            <a:r>
              <a:t>Enforce tagging from day one using Organizations tag policies or IAM conditions that deny untagged resource creation.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diagnosing a cost spike</a:t>
            </a:r>
          </a:p>
        </p:txBody>
      </p:sp>
      <p:sp>
        <p:nvSpPr>
          <p:cNvPr id="3" name="Content Placeholder 2"/>
          <p:cNvSpPr>
            <a:spLocks noGrp="1"/>
          </p:cNvSpPr>
          <p:nvPr>
            <p:ph idx="1"/>
          </p:nvPr>
        </p:nvSpPr>
        <p:spPr/>
        <p:txBody>
          <a:bodyPr/>
          <a:lstStyle/>
          <a:p>
            <a:pPr>
              <a:defRPr sz="1600"/>
            </a:pPr>
            <a:r>
              <a:t>Your team's AWS bill jumped from $2,000 to $5,000 last month. Cost Explorer shows that S3 costs tripled and data transfer costs doubled.</a:t>
            </a:r>
          </a:p>
          <a:p>
            <a:pPr>
              <a:defRPr sz="1600"/>
            </a:pPr>
            <a:r>
              <a:t>What questions would you ask, and which Cost Explorer filters would you use to investigate?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AWS Budgets</a:t>
            </a:r>
          </a:p>
        </p:txBody>
      </p:sp>
      <p:sp>
        <p:nvSpPr>
          <p:cNvPr id="3" name="Text Placeholder 2"/>
          <p:cNvSpPr>
            <a:spLocks noGrp="1"/>
          </p:cNvSpPr>
          <p:nvPr>
            <p:ph type="body" idx="1"/>
          </p:nvPr>
        </p:nvSpPr>
        <p:spPr/>
        <p:txBody>
          <a:bodyPr/>
          <a:lstStyle/>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Budget types</a:t>
            </a:r>
          </a:p>
        </p:txBody>
      </p:sp>
      <p:graphicFrame>
        <p:nvGraphicFramePr>
          <p:cNvPr id="4" name="Table 3"/>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pPr>
                        <a:defRPr sz="1400" b="1">
                          <a:solidFill>
                            <a:srgbClr val="FFFFFF"/>
                          </a:solidFill>
                        </a:defRPr>
                      </a:pPr>
                      <a:r>
                        <a:t>Budget Type</a:t>
                      </a:r>
                    </a:p>
                  </a:txBody>
                  <a:tcPr>
                    <a:solidFill>
                      <a:srgbClr val="232F3E"/>
                    </a:solidFill>
                  </a:tcPr>
                </a:tc>
                <a:tc>
                  <a:txBody>
                    <a:bodyPr/>
                    <a:lstStyle/>
                    <a:p>
                      <a:pPr>
                        <a:defRPr sz="1400" b="1">
                          <a:solidFill>
                            <a:srgbClr val="FFFFFF"/>
                          </a:solidFill>
                        </a:defRPr>
                      </a:pPr>
                      <a:r>
                        <a:t>What It Tracks</a:t>
                      </a:r>
                    </a:p>
                  </a:txBody>
                  <a:tcPr>
                    <a:solidFill>
                      <a:srgbClr val="232F3E"/>
                    </a:solidFill>
                  </a:tcPr>
                </a:tc>
                <a:tc>
                  <a:txBody>
                    <a:bodyPr/>
                    <a:lstStyle/>
                    <a:p>
                      <a:pPr>
                        <a:defRPr sz="1400" b="1">
                          <a:solidFill>
                            <a:srgbClr val="FFFFFF"/>
                          </a:solidFill>
                        </a:defRPr>
                      </a:pPr>
                      <a:r>
                        <a:t>Use Case</a:t>
                      </a:r>
                    </a:p>
                  </a:txBody>
                  <a:tcPr>
                    <a:solidFill>
                      <a:srgbClr val="232F3E"/>
                    </a:solidFill>
                  </a:tcPr>
                </a:tc>
              </a:tr>
              <a:tr h="365760">
                <a:tc>
                  <a:txBody>
                    <a:bodyPr/>
                    <a:lstStyle/>
                    <a:p>
                      <a:pPr>
                        <a:defRPr sz="1200"/>
                      </a:pPr>
                      <a:r>
                        <a:t>Usage budget</a:t>
                      </a:r>
                    </a:p>
                  </a:txBody>
                  <a:tcPr>
                    <a:solidFill>
                      <a:srgbClr val="F2F3F4"/>
                    </a:solidFill>
                  </a:tcPr>
                </a:tc>
                <a:tc>
                  <a:txBody>
                    <a:bodyPr/>
                    <a:lstStyle/>
                    <a:p>
                      <a:pPr>
                        <a:defRPr sz="1200"/>
                      </a:pPr>
                      <a:r>
                        <a:t>Resource consumption</a:t>
                      </a:r>
                    </a:p>
                  </a:txBody>
                  <a:tcPr>
                    <a:solidFill>
                      <a:srgbClr val="F2F3F4"/>
                    </a:solidFill>
                  </a:tcPr>
                </a:tc>
                <a:tc>
                  <a:txBody>
                    <a:bodyPr/>
                    <a:lstStyle/>
                    <a:p>
                      <a:pPr>
                        <a:defRPr sz="1200"/>
                      </a:pPr>
                      <a:r>
                        <a:t>"Alert at 1,000 EC2 hours"</a:t>
                      </a:r>
                    </a:p>
                  </a:txBody>
                  <a:tcPr>
                    <a:solidFill>
                      <a:srgbClr val="F2F3F4"/>
                    </a:solidFill>
                  </a:tcPr>
                </a:tc>
              </a:tr>
              <a:tr h="365760">
                <a:tc>
                  <a:txBody>
                    <a:bodyPr/>
                    <a:lstStyle/>
                    <a:p>
                      <a:pPr>
                        <a:defRPr sz="1200"/>
                      </a:pPr>
                      <a:r>
                        <a:t>RI utilization</a:t>
                      </a:r>
                    </a:p>
                  </a:txBody>
                  <a:tcPr/>
                </a:tc>
                <a:tc>
                  <a:txBody>
                    <a:bodyPr/>
                    <a:lstStyle/>
                    <a:p>
                      <a:pPr>
                        <a:defRPr sz="1200"/>
                      </a:pPr>
                      <a:r>
                        <a:t>Reserved Instance usage</a:t>
                      </a:r>
                    </a:p>
                  </a:txBody>
                  <a:tcPr/>
                </a:tc>
                <a:tc>
                  <a:txBody>
                    <a:bodyPr/>
                    <a:lstStyle/>
                    <a:p>
                      <a:pPr>
                        <a:defRPr sz="1200"/>
                      </a:pPr>
                      <a:r>
                        <a:t>"Alert if RI utilization drops below 80%"</a:t>
                      </a:r>
                    </a:p>
                  </a:txBody>
                  <a:tcPr/>
                </a:tc>
              </a:tr>
              <a:tr h="365760">
                <a:tc>
                  <a:txBody>
                    <a:bodyPr/>
                    <a:lstStyle/>
                    <a:p>
                      <a:pPr>
                        <a:defRPr sz="1200"/>
                      </a:pPr>
                      <a:r>
                        <a:t>Savings Plans coverage</a:t>
                      </a:r>
                    </a:p>
                  </a:txBody>
                  <a:tcPr>
                    <a:solidFill>
                      <a:srgbClr val="F2F3F4"/>
                    </a:solidFill>
                  </a:tcPr>
                </a:tc>
                <a:tc>
                  <a:txBody>
                    <a:bodyPr/>
                    <a:lstStyle/>
                    <a:p>
                      <a:pPr>
                        <a:defRPr sz="1200"/>
                      </a:pPr>
                      <a:r>
                        <a:t>SP coverage percentage</a:t>
                      </a:r>
                    </a:p>
                  </a:txBody>
                  <a:tcPr>
                    <a:solidFill>
                      <a:srgbClr val="F2F3F4"/>
                    </a:solidFill>
                  </a:tcPr>
                </a:tc>
                <a:tc>
                  <a:txBody>
                    <a:bodyPr/>
                    <a:lstStyle/>
                    <a:p>
                      <a:pPr>
                        <a:defRPr sz="1200"/>
                      </a:pPr>
                      <a:r>
                        <a:t>"Alert if coverage drops below 70%"</a:t>
                      </a:r>
                    </a:p>
                  </a:txBody>
                  <a:tcPr>
                    <a:solidFill>
                      <a:srgbClr val="F2F3F4"/>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types</a:t>
            </a:r>
          </a:p>
        </p:txBody>
      </p:sp>
      <p:sp>
        <p:nvSpPr>
          <p:cNvPr id="3" name="Content Placeholder 2"/>
          <p:cNvSpPr>
            <a:spLocks noGrp="1"/>
          </p:cNvSpPr>
          <p:nvPr>
            <p:ph idx="1"/>
          </p:nvPr>
        </p:nvSpPr>
        <p:spPr/>
        <p:txBody>
          <a:bodyPr/>
          <a:lstStyle/>
          <a:p>
            <a:pPr>
              <a:defRPr sz="1400" i="1">
                <a:solidFill>
                  <a:srgbClr val="555555"/>
                </a:solidFill>
              </a:defRPr>
            </a:pPr>
            <a:r>
              <a:t>Budget alerts notify you after the threshold is reached. For hard limits, use budget actions that apply restrictive IAM policies automatically.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Right-sizing with Compute Optimizer</a:t>
            </a:r>
          </a:p>
        </p:txBody>
      </p:sp>
      <p:sp>
        <p:nvSpPr>
          <p:cNvPr id="3" name="Text Placeholder 2"/>
          <p:cNvSpPr>
            <a:spLocks noGrp="1"/>
          </p:cNvSpPr>
          <p:nvPr>
            <p:ph type="body" idx="1"/>
          </p:nvPr>
        </p:nvSpPr>
        <p:spPr/>
        <p:txBody>
          <a:bodyPr/>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Compute Optimizer findings</a:t>
            </a:r>
          </a:p>
        </p:txBody>
      </p:sp>
      <p:graphicFrame>
        <p:nvGraphicFramePr>
          <p:cNvPr id="4" name="Table 3"/>
          <p:cNvGraphicFramePr>
            <a:graphicFrameLocks noGrp="1"/>
          </p:cNvGraphicFramePr>
          <p:nvPr/>
        </p:nvGraphicFramePr>
        <p:xfrm>
          <a:off x="457200" y="1097280"/>
          <a:ext cx="8229600" cy="109728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pPr>
                        <a:defRPr sz="1400" b="1">
                          <a:solidFill>
                            <a:srgbClr val="FFFFFF"/>
                          </a:solidFill>
                        </a:defRPr>
                      </a:pPr>
                      <a:r>
                        <a:t>Finding</a:t>
                      </a:r>
                    </a:p>
                  </a:txBody>
                  <a:tcPr>
                    <a:solidFill>
                      <a:srgbClr val="232F3E"/>
                    </a:solidFill>
                  </a:tcPr>
                </a:tc>
                <a:tc>
                  <a:txBody>
                    <a:bodyPr/>
                    <a:lstStyle/>
                    <a:p>
                      <a:pPr>
                        <a:defRPr sz="1400" b="1">
                          <a:solidFill>
                            <a:srgbClr val="FFFFFF"/>
                          </a:solidFill>
                        </a:defRPr>
                      </a:pPr>
                      <a:r>
                        <a:t>Meaning</a:t>
                      </a:r>
                    </a:p>
                  </a:txBody>
                  <a:tcPr>
                    <a:solidFill>
                      <a:srgbClr val="232F3E"/>
                    </a:solidFill>
                  </a:tcPr>
                </a:tc>
                <a:tc>
                  <a:txBody>
                    <a:bodyPr/>
                    <a:lstStyle/>
                    <a:p>
                      <a:pPr>
                        <a:defRPr sz="1400" b="1">
                          <a:solidFill>
                            <a:srgbClr val="FFFFFF"/>
                          </a:solidFill>
                        </a:defRPr>
                      </a:pPr>
                      <a:r>
                        <a:t>Action</a:t>
                      </a:r>
                    </a:p>
                  </a:txBody>
                  <a:tcPr>
                    <a:solidFill>
                      <a:srgbClr val="232F3E"/>
                    </a:solidFill>
                  </a:tcPr>
                </a:tc>
              </a:tr>
              <a:tr h="365760">
                <a:tc>
                  <a:txBody>
                    <a:bodyPr/>
                    <a:lstStyle/>
                    <a:p>
                      <a:pPr>
                        <a:defRPr sz="1200"/>
                      </a:pPr>
                      <a:r>
                        <a:t>Under-provisioned</a:t>
                      </a:r>
                    </a:p>
                  </a:txBody>
                  <a:tcPr>
                    <a:solidFill>
                      <a:srgbClr val="F2F3F4"/>
                    </a:solidFill>
                  </a:tcPr>
                </a:tc>
                <a:tc>
                  <a:txBody>
                    <a:bodyPr/>
                    <a:lstStyle/>
                    <a:p>
                      <a:pPr>
                        <a:defRPr sz="1200"/>
                      </a:pPr>
                      <a:r>
                        <a:t>Not enough CPU/memory</a:t>
                      </a:r>
                    </a:p>
                  </a:txBody>
                  <a:tcPr>
                    <a:solidFill>
                      <a:srgbClr val="F2F3F4"/>
                    </a:solidFill>
                  </a:tcPr>
                </a:tc>
                <a:tc>
                  <a:txBody>
                    <a:bodyPr/>
                    <a:lstStyle/>
                    <a:p>
                      <a:pPr>
                        <a:defRPr sz="1200"/>
                      </a:pPr>
                      <a:r>
                        <a:t>Upsize to a larger instance type</a:t>
                      </a:r>
                    </a:p>
                  </a:txBody>
                  <a:tcPr>
                    <a:solidFill>
                      <a:srgbClr val="F2F3F4"/>
                    </a:solidFill>
                  </a:tcPr>
                </a:tc>
              </a:tr>
              <a:tr h="365760">
                <a:tc>
                  <a:txBody>
                    <a:bodyPr/>
                    <a:lstStyle/>
                    <a:p>
                      <a:pPr>
                        <a:defRPr sz="1200"/>
                      </a:pPr>
                      <a:r>
                        <a:t>Optimized</a:t>
                      </a:r>
                    </a:p>
                  </a:txBody>
                  <a:tcPr/>
                </a:tc>
                <a:tc>
                  <a:txBody>
                    <a:bodyPr/>
                    <a:lstStyle/>
                    <a:p>
                      <a:pPr>
                        <a:defRPr sz="1200"/>
                      </a:pPr>
                      <a:r>
                        <a:t>Current type matches workload</a:t>
                      </a:r>
                    </a:p>
                  </a:txBody>
                  <a:tcPr/>
                </a:tc>
                <a:tc>
                  <a:txBody>
                    <a:bodyPr/>
                    <a:lstStyle/>
                    <a:p>
                      <a:pPr>
                        <a:defRPr sz="1200"/>
                      </a:pPr>
                      <a:r>
                        <a:t>No action needed</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Compute Optimizer findings</a:t>
            </a:r>
          </a:p>
        </p:txBody>
      </p:sp>
      <p:sp>
        <p:nvSpPr>
          <p:cNvPr id="3" name="Content Placeholder 2"/>
          <p:cNvSpPr>
            <a:spLocks noGrp="1"/>
          </p:cNvSpPr>
          <p:nvPr>
            <p:ph idx="1"/>
          </p:nvPr>
        </p:nvSpPr>
        <p:spPr/>
        <p:txBody>
          <a:bodyPr/>
          <a:lstStyle/>
          <a:p>
            <a:pPr>
              <a:defRPr sz="1800"/>
            </a:pPr>
            <a:r>
              <a:t>Analyzes CloudWatch metrics over 14 to 93 days</a:t>
            </a:r>
          </a:p>
          <a:p>
            <a:pPr>
              <a:defRPr sz="1800"/>
            </a:pPr>
            <a:r>
              <a:t>Covers EC2, EBS, Lambda, and ECS</a:t>
            </a:r>
          </a:p>
          <a:p>
            <a:pPr>
              <a:defRPr sz="1800"/>
            </a:pPr>
            <a:r>
              <a:t>Each recommendation includes estimated monthly savings</a:t>
            </a:r>
          </a:p>
          <a:p>
            <a:pPr>
              <a:defRPr sz="1400" i="1">
                <a:solidFill>
                  <a:srgbClr val="555555"/>
                </a:solidFill>
              </a:defRPr>
            </a:pPr>
            <a:r>
              <a:t>Right-size first, then commit. Buying a discount on an over-provisioned instance locks in waste.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Savings Plans and Reserved Instances</a:t>
            </a:r>
          </a:p>
        </p:txBody>
      </p:sp>
      <p:sp>
        <p:nvSpPr>
          <p:cNvPr id="3" name="Text Placeholder 2"/>
          <p:cNvSpPr>
            <a:spLocks noGrp="1"/>
          </p:cNvSpPr>
          <p:nvPr>
            <p:ph type="body" idx="1"/>
          </p:nvPr>
        </p:nvSpPr>
        <p:spPr/>
        <p:txBody>
          <a:bodyPr/>
          <a:lstStyle/>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Savings Plans</a:t>
            </a:r>
          </a:p>
        </p:txBody>
      </p:sp>
      <p:graphicFrame>
        <p:nvGraphicFramePr>
          <p:cNvPr id="4" name="Table 3"/>
          <p:cNvGraphicFramePr>
            <a:graphicFrameLocks noGrp="1"/>
          </p:cNvGraphicFramePr>
          <p:nvPr/>
        </p:nvGraphicFramePr>
        <p:xfrm>
          <a:off x="457200" y="1097280"/>
          <a:ext cx="8229600" cy="73152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pPr>
                        <a:defRPr sz="1400" b="1">
                          <a:solidFill>
                            <a:srgbClr val="FFFFFF"/>
                          </a:solidFill>
                        </a:defRPr>
                      </a:pPr>
                      <a:r>
                        <a:t>Plan Type</a:t>
                      </a:r>
                    </a:p>
                  </a:txBody>
                  <a:tcPr>
                    <a:solidFill>
                      <a:srgbClr val="232F3E"/>
                    </a:solidFill>
                  </a:tcPr>
                </a:tc>
                <a:tc>
                  <a:txBody>
                    <a:bodyPr/>
                    <a:lstStyle/>
                    <a:p>
                      <a:pPr>
                        <a:defRPr sz="1400" b="1">
                          <a:solidFill>
                            <a:srgbClr val="FFFFFF"/>
                          </a:solidFill>
                        </a:defRPr>
                      </a:pPr>
                      <a:r>
                        <a:t>Flexibility</a:t>
                      </a:r>
                    </a:p>
                  </a:txBody>
                  <a:tcPr>
                    <a:solidFill>
                      <a:srgbClr val="232F3E"/>
                    </a:solidFill>
                  </a:tcPr>
                </a:tc>
                <a:tc>
                  <a:txBody>
                    <a:bodyPr/>
                    <a:lstStyle/>
                    <a:p>
                      <a:pPr>
                        <a:defRPr sz="1400" b="1">
                          <a:solidFill>
                            <a:srgbClr val="FFFFFF"/>
                          </a:solidFill>
                        </a:defRPr>
                      </a:pPr>
                      <a:r>
                        <a:t>Discount</a:t>
                      </a:r>
                    </a:p>
                  </a:txBody>
                  <a:tcPr>
                    <a:solidFill>
                      <a:srgbClr val="232F3E"/>
                    </a:solidFill>
                  </a:tcPr>
                </a:tc>
              </a:tr>
              <a:tr h="365760">
                <a:tc>
                  <a:txBody>
                    <a:bodyPr/>
                    <a:lstStyle/>
                    <a:p>
                      <a:pPr>
                        <a:defRPr sz="1200"/>
                      </a:pPr>
                      <a:r>
                        <a:t>EC2 Instance Savings Plans</a:t>
                      </a:r>
                    </a:p>
                  </a:txBody>
                  <a:tcPr>
                    <a:solidFill>
                      <a:srgbClr val="F2F3F4"/>
                    </a:solidFill>
                  </a:tcPr>
                </a:tc>
                <a:tc>
                  <a:txBody>
                    <a:bodyPr/>
                    <a:lstStyle/>
                    <a:p>
                      <a:pPr>
                        <a:defRPr sz="1200"/>
                      </a:pPr>
                      <a:r>
                        <a:t>Specific instance family in a specific Region</a:t>
                      </a:r>
                    </a:p>
                  </a:txBody>
                  <a:tcPr>
                    <a:solidFill>
                      <a:srgbClr val="F2F3F4"/>
                    </a:solidFill>
                  </a:tcPr>
                </a:tc>
                <a:tc>
                  <a:txBody>
                    <a:bodyPr/>
                    <a:lstStyle/>
                    <a:p>
                      <a:pPr>
                        <a:defRPr sz="1200"/>
                      </a:pPr>
                      <a:r>
                        <a:t>Up to 72%</a:t>
                      </a:r>
                    </a:p>
                  </a:txBody>
                  <a:tcPr>
                    <a:solidFill>
                      <a:srgbClr val="F2F3F4"/>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Reserved Instances</a:t>
            </a:r>
          </a:p>
        </p:txBody>
      </p:sp>
      <p:graphicFrame>
        <p:nvGraphicFramePr>
          <p:cNvPr id="4" name="Table 3"/>
          <p:cNvGraphicFramePr>
            <a:graphicFrameLocks noGrp="1"/>
          </p:cNvGraphicFramePr>
          <p:nvPr/>
        </p:nvGraphicFramePr>
        <p:xfrm>
          <a:off x="457200" y="1097280"/>
          <a:ext cx="8229600" cy="109728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pPr>
                        <a:defRPr sz="1400" b="1">
                          <a:solidFill>
                            <a:srgbClr val="FFFFFF"/>
                          </a:solidFill>
                        </a:defRPr>
                      </a:pPr>
                      <a:r>
                        <a:t>Payment Option</a:t>
                      </a:r>
                    </a:p>
                  </a:txBody>
                  <a:tcPr>
                    <a:solidFill>
                      <a:srgbClr val="232F3E"/>
                    </a:solidFill>
                  </a:tcPr>
                </a:tc>
                <a:tc>
                  <a:txBody>
                    <a:bodyPr/>
                    <a:lstStyle/>
                    <a:p>
                      <a:pPr>
                        <a:defRPr sz="1400" b="1">
                          <a:solidFill>
                            <a:srgbClr val="FFFFFF"/>
                          </a:solidFill>
                        </a:defRPr>
                      </a:pPr>
                      <a:r>
                        <a:t>Upfront Cost</a:t>
                      </a:r>
                    </a:p>
                  </a:txBody>
                  <a:tcPr>
                    <a:solidFill>
                      <a:srgbClr val="232F3E"/>
                    </a:solidFill>
                  </a:tcPr>
                </a:tc>
                <a:tc>
                  <a:txBody>
                    <a:bodyPr/>
                    <a:lstStyle/>
                    <a:p>
                      <a:pPr>
                        <a:defRPr sz="1400" b="1">
                          <a:solidFill>
                            <a:srgbClr val="FFFFFF"/>
                          </a:solidFill>
                        </a:defRPr>
                      </a:pPr>
                      <a:r>
                        <a:t>Discount Level</a:t>
                      </a:r>
                    </a:p>
                  </a:txBody>
                  <a:tcPr>
                    <a:solidFill>
                      <a:srgbClr val="232F3E"/>
                    </a:solidFill>
                  </a:tcPr>
                </a:tc>
              </a:tr>
              <a:tr h="365760">
                <a:tc>
                  <a:txBody>
                    <a:bodyPr/>
                    <a:lstStyle/>
                    <a:p>
                      <a:pPr>
                        <a:defRPr sz="1200"/>
                      </a:pPr>
                      <a:r>
                        <a:t>Partial Upfront</a:t>
                      </a:r>
                    </a:p>
                  </a:txBody>
                  <a:tcPr>
                    <a:solidFill>
                      <a:srgbClr val="F2F3F4"/>
                    </a:solidFill>
                  </a:tcPr>
                </a:tc>
                <a:tc>
                  <a:txBody>
                    <a:bodyPr/>
                    <a:lstStyle/>
                    <a:p>
                      <a:pPr>
                        <a:defRPr sz="1200"/>
                      </a:pPr>
                      <a:r>
                        <a:t>Partial at purchase</a:t>
                      </a:r>
                    </a:p>
                  </a:txBody>
                  <a:tcPr>
                    <a:solidFill>
                      <a:srgbClr val="F2F3F4"/>
                    </a:solidFill>
                  </a:tcPr>
                </a:tc>
                <a:tc>
                  <a:txBody>
                    <a:bodyPr/>
                    <a:lstStyle/>
                    <a:p>
                      <a:pPr>
                        <a:defRPr sz="1200"/>
                      </a:pPr>
                      <a:r>
                        <a:t>Moderate</a:t>
                      </a:r>
                    </a:p>
                  </a:txBody>
                  <a:tcPr>
                    <a:solidFill>
                      <a:srgbClr val="F2F3F4"/>
                    </a:solidFill>
                  </a:tcPr>
                </a:tc>
              </a:tr>
              <a:tr h="365760">
                <a:tc>
                  <a:txBody>
                    <a:bodyPr/>
                    <a:lstStyle/>
                    <a:p>
                      <a:pPr>
                        <a:defRPr sz="1200"/>
                      </a:pPr>
                      <a:r>
                        <a:t>No Upfront</a:t>
                      </a:r>
                    </a:p>
                  </a:txBody>
                  <a:tcPr/>
                </a:tc>
                <a:tc>
                  <a:txBody>
                    <a:bodyPr/>
                    <a:lstStyle/>
                    <a:p>
                      <a:pPr>
                        <a:defRPr sz="1200"/>
                      </a:pPr>
                      <a:r>
                        <a:t>Monthly payments only</a:t>
                      </a:r>
                    </a:p>
                  </a:txBody>
                  <a:tcPr/>
                </a:tc>
                <a:tc>
                  <a:txBody>
                    <a:bodyPr/>
                    <a:lstStyle/>
                    <a:p>
                      <a:pPr>
                        <a:defRPr sz="1200"/>
                      </a:pPr>
                      <a:r>
                        <a:t>Lowest</a:t>
                      </a:r>
                    </a:p>
                  </a:txBody>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Reserved Instances</a:t>
            </a:r>
          </a:p>
        </p:txBody>
      </p:sp>
      <p:sp>
        <p:nvSpPr>
          <p:cNvPr id="3" name="Content Placeholder 2"/>
          <p:cNvSpPr>
            <a:spLocks noGrp="1"/>
          </p:cNvSpPr>
          <p:nvPr>
            <p:ph idx="1"/>
          </p:nvPr>
        </p:nvSpPr>
        <p:spPr/>
        <p:txBody>
          <a:bodyPr/>
          <a:lstStyle/>
          <a:p>
            <a:pPr>
              <a:defRPr sz="1800"/>
            </a:pPr>
            <a:r>
              <a:t>Available for EC2, RDS, ElastiCache, OpenSearch, Redshift</a:t>
            </a:r>
          </a:p>
          <a:p>
            <a:pPr>
              <a:defRPr sz="1800"/>
            </a:pPr>
            <a:r>
              <a:t>One-year or three-year commitment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Choosing between Savings Plans and RIs</a:t>
            </a:r>
          </a:p>
        </p:txBody>
      </p:sp>
      <p:graphicFrame>
        <p:nvGraphicFramePr>
          <p:cNvPr id="4" name="Table 3"/>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pPr>
                        <a:defRPr sz="1400" b="1">
                          <a:solidFill>
                            <a:srgbClr val="FFFFFF"/>
                          </a:solidFill>
                        </a:defRPr>
                      </a:pPr>
                      <a:r>
                        <a:t>Factor</a:t>
                      </a:r>
                    </a:p>
                  </a:txBody>
                  <a:tcPr>
                    <a:solidFill>
                      <a:srgbClr val="232F3E"/>
                    </a:solidFill>
                  </a:tcPr>
                </a:tc>
                <a:tc>
                  <a:txBody>
                    <a:bodyPr/>
                    <a:lstStyle/>
                    <a:p>
                      <a:pPr>
                        <a:defRPr sz="1400" b="1">
                          <a:solidFill>
                            <a:srgbClr val="FFFFFF"/>
                          </a:solidFill>
                        </a:defRPr>
                      </a:pPr>
                      <a:r>
                        <a:t>Savings Plans</a:t>
                      </a:r>
                    </a:p>
                  </a:txBody>
                  <a:tcPr>
                    <a:solidFill>
                      <a:srgbClr val="232F3E"/>
                    </a:solidFill>
                  </a:tcPr>
                </a:tc>
                <a:tc>
                  <a:txBody>
                    <a:bodyPr/>
                    <a:lstStyle/>
                    <a:p>
                      <a:pPr>
                        <a:defRPr sz="1400" b="1">
                          <a:solidFill>
                            <a:srgbClr val="FFFFFF"/>
                          </a:solidFill>
                        </a:defRPr>
                      </a:pPr>
                      <a:r>
                        <a:t>Reserved Instances</a:t>
                      </a:r>
                    </a:p>
                  </a:txBody>
                  <a:tcPr>
                    <a:solidFill>
                      <a:srgbClr val="232F3E"/>
                    </a:solidFill>
                  </a:tcPr>
                </a:tc>
              </a:tr>
              <a:tr h="365760">
                <a:tc>
                  <a:txBody>
                    <a:bodyPr/>
                    <a:lstStyle/>
                    <a:p>
                      <a:pPr>
                        <a:defRPr sz="1200"/>
                      </a:pPr>
                      <a:r>
                        <a:t>Services covered</a:t>
                      </a:r>
                    </a:p>
                  </a:txBody>
                  <a:tcPr>
                    <a:solidFill>
                      <a:srgbClr val="F2F3F4"/>
                    </a:solidFill>
                  </a:tcPr>
                </a:tc>
                <a:tc>
                  <a:txBody>
                    <a:bodyPr/>
                    <a:lstStyle/>
                    <a:p>
                      <a:pPr>
                        <a:defRPr sz="1200"/>
                      </a:pPr>
                      <a:r>
                        <a:t>EC2, Fargate, Lambda</a:t>
                      </a:r>
                    </a:p>
                  </a:txBody>
                  <a:tcPr>
                    <a:solidFill>
                      <a:srgbClr val="F2F3F4"/>
                    </a:solidFill>
                  </a:tcPr>
                </a:tc>
                <a:tc>
                  <a:txBody>
                    <a:bodyPr/>
                    <a:lstStyle/>
                    <a:p>
                      <a:pPr>
                        <a:defRPr sz="1200"/>
                      </a:pPr>
                      <a:r>
                        <a:t>EC2, RDS, ElastiCache, OpenSearch</a:t>
                      </a:r>
                    </a:p>
                  </a:txBody>
                  <a:tcPr>
                    <a:solidFill>
                      <a:srgbClr val="F2F3F4"/>
                    </a:solidFill>
                  </a:tcPr>
                </a:tc>
              </a:tr>
              <a:tr h="365760">
                <a:tc>
                  <a:txBody>
                    <a:bodyPr/>
                    <a:lstStyle/>
                    <a:p>
                      <a:pPr>
                        <a:defRPr sz="1200"/>
                      </a:pPr>
                      <a:r>
                        <a:t>Best for</a:t>
                      </a:r>
                    </a:p>
                  </a:txBody>
                  <a:tcPr/>
                </a:tc>
                <a:tc>
                  <a:txBody>
                    <a:bodyPr/>
                    <a:lstStyle/>
                    <a:p>
                      <a:pPr>
                        <a:defRPr sz="1200"/>
                      </a:pPr>
                      <a:r>
                        <a:t>Workloads that may change</a:t>
                      </a:r>
                    </a:p>
                  </a:txBody>
                  <a:tcPr/>
                </a:tc>
                <a:tc>
                  <a:txBody>
                    <a:bodyPr/>
                    <a:lstStyle/>
                    <a:p>
                      <a:pPr>
                        <a:defRPr sz="1200"/>
                      </a:pPr>
                      <a:r>
                        <a:t>Stable, predictable workloads</a:t>
                      </a:r>
                    </a:p>
                  </a:txBody>
                  <a:tcPr/>
                </a:tc>
              </a:tr>
              <a:tr h="365760">
                <a:tc>
                  <a:txBody>
                    <a:bodyPr/>
                    <a:lstStyle/>
                    <a:p>
                      <a:pPr>
                        <a:defRPr sz="1200"/>
                      </a:pPr>
                      <a:r>
                        <a:t>Recommendation</a:t>
                      </a:r>
                    </a:p>
                  </a:txBody>
                  <a:tcPr>
                    <a:solidFill>
                      <a:srgbClr val="F2F3F4"/>
                    </a:solidFill>
                  </a:tcPr>
                </a:tc>
                <a:tc>
                  <a:txBody>
                    <a:bodyPr/>
                    <a:lstStyle/>
                    <a:p>
                      <a:pPr>
                        <a:defRPr sz="1200"/>
                      </a:pPr>
                      <a:r>
                        <a:t>Start here for most workloads</a:t>
                      </a:r>
                    </a:p>
                  </a:txBody>
                  <a:tcPr>
                    <a:solidFill>
                      <a:srgbClr val="F2F3F4"/>
                    </a:solidFill>
                  </a:tcPr>
                </a:tc>
                <a:tc>
                  <a:txBody>
                    <a:bodyPr/>
                    <a:lstStyle/>
                    <a:p>
                      <a:pPr>
                        <a:defRPr sz="1200"/>
                      </a:pPr>
                      <a:r>
                        <a:t>Use for RDS and services not covered by SPs</a:t>
                      </a:r>
                    </a:p>
                  </a:txBody>
                  <a:tcPr>
                    <a:solidFill>
                      <a:srgbClr val="F2F3F4"/>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check: commitment strategy</a:t>
            </a:r>
          </a:p>
        </p:txBody>
      </p:sp>
      <p:sp>
        <p:nvSpPr>
          <p:cNvPr id="3" name="Content Placeholder 2"/>
          <p:cNvSpPr>
            <a:spLocks noGrp="1"/>
          </p:cNvSpPr>
          <p:nvPr>
            <p:ph idx="1"/>
          </p:nvPr>
        </p:nvSpPr>
        <p:spPr/>
        <p:txBody>
          <a:bodyPr/>
          <a:lstStyle/>
          <a:p>
            <a:pPr>
              <a:defRPr sz="1600"/>
            </a:pPr>
            <a:r>
              <a:t>Your company runs 20 m5.large EC2 instances 24/7 in us-east-1 for a stable production workload. They also run Lambda functions with variable traffic.</a:t>
            </a:r>
          </a:p>
          <a:p>
            <a:pPr>
              <a:defRPr sz="1600"/>
            </a:pPr>
            <a:r>
              <a:t>What commitment strategy would you recommend for each?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Common cost traps</a:t>
            </a:r>
          </a:p>
        </p:txBody>
      </p:sp>
      <p:sp>
        <p:nvSpPr>
          <p:cNvPr id="3" name="Text Placeholder 2"/>
          <p:cNvSpPr>
            <a:spLocks noGrp="1"/>
          </p:cNvSpPr>
          <p:nvPr>
            <p:ph type="body" idx="1"/>
          </p:nvPr>
        </p:nvSpPr>
        <p:spPr/>
        <p:txBody>
          <a:bodyPr/>
          <a:lstStyle/>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Cost traps and remediation</a:t>
            </a:r>
          </a:p>
        </p:txBody>
      </p:sp>
      <p:graphicFrame>
        <p:nvGraphicFramePr>
          <p:cNvPr id="4" name="Table 3"/>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pPr>
                        <a:defRPr sz="1400" b="1">
                          <a:solidFill>
                            <a:srgbClr val="FFFFFF"/>
                          </a:solidFill>
                        </a:defRPr>
                      </a:pPr>
                      <a:r>
                        <a:t>Cost Trap</a:t>
                      </a:r>
                    </a:p>
                  </a:txBody>
                  <a:tcPr>
                    <a:solidFill>
                      <a:srgbClr val="232F3E"/>
                    </a:solidFill>
                  </a:tcPr>
                </a:tc>
                <a:tc>
                  <a:txBody>
                    <a:bodyPr/>
                    <a:lstStyle/>
                    <a:p>
                      <a:pPr>
                        <a:defRPr sz="1400" b="1">
                          <a:solidFill>
                            <a:srgbClr val="FFFFFF"/>
                          </a:solidFill>
                        </a:defRPr>
                      </a:pPr>
                      <a:r>
                        <a:t>How to Detect</a:t>
                      </a:r>
                    </a:p>
                  </a:txBody>
                  <a:tcPr>
                    <a:solidFill>
                      <a:srgbClr val="232F3E"/>
                    </a:solidFill>
                  </a:tcPr>
                </a:tc>
                <a:tc>
                  <a:txBody>
                    <a:bodyPr/>
                    <a:lstStyle/>
                    <a:p>
                      <a:pPr>
                        <a:defRPr sz="1400" b="1">
                          <a:solidFill>
                            <a:srgbClr val="FFFFFF"/>
                          </a:solidFill>
                        </a:defRPr>
                      </a:pPr>
                      <a:r>
                        <a:t>Remediation</a:t>
                      </a:r>
                    </a:p>
                  </a:txBody>
                  <a:tcPr>
                    <a:solidFill>
                      <a:srgbClr val="232F3E"/>
                    </a:solidFill>
                  </a:tcPr>
                </a:tc>
              </a:tr>
              <a:tr h="365760">
                <a:tc>
                  <a:txBody>
                    <a:bodyPr/>
                    <a:lstStyle/>
                    <a:p>
                      <a:pPr>
                        <a:defRPr sz="1200"/>
                      </a:pPr>
                      <a:r>
                        <a:t>Unattached EBS volumes</a:t>
                      </a:r>
                    </a:p>
                  </a:txBody>
                  <a:tcPr>
                    <a:solidFill>
                      <a:srgbClr val="F2F3F4"/>
                    </a:solidFill>
                  </a:tcPr>
                </a:tc>
                <a:tc>
                  <a:txBody>
                    <a:bodyPr/>
                    <a:lstStyle/>
                    <a:p>
                      <a:pPr>
                        <a:defRPr sz="1200"/>
                      </a:pPr>
                      <a:r>
                        <a:t>EBS charges with no instance</a:t>
                      </a:r>
                    </a:p>
                  </a:txBody>
                  <a:tcPr>
                    <a:solidFill>
                      <a:srgbClr val="F2F3F4"/>
                    </a:solidFill>
                  </a:tcPr>
                </a:tc>
                <a:tc>
                  <a:txBody>
                    <a:bodyPr/>
                    <a:lstStyle/>
                    <a:p>
                      <a:pPr>
                        <a:defRPr sz="1200"/>
                      </a:pPr>
                      <a:r>
                        <a:t>Delete after verifying data</a:t>
                      </a:r>
                    </a:p>
                  </a:txBody>
                  <a:tcPr>
                    <a:solidFill>
                      <a:srgbClr val="F2F3F4"/>
                    </a:solidFill>
                  </a:tcPr>
                </a:tc>
              </a:tr>
              <a:tr h="365760">
                <a:tc>
                  <a:txBody>
                    <a:bodyPr/>
                    <a:lstStyle/>
                    <a:p>
                      <a:pPr>
                        <a:defRPr sz="1200"/>
                      </a:pPr>
                      <a:r>
                        <a:t>Old EBS snapshots</a:t>
                      </a:r>
                    </a:p>
                  </a:txBody>
                  <a:tcPr/>
                </a:tc>
                <a:tc>
                  <a:txBody>
                    <a:bodyPr/>
                    <a:lstStyle/>
                    <a:p>
                      <a:pPr>
                        <a:defRPr sz="1200"/>
                      </a:pPr>
                      <a:r>
                        <a:t>Snapshot storage growing</a:t>
                      </a:r>
                    </a:p>
                  </a:txBody>
                  <a:tcPr/>
                </a:tc>
                <a:tc>
                  <a:txBody>
                    <a:bodyPr/>
                    <a:lstStyle/>
                    <a:p>
                      <a:pPr>
                        <a:defRPr sz="1200"/>
                      </a:pPr>
                      <a:r>
                        <a:t>Lifecycle policies to delete old snapshots</a:t>
                      </a:r>
                    </a:p>
                  </a:txBody>
                  <a:tcPr/>
                </a:tc>
              </a:tr>
              <a:tr h="365760">
                <a:tc>
                  <a:txBody>
                    <a:bodyPr/>
                    <a:lstStyle/>
                    <a:p>
                      <a:pPr>
                        <a:defRPr sz="1200"/>
                      </a:pPr>
                      <a:r>
                        <a:t>Over-provisioned RDS</a:t>
                      </a:r>
                    </a:p>
                  </a:txBody>
                  <a:tcPr>
                    <a:solidFill>
                      <a:srgbClr val="F2F3F4"/>
                    </a:solidFill>
                  </a:tcPr>
                </a:tc>
                <a:tc>
                  <a:txBody>
                    <a:bodyPr/>
                    <a:lstStyle/>
                    <a:p>
                      <a:pPr>
                        <a:defRPr sz="1200"/>
                      </a:pPr>
                      <a:r>
                        <a:t>Low CPU and memory utilization</a:t>
                      </a:r>
                    </a:p>
                  </a:txBody>
                  <a:tcPr>
                    <a:solidFill>
                      <a:srgbClr val="F2F3F4"/>
                    </a:solidFill>
                  </a:tcPr>
                </a:tc>
                <a:tc>
                  <a:txBody>
                    <a:bodyPr/>
                    <a:lstStyle/>
                    <a:p>
                      <a:pPr>
                        <a:defRPr sz="1200"/>
                      </a:pPr>
                      <a:r>
                        <a:t>Downsize the instance class</a:t>
                      </a:r>
                    </a:p>
                  </a:txBody>
                  <a:tcPr>
                    <a:solidFill>
                      <a:srgbClr val="F2F3F4"/>
                    </a:solidFill>
                  </a:tcPr>
                </a:tc>
              </a:tr>
              <a:tr h="365760">
                <a:tc>
                  <a:txBody>
                    <a:bodyPr/>
                    <a:lstStyle/>
                    <a:p>
                      <a:pPr>
                        <a:defRPr sz="1200"/>
                      </a:pPr>
                      <a:r>
                        <a:t>Wrong S3 storage class</a:t>
                      </a:r>
                    </a:p>
                  </a:txBody>
                  <a:tcPr/>
                </a:tc>
                <a:tc>
                  <a:txBody>
                    <a:bodyPr/>
                    <a:lstStyle/>
                    <a:p>
                      <a:pPr>
                        <a:defRPr sz="1200"/>
                      </a:pPr>
                      <a:r>
                        <a:t>S3 analytics shows infrequent access</a:t>
                      </a:r>
                    </a:p>
                  </a:txBody>
                  <a:tcPr/>
                </a:tc>
                <a:tc>
                  <a:txBody>
                    <a:bodyPr/>
                    <a:lstStyle/>
                    <a:p>
                      <a:pPr>
                        <a:defRPr sz="1200"/>
                      </a:pPr>
                      <a:r>
                        <a:t>Lifecycle transition to Standard-IA or Glacier</a:t>
                      </a:r>
                    </a:p>
                  </a:txBody>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evaluating a cost optimization plan</a:t>
            </a:r>
          </a:p>
        </p:txBody>
      </p:sp>
      <p:sp>
        <p:nvSpPr>
          <p:cNvPr id="3" name="Content Placeholder 2"/>
          <p:cNvSpPr>
            <a:spLocks noGrp="1"/>
          </p:cNvSpPr>
          <p:nvPr>
            <p:ph idx="1"/>
          </p:nvPr>
        </p:nvSpPr>
        <p:spPr/>
        <p:txBody>
          <a:bodyPr/>
          <a:lstStyle/>
          <a:p>
            <a:pPr>
              <a:defRPr sz="1600"/>
            </a:pPr>
            <a:r>
              <a:t>Your team identified three optimizations: (1) downsize 10 EC2 instances (saves $500/month), (2) delete 500 old snapshots (saves $50/month), (3) buy Savings Plans (saves $2,000/month).</a:t>
            </a:r>
          </a:p>
          <a:p>
            <a:pPr>
              <a:defRPr sz="1600"/>
            </a:pPr>
            <a:r>
              <a:t>In what order should you implement these, and why?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Storage cost optimization</a:t>
            </a:r>
          </a:p>
        </p:txBody>
      </p:sp>
      <p:graphicFrame>
        <p:nvGraphicFramePr>
          <p:cNvPr id="4" name="Table 3"/>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pPr>
                        <a:defRPr sz="1400" b="1">
                          <a:solidFill>
                            <a:srgbClr val="FFFFFF"/>
                          </a:solidFill>
                        </a:defRPr>
                      </a:pPr>
                      <a:r>
                        <a:t>Access Pattern</a:t>
                      </a:r>
                    </a:p>
                  </a:txBody>
                  <a:tcPr>
                    <a:solidFill>
                      <a:srgbClr val="232F3E"/>
                    </a:solidFill>
                  </a:tcPr>
                </a:tc>
                <a:tc>
                  <a:txBody>
                    <a:bodyPr/>
                    <a:lstStyle/>
                    <a:p>
                      <a:pPr>
                        <a:defRPr sz="1400" b="1">
                          <a:solidFill>
                            <a:srgbClr val="FFFFFF"/>
                          </a:solidFill>
                        </a:defRPr>
                      </a:pPr>
                      <a:r>
                        <a:t>Recommended S3 Class</a:t>
                      </a:r>
                    </a:p>
                  </a:txBody>
                  <a:tcPr>
                    <a:solidFill>
                      <a:srgbClr val="232F3E"/>
                    </a:solidFill>
                  </a:tcPr>
                </a:tc>
                <a:tc>
                  <a:txBody>
                    <a:bodyPr/>
                    <a:lstStyle/>
                    <a:p>
                      <a:pPr>
                        <a:defRPr sz="1400" b="1">
                          <a:solidFill>
                            <a:srgbClr val="FFFFFF"/>
                          </a:solidFill>
                        </a:defRPr>
                      </a:pPr>
                      <a:r>
                        <a:t>Relative Cost</a:t>
                      </a:r>
                    </a:p>
                  </a:txBody>
                  <a:tcPr>
                    <a:solidFill>
                      <a:srgbClr val="232F3E"/>
                    </a:solidFill>
                  </a:tcPr>
                </a:tc>
              </a:tr>
              <a:tr h="365760">
                <a:tc>
                  <a:txBody>
                    <a:bodyPr/>
                    <a:lstStyle/>
                    <a:p>
                      <a:pPr>
                        <a:defRPr sz="1200"/>
                      </a:pPr>
                      <a:r>
                        <a:t>Infrequently accessed (monthly)</a:t>
                      </a:r>
                    </a:p>
                  </a:txBody>
                  <a:tcPr>
                    <a:solidFill>
                      <a:srgbClr val="F2F3F4"/>
                    </a:solidFill>
                  </a:tcPr>
                </a:tc>
                <a:tc>
                  <a:txBody>
                    <a:bodyPr/>
                    <a:lstStyle/>
                    <a:p>
                      <a:pPr>
                        <a:defRPr sz="1200"/>
                      </a:pPr>
                      <a:r>
                        <a:t>S3 Standard-IA</a:t>
                      </a:r>
                    </a:p>
                  </a:txBody>
                  <a:tcPr>
                    <a:solidFill>
                      <a:srgbClr val="F2F3F4"/>
                    </a:solidFill>
                  </a:tcPr>
                </a:tc>
                <a:tc>
                  <a:txBody>
                    <a:bodyPr/>
                    <a:lstStyle/>
                    <a:p>
                      <a:pPr>
                        <a:defRPr sz="1200"/>
                      </a:pPr>
                      <a:r>
                        <a:t>~45% less</a:t>
                      </a:r>
                    </a:p>
                  </a:txBody>
                  <a:tcPr>
                    <a:solidFill>
                      <a:srgbClr val="F2F3F4"/>
                    </a:solidFill>
                  </a:tcPr>
                </a:tc>
              </a:tr>
              <a:tr h="365760">
                <a:tc>
                  <a:txBody>
                    <a:bodyPr/>
                    <a:lstStyle/>
                    <a:p>
                      <a:pPr>
                        <a:defRPr sz="1200"/>
                      </a:pPr>
                      <a:r>
                        <a:t>Rarely accessed (quarterly)</a:t>
                      </a:r>
                    </a:p>
                  </a:txBody>
                  <a:tcPr/>
                </a:tc>
                <a:tc>
                  <a:txBody>
                    <a:bodyPr/>
                    <a:lstStyle/>
                    <a:p>
                      <a:pPr>
                        <a:defRPr sz="1200"/>
                      </a:pPr>
                      <a:r>
                        <a:t>Glacier Flexible Retrieval</a:t>
                      </a:r>
                    </a:p>
                  </a:txBody>
                  <a:tcPr/>
                </a:tc>
                <a:tc>
                  <a:txBody>
                    <a:bodyPr/>
                    <a:lstStyle/>
                    <a:p>
                      <a:pPr>
                        <a:defRPr sz="1200"/>
                      </a:pPr>
                      <a:r>
                        <a:t>~70% less</a:t>
                      </a:r>
                    </a:p>
                  </a:txBody>
                  <a:tcPr/>
                </a:tc>
              </a:tr>
              <a:tr h="365760">
                <a:tc>
                  <a:txBody>
                    <a:bodyPr/>
                    <a:lstStyle/>
                    <a:p>
                      <a:pPr>
                        <a:defRPr sz="1200"/>
                      </a:pPr>
                      <a:r>
                        <a:t>Archive (yearly or less)</a:t>
                      </a:r>
                    </a:p>
                  </a:txBody>
                  <a:tcPr>
                    <a:solidFill>
                      <a:srgbClr val="F2F3F4"/>
                    </a:solidFill>
                  </a:tcPr>
                </a:tc>
                <a:tc>
                  <a:txBody>
                    <a:bodyPr/>
                    <a:lstStyle/>
                    <a:p>
                      <a:pPr>
                        <a:defRPr sz="1200"/>
                      </a:pPr>
                      <a:r>
                        <a:t>Glacier Deep Archive</a:t>
                      </a:r>
                    </a:p>
                  </a:txBody>
                  <a:tcPr>
                    <a:solidFill>
                      <a:srgbClr val="F2F3F4"/>
                    </a:solidFill>
                  </a:tcPr>
                </a:tc>
                <a:tc>
                  <a:txBody>
                    <a:bodyPr/>
                    <a:lstStyle/>
                    <a:p>
                      <a:pPr>
                        <a:defRPr sz="1200"/>
                      </a:pPr>
                      <a:r>
                        <a:t>~95% less</a:t>
                      </a:r>
                    </a:p>
                  </a:txBody>
                  <a:tcPr>
                    <a:solidFill>
                      <a:srgbClr val="F2F3F4"/>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Storage cost optimization</a:t>
            </a:r>
          </a:p>
        </p:txBody>
      </p:sp>
      <p:sp>
        <p:nvSpPr>
          <p:cNvPr id="3" name="Content Placeholder 2"/>
          <p:cNvSpPr>
            <a:spLocks noGrp="1"/>
          </p:cNvSpPr>
          <p:nvPr>
            <p:ph idx="1"/>
          </p:nvPr>
        </p:nvSpPr>
        <p:spPr/>
        <p:txBody>
          <a:bodyPr/>
          <a:lstStyle/>
          <a:p>
            <a:pPr>
              <a:defRPr sz="1800"/>
            </a:pPr>
            <a:r>
              <a:t>Switch gp2 EBS volumes to gp3 (same performance, lower price)</a:t>
            </a:r>
          </a:p>
          <a:p>
            <a:pPr>
              <a:defRPr sz="1800"/>
            </a:pPr>
            <a:r>
              <a:t>Switch DynamoDB from on-demand to provisioned for steady traffic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pPr>
              <a:defRPr sz="1800"/>
            </a:pPr>
            <a:r>
              <a:t>AWS pricing is pay-as-you-go with multiple dimensions; understanding each service's pricing model is the foundation of cost optimization</a:t>
            </a:r>
          </a:p>
          <a:p>
            <a:pPr>
              <a:defRPr sz="1800"/>
            </a:pPr>
            <a:r>
              <a:t>Use Cost Explorer for spending trends, cost allocation tags for attribution, and Budgets for alerts before spending exceeds expectations</a:t>
            </a:r>
          </a:p>
          <a:p>
            <a:pPr>
              <a:defRPr sz="1800"/>
            </a:pPr>
            <a:r>
              <a:t>Right-size resources first using Compute Optimizer, then commit to Savings Plans or RIs for predictable baseline usage</a:t>
            </a:r>
          </a:p>
          <a:p>
            <a:pPr>
              <a:defRPr sz="1800"/>
            </a:pPr>
            <a:r>
              <a:t>Eliminate waste regularly: idle instances, unattached volumes, old snapshots, missing log retention policies, unnecessary NAT Gateway traffic</a:t>
            </a:r>
          </a:p>
          <a:p>
            <a:pPr>
              <a:defRPr sz="1800"/>
            </a:pPr>
            <a:r>
              <a:t>Cost optimization is continuous; schedule monthly reviews and treat cost efficiency as a non-functional requirement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preview: cost optimization audit</a:t>
            </a:r>
          </a:p>
        </p:txBody>
      </p:sp>
      <p:sp>
        <p:nvSpPr>
          <p:cNvPr id="3" name="Content Placeholder 2"/>
          <p:cNvSpPr>
            <a:spLocks noGrp="1"/>
          </p:cNvSpPr>
          <p:nvPr>
            <p:ph idx="1"/>
          </p:nvPr>
        </p:nvSpPr>
        <p:spPr/>
        <p:txBody>
          <a:bodyPr/>
          <a:lstStyle/>
          <a:p>
            <a:pPr>
              <a:defRPr sz="1600"/>
            </a:pPr>
            <a:r>
              <a:t>What you will do:</a:t>
            </a:r>
          </a:p>
          <a:p>
            <a:pPr>
              <a:defRPr sz="1800"/>
            </a:pPr>
            <a:r>
              <a:t>Explore Cost Explorer and identify top spending services</a:t>
            </a:r>
          </a:p>
          <a:p>
            <a:pPr>
              <a:defRPr sz="1800"/>
            </a:pPr>
            <a:r>
              <a:t>Create a cost allocation tagging strategy and apply tags</a:t>
            </a:r>
          </a:p>
          <a:p>
            <a:pPr>
              <a:defRPr sz="1800"/>
            </a:pPr>
            <a:r>
              <a:t>Set up an AWS Budget with alert thresholds</a:t>
            </a:r>
          </a:p>
          <a:p>
            <a:pPr>
              <a:defRPr sz="1800"/>
            </a:pPr>
            <a:r>
              <a:t>Review Compute Optimizer recommendations</a:t>
            </a:r>
          </a:p>
          <a:p>
            <a:pPr>
              <a:defRPr sz="1800"/>
            </a:pPr>
            <a:r>
              <a:t>Write a cost optimization report with findings and actions</a:t>
            </a:r>
          </a:p>
          <a:p>
            <a:pPr>
              <a:defRPr sz="1600"/>
            </a:pPr>
            <a:r>
              <a:t>Duration: 60 minutes (open-ended format)</a:t>
            </a:r>
          </a:p>
          <a:p>
            <a:pPr>
              <a:defRPr sz="1600"/>
            </a:pPr>
            <a:r>
              <a:t>Key services: Cost Explorer, Budgets, Compute Optimizer, S3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a:t>
            </a:r>
          </a:p>
        </p:txBody>
      </p:sp>
      <p:sp>
        <p:nvSpPr>
          <p:cNvPr id="3" name="Content Placeholder 2"/>
          <p:cNvSpPr>
            <a:spLocks noGrp="1"/>
          </p:cNvSpPr>
          <p:nvPr>
            <p:ph idx="1"/>
          </p:nvPr>
        </p:nvSpPr>
        <p:spPr/>
        <p:txBody>
          <a:bodyPr/>
          <a:lstStyle/>
          <a:p>
            <a:pPr>
              <a:defRPr sz="1600"/>
            </a:pPr>
            <a:r>
              <a:t>Review `modules/15-cost-optimization/resources.md` for further reading.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