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Welcome to Module 04, the first module in Phase 2 (Core Services). This module covers EC2, the foundational compute service. Breakdown: 10 min EC2 overview, 10 min instance types, 10 min AMIs, 10 min connecting, 15 min EBS, 10 min user data, 15 min Auto Scaling, 10 min pricing.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Connect EC2 to the VPC concepts from Module 03. Draw a VPC with public and private subnets, then place EC2 instances in each.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Write the naming convention on the board and decode examples together.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Answers: 1) P or G family (GPU acceleration), 2) T family (burstable) or M family (consistent), 3) R family (memory optimized). Ask students to explain their reasoning.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Explain what AMIs contain and the three sources.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Cover the three connection methods and recommend Session Manager for production.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15 minutes. Cover volume types, snapshots, and encryption.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 gp3 with IOPS scaled to 10,000 (gp3 supports up to 16,000 IOPS). If the requirement exceeds 16,000 IOPS, use io2 Block Express. gp3 is more cost-effective because you can independently provision IOPS without paying for a larger volume.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Show a simple web server bootstrap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15 minutes. Cover launch templates, capacity settings, scaling policies, and health checks.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Auto Scaling adds instances to bring average CPU back to 50%. It might scale to 4-6 instances depending on the load. When the sale ends and CPU drops, Auto Scaling removes instances back to the desired count of 2. The key insight is that Auto Scaling reacts to the metric, not to the event.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Use the hotel analogy: On-Demand is a hotel room, Reserved is a lease, Spot is a last-minute deal.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Students will use the default VPC for this lab. They will launch an instance with a web server user data script, attach an additional EBS volume, create a snapshot, build a launch template, and set up an Auto Scaling group with a target tracking policy. Remind students to use t3.micro for Free Tier eligibility.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Take 5-10 minutes for questions. Common questions involve instance type selection and the difference between stopping and terminating instances. Transition to the lab when ready.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04: Compute with Amazon EC2</a:t>
            </a:r>
          </a:p>
        </p:txBody>
      </p:sp>
      <p:sp>
        <p:nvSpPr>
          <p:cNvPr id="3" name="Content Placeholder 2"/>
          <p:cNvSpPr>
            <a:spLocks noGrp="1"/>
          </p:cNvSpPr>
          <p:nvPr>
            <p:ph idx="1"/>
          </p:nvPr>
        </p:nvSpPr>
        <p:spPr/>
        <p:txBody>
          <a:bodyPr/>
          <a:lstStyle/>
          <a:p>
            <a:pPr>
              <a:defRPr sz="1600"/>
            </a:pPr>
            <a:r>
              <a:t>Phase 2: Core Services</a:t>
            </a:r>
          </a:p>
          <a:p>
            <a:pPr>
              <a:defRPr sz="1600"/>
            </a:pPr>
            <a:r>
              <a:t>Estimated lecture time: 90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a:defRPr sz="1600"/>
            </a:pPr>
            <a:r>
              <a:t>By the end of this module, you will be able to:</a:t>
            </a:r>
          </a:p>
          <a:p>
            <a:pPr>
              <a:defRPr sz="1800"/>
            </a:pPr>
            <a:r>
              <a:t>Deploy EC2 instances into a VPC with appropriate subnet and security group configurations</a:t>
            </a:r>
          </a:p>
          <a:p>
            <a:pPr>
              <a:defRPr sz="1800"/>
            </a:pPr>
            <a:r>
              <a:t>Demonstrate how to select an instance type using the naming convention</a:t>
            </a:r>
          </a:p>
          <a:p>
            <a:pPr>
              <a:defRPr sz="1800"/>
            </a:pPr>
            <a:r>
              <a:t>Configure an AMI for launching instances</a:t>
            </a:r>
          </a:p>
          <a:p>
            <a:pPr>
              <a:defRPr sz="1800"/>
            </a:pPr>
            <a:r>
              <a:t>Set up secure access using key pairs, Instance Connect, and Session Manager</a:t>
            </a:r>
          </a:p>
          <a:p>
            <a:pPr>
              <a:defRPr sz="1800"/>
            </a:pPr>
            <a:r>
              <a:t>Implement EBS volumes with appropriate types, snapshots, and encryption</a:t>
            </a:r>
          </a:p>
          <a:p>
            <a:pPr>
              <a:defRPr sz="1800"/>
            </a:pPr>
            <a:r>
              <a:t>Use user data scripts to bootstrap instances at launch</a:t>
            </a:r>
          </a:p>
          <a:p>
            <a:pPr>
              <a:defRPr sz="1800"/>
            </a:pPr>
            <a:r>
              <a:t>Configure Auto Scaling groups with launch templates</a:t>
            </a:r>
          </a:p>
          <a:p>
            <a:pPr>
              <a:defRPr sz="1800"/>
            </a:pPr>
            <a:r>
              <a:t>Demonstrate the differences between EC2 pricing models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Prerequisites and agenda</a:t>
            </a:r>
          </a:p>
        </p:txBody>
      </p:sp>
      <p:sp>
        <p:nvSpPr>
          <p:cNvPr id="3" name="Content Placeholder 2"/>
          <p:cNvSpPr>
            <a:spLocks noGrp="1"/>
          </p:cNvSpPr>
          <p:nvPr>
            <p:ph idx="1"/>
          </p:nvPr>
        </p:nvSpPr>
        <p:spPr/>
        <p:txBody>
          <a:bodyPr/>
          <a:lstStyle/>
          <a:p>
            <a:pPr>
              <a:defRPr sz="1600"/>
            </a:pPr>
            <a:r>
              <a:t>Prerequisites: Module 02 (IAM), Module 03 (VPC, subnets, security groups), AWS account</a:t>
            </a:r>
          </a:p>
          <a:p>
            <a:pPr>
              <a:defRPr sz="1600"/>
            </a:pPr>
            <a:r>
              <a:t>Agenda:</a:t>
            </a:r>
          </a:p>
          <a:p>
            <a:pPr>
              <a:defRPr sz="1800"/>
            </a:pPr>
            <a:r>
              <a:t>EC2 overview</a:t>
            </a:r>
          </a:p>
          <a:p>
            <a:pPr>
              <a:defRPr sz="1800"/>
            </a:pPr>
            <a:r>
              <a:t>Instance types and sizing</a:t>
            </a:r>
          </a:p>
          <a:p>
            <a:pPr>
              <a:defRPr sz="1800"/>
            </a:pPr>
            <a:r>
              <a:t>Amazon Machine Images (AMIs)</a:t>
            </a:r>
          </a:p>
          <a:p>
            <a:pPr>
              <a:defRPr sz="1800"/>
            </a:pPr>
            <a:r>
              <a:t>Connecting to instances</a:t>
            </a:r>
          </a:p>
          <a:p>
            <a:pPr>
              <a:defRPr sz="1800"/>
            </a:pPr>
            <a:r>
              <a:t>Amazon EBS volumes</a:t>
            </a:r>
          </a:p>
          <a:p>
            <a:pPr>
              <a:defRPr sz="1800"/>
            </a:pPr>
            <a:r>
              <a:t>User data scripts</a:t>
            </a:r>
          </a:p>
          <a:p>
            <a:pPr>
              <a:defRPr sz="1800"/>
            </a:pPr>
            <a:r>
              <a:t>Auto Scaling groups and launch templates</a:t>
            </a:r>
          </a:p>
          <a:p>
            <a:pPr>
              <a:defRPr sz="1800"/>
            </a:pPr>
            <a:r>
              <a:t>EC2 pricing models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EC2 overview</a:t>
            </a:r>
          </a:p>
        </p:txBody>
      </p:sp>
      <p:sp>
        <p:nvSpPr>
          <p:cNvPr id="3" name="Text Placeholder 2"/>
          <p:cNvSpPr>
            <a:spLocks noGrp="1"/>
          </p:cNvSpPr>
          <p:nvPr>
            <p:ph type="body"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Amazon EC2?</a:t>
            </a:r>
          </a:p>
        </p:txBody>
      </p:sp>
      <p:sp>
        <p:nvSpPr>
          <p:cNvPr id="3" name="Content Placeholder 2"/>
          <p:cNvSpPr>
            <a:spLocks noGrp="1"/>
          </p:cNvSpPr>
          <p:nvPr>
            <p:ph idx="1"/>
          </p:nvPr>
        </p:nvSpPr>
        <p:spPr/>
        <p:txBody>
          <a:bodyPr/>
          <a:lstStyle/>
          <a:p>
            <a:pPr>
              <a:defRPr sz="1800"/>
            </a:pPr>
            <a:r>
              <a:t>Resizable virtual servers (instances) in the AWS cloud</a:t>
            </a:r>
          </a:p>
          <a:p>
            <a:pPr>
              <a:defRPr sz="1800"/>
            </a:pPr>
            <a:r>
              <a:t>IaaS: AWS manages hardware, you manage OS and applications</a:t>
            </a:r>
          </a:p>
          <a:p>
            <a:pPr>
              <a:defRPr sz="1800"/>
            </a:pPr>
            <a:r>
              <a:t>Launch into VPC subnets with security groups (Module 03)</a:t>
            </a:r>
          </a:p>
          <a:p>
            <a:pPr>
              <a:defRPr sz="1800"/>
            </a:pPr>
            <a:r>
              <a:t>Attach IAM roles via instance profiles (Module 02)</a:t>
            </a:r>
          </a:p>
          <a:p>
            <a:pPr>
              <a:defRPr sz="1600"/>
            </a:pPr>
            <a:r>
              <a:t>Common use cases:</a:t>
            </a:r>
          </a:p>
          <a:p>
            <a:pPr>
              <a:defRPr sz="1800"/>
            </a:pPr>
            <a:r>
              <a:t>Web and application servers</a:t>
            </a:r>
          </a:p>
          <a:p>
            <a:pPr>
              <a:defRPr sz="1800"/>
            </a:pPr>
            <a:r>
              <a:t>Development and test environments</a:t>
            </a:r>
          </a:p>
          <a:p>
            <a:pPr>
              <a:defRPr sz="1800"/>
            </a:pPr>
            <a:r>
              <a:t>Batch processing</a:t>
            </a:r>
          </a:p>
          <a:p>
            <a:pPr>
              <a:defRPr sz="1800"/>
            </a:pPr>
            <a:r>
              <a:t>High-performance computing (HPC)</a:t>
            </a:r>
          </a:p>
          <a:p>
            <a:pPr>
              <a:defRPr sz="1400" i="1">
                <a:solidFill>
                  <a:srgbClr val="555555"/>
                </a:solidFill>
              </a:defRPr>
            </a:pPr>
            <a:r>
              <a:t>`t3.micro` instances are eligible for the AWS Free Tier (750 hours/month for 12 months).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Instance types and sizing</a:t>
            </a:r>
          </a:p>
        </p:txBody>
      </p:sp>
      <p:sp>
        <p:nvSpPr>
          <p:cNvPr id="3" name="Text Placeholder 2"/>
          <p:cNvSpPr>
            <a:spLocks noGrp="1"/>
          </p:cNvSpPr>
          <p:nvPr>
            <p:ph type="body"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Instance type naming convention</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[family][generation].[size]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Instance families</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pPr>
                        <a:defRPr sz="1400" b="1">
                          <a:solidFill>
                            <a:srgbClr val="FFFFFF"/>
                          </a:solidFill>
                        </a:defRPr>
                      </a:pPr>
                      <a:r>
                        <a:t>Family</a:t>
                      </a:r>
                    </a:p>
                  </a:txBody>
                  <a:tcPr>
                    <a:solidFill>
                      <a:srgbClr val="232F3E"/>
                    </a:solidFill>
                  </a:tcPr>
                </a:tc>
                <a:tc>
                  <a:txBody>
                    <a:bodyPr/>
                    <a:lstStyle/>
                    <a:p>
                      <a:pPr>
                        <a:defRPr sz="1400" b="1">
                          <a:solidFill>
                            <a:srgbClr val="FFFFFF"/>
                          </a:solidFill>
                        </a:defRPr>
                      </a:pPr>
                      <a:r>
                        <a:t>Category</a:t>
                      </a:r>
                    </a:p>
                  </a:txBody>
                  <a:tcPr>
                    <a:solidFill>
                      <a:srgbClr val="232F3E"/>
                    </a:solidFill>
                  </a:tcPr>
                </a:tc>
                <a:tc>
                  <a:txBody>
                    <a:bodyPr/>
                    <a:lstStyle/>
                    <a:p>
                      <a:pPr>
                        <a:defRPr sz="1400" b="1">
                          <a:solidFill>
                            <a:srgbClr val="FFFFFF"/>
                          </a:solidFill>
                        </a:defRPr>
                      </a:pPr>
                      <a:r>
                        <a:t>Optimized For</a:t>
                      </a:r>
                    </a:p>
                  </a:txBody>
                  <a:tcPr>
                    <a:solidFill>
                      <a:srgbClr val="232F3E"/>
                    </a:solidFill>
                  </a:tcPr>
                </a:tc>
                <a:tc>
                  <a:txBody>
                    <a:bodyPr/>
                    <a:lstStyle/>
                    <a:p>
                      <a:pPr>
                        <a:defRPr sz="1400" b="1">
                          <a:solidFill>
                            <a:srgbClr val="FFFFFF"/>
                          </a:solidFill>
                        </a:defRPr>
                      </a:pPr>
                      <a:r>
                        <a:t>Example Use Cases</a:t>
                      </a:r>
                    </a:p>
                  </a:txBody>
                  <a:tcPr>
                    <a:solidFill>
                      <a:srgbClr val="232F3E"/>
                    </a:solidFill>
                  </a:tcPr>
                </a:tc>
              </a:tr>
              <a:tr h="365760">
                <a:tc>
                  <a:txBody>
                    <a:bodyPr/>
                    <a:lstStyle/>
                    <a:p>
                      <a:pPr>
                        <a:defRPr sz="1200"/>
                      </a:pPr>
                      <a:r>
                        <a:t>M</a:t>
                      </a:r>
                    </a:p>
                  </a:txBody>
                  <a:tcPr>
                    <a:solidFill>
                      <a:srgbClr val="F2F3F4"/>
                    </a:solidFill>
                  </a:tcPr>
                </a:tc>
                <a:tc>
                  <a:txBody>
                    <a:bodyPr/>
                    <a:lstStyle/>
                    <a:p>
                      <a:pPr>
                        <a:defRPr sz="1200"/>
                      </a:pPr>
                      <a:r>
                        <a:t>General purpose</a:t>
                      </a:r>
                    </a:p>
                  </a:txBody>
                  <a:tcPr>
                    <a:solidFill>
                      <a:srgbClr val="F2F3F4"/>
                    </a:solidFill>
                  </a:tcPr>
                </a:tc>
                <a:tc>
                  <a:txBody>
                    <a:bodyPr/>
                    <a:lstStyle/>
                    <a:p>
                      <a:pPr>
                        <a:defRPr sz="1200"/>
                      </a:pPr>
                      <a:r>
                        <a:t>Balanced compute/memory</a:t>
                      </a:r>
                    </a:p>
                  </a:txBody>
                  <a:tcPr>
                    <a:solidFill>
                      <a:srgbClr val="F2F3F4"/>
                    </a:solidFill>
                  </a:tcPr>
                </a:tc>
                <a:tc>
                  <a:txBody>
                    <a:bodyPr/>
                    <a:lstStyle/>
                    <a:p>
                      <a:pPr>
                        <a:defRPr sz="1200"/>
                      </a:pPr>
                      <a:r>
                        <a:t>App servers, mid-size databases</a:t>
                      </a:r>
                    </a:p>
                  </a:txBody>
                  <a:tcPr>
                    <a:solidFill>
                      <a:srgbClr val="F2F3F4"/>
                    </a:solidFill>
                  </a:tcPr>
                </a:tc>
              </a:tr>
              <a:tr h="365760">
                <a:tc>
                  <a:txBody>
                    <a:bodyPr/>
                    <a:lstStyle/>
                    <a:p>
                      <a:pPr>
                        <a:defRPr sz="1200"/>
                      </a:pPr>
                      <a:r>
                        <a:t>C</a:t>
                      </a:r>
                    </a:p>
                  </a:txBody>
                  <a:tcPr/>
                </a:tc>
                <a:tc>
                  <a:txBody>
                    <a:bodyPr/>
                    <a:lstStyle/>
                    <a:p>
                      <a:pPr>
                        <a:defRPr sz="1200"/>
                      </a:pPr>
                      <a:r>
                        <a:t>Compute optimized</a:t>
                      </a:r>
                    </a:p>
                  </a:txBody>
                  <a:tcPr/>
                </a:tc>
                <a:tc>
                  <a:txBody>
                    <a:bodyPr/>
                    <a:lstStyle/>
                    <a:p>
                      <a:pPr>
                        <a:defRPr sz="1200"/>
                      </a:pPr>
                      <a:r>
                        <a:t>CPU-intensive tasks</a:t>
                      </a:r>
                    </a:p>
                  </a:txBody>
                  <a:tcPr/>
                </a:tc>
                <a:tc>
                  <a:txBody>
                    <a:bodyPr/>
                    <a:lstStyle/>
                    <a:p>
                      <a:pPr>
                        <a:defRPr sz="1200"/>
                      </a:pPr>
                      <a:r>
                        <a:t>Batch processing, video encoding</a:t>
                      </a:r>
                    </a:p>
                  </a:txBody>
                  <a:tcPr/>
                </a:tc>
              </a:tr>
              <a:tr h="365760">
                <a:tc>
                  <a:txBody>
                    <a:bodyPr/>
                    <a:lstStyle/>
                    <a:p>
                      <a:pPr>
                        <a:defRPr sz="1200"/>
                      </a:pPr>
                      <a:r>
                        <a:t>R</a:t>
                      </a:r>
                    </a:p>
                  </a:txBody>
                  <a:tcPr>
                    <a:solidFill>
                      <a:srgbClr val="F2F3F4"/>
                    </a:solidFill>
                  </a:tcPr>
                </a:tc>
                <a:tc>
                  <a:txBody>
                    <a:bodyPr/>
                    <a:lstStyle/>
                    <a:p>
                      <a:pPr>
                        <a:defRPr sz="1200"/>
                      </a:pPr>
                      <a:r>
                        <a:t>Memory optimized</a:t>
                      </a:r>
                    </a:p>
                  </a:txBody>
                  <a:tcPr>
                    <a:solidFill>
                      <a:srgbClr val="F2F3F4"/>
                    </a:solidFill>
                  </a:tcPr>
                </a:tc>
                <a:tc>
                  <a:txBody>
                    <a:bodyPr/>
                    <a:lstStyle/>
                    <a:p>
                      <a:pPr>
                        <a:defRPr sz="1200"/>
                      </a:pPr>
                      <a:r>
                        <a:t>Large in-memory datasets</a:t>
                      </a:r>
                    </a:p>
                  </a:txBody>
                  <a:tcPr>
                    <a:solidFill>
                      <a:srgbClr val="F2F3F4"/>
                    </a:solidFill>
                  </a:tcPr>
                </a:tc>
                <a:tc>
                  <a:txBody>
                    <a:bodyPr/>
                    <a:lstStyle/>
                    <a:p>
                      <a:pPr>
                        <a:defRPr sz="1200"/>
                      </a:pPr>
                      <a:r>
                        <a:t>Caches, large databases</a:t>
                      </a:r>
                    </a:p>
                  </a:txBody>
                  <a:tcPr>
                    <a:solidFill>
                      <a:srgbClr val="F2F3F4"/>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Instance families</a:t>
            </a:r>
          </a:p>
        </p:txBody>
      </p:sp>
      <p:sp>
        <p:nvSpPr>
          <p:cNvPr id="3" name="Content Placeholder 2"/>
          <p:cNvSpPr>
            <a:spLocks noGrp="1"/>
          </p:cNvSpPr>
          <p:nvPr>
            <p:ph idx="1"/>
          </p:nvPr>
        </p:nvSpPr>
        <p:spPr/>
        <p:txBody>
          <a:bodyPr/>
          <a:lstStyle/>
          <a:p>
            <a:pPr>
              <a:defRPr sz="1400" i="1">
                <a:solidFill>
                  <a:srgbClr val="555555"/>
                </a:solidFill>
              </a:defRPr>
            </a:pPr>
            <a:r>
              <a:t>Start with T family for dev/test. Use Compute Optimizer after 14 days for right-sizing recommendations.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check: choosing an instance family</a:t>
            </a:r>
          </a:p>
        </p:txBody>
      </p:sp>
      <p:sp>
        <p:nvSpPr>
          <p:cNvPr id="3" name="Content Placeholder 2"/>
          <p:cNvSpPr>
            <a:spLocks noGrp="1"/>
          </p:cNvSpPr>
          <p:nvPr>
            <p:ph idx="1"/>
          </p:nvPr>
        </p:nvSpPr>
        <p:spPr/>
        <p:txBody>
          <a:bodyPr/>
          <a:lstStyle/>
          <a:p>
            <a:pPr>
              <a:defRPr sz="1600"/>
            </a:pPr>
            <a:r>
              <a:t>Match each workload to the best instance family:</a:t>
            </a:r>
          </a:p>
          <a:p>
            <a:pPr>
              <a:defRPr sz="1800"/>
            </a:pPr>
            <a:r>
              <a:t>Machine learning training job</a:t>
            </a:r>
          </a:p>
          <a:p>
            <a:pPr>
              <a:defRPr sz="1800"/>
            </a:pPr>
            <a:r>
              <a:t>Web application with variable traffic</a:t>
            </a:r>
          </a:p>
          <a:p>
            <a:pPr>
              <a:defRPr sz="1800"/>
            </a:pPr>
            <a:r>
              <a:t>In-memory caching layer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Amazon Machine Images (AMIs)</a:t>
            </a:r>
          </a:p>
        </p:txBody>
      </p:sp>
      <p:sp>
        <p:nvSpPr>
          <p:cNvPr id="3" name="Text Placeholder 2"/>
          <p:cNvSpPr>
            <a:spLocks noGrp="1"/>
          </p:cNvSpPr>
          <p:nvPr>
            <p:ph type="body" idx="1"/>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What is an AMI?</a:t>
            </a:r>
          </a:p>
        </p:txBody>
      </p:sp>
      <p:graphicFrame>
        <p:nvGraphicFramePr>
          <p:cNvPr id="4" name="Table 3"/>
          <p:cNvGraphicFramePr>
            <a:graphicFrameLocks noGrp="1"/>
          </p:cNvGraphicFramePr>
          <p:nvPr/>
        </p:nvGraphicFramePr>
        <p:xfrm>
          <a:off x="457200" y="1097280"/>
          <a:ext cx="8229600" cy="109728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Source</a:t>
                      </a:r>
                    </a:p>
                  </a:txBody>
                  <a:tcPr>
                    <a:solidFill>
                      <a:srgbClr val="232F3E"/>
                    </a:solidFill>
                  </a:tcPr>
                </a:tc>
                <a:tc>
                  <a:txBody>
                    <a:bodyPr/>
                    <a:lstStyle/>
                    <a:p>
                      <a:pPr>
                        <a:defRPr sz="1400" b="1">
                          <a:solidFill>
                            <a:srgbClr val="FFFFFF"/>
                          </a:solidFill>
                        </a:defRPr>
                      </a:pPr>
                      <a:r>
                        <a:t>Description</a:t>
                      </a:r>
                    </a:p>
                  </a:txBody>
                  <a:tcPr>
                    <a:solidFill>
                      <a:srgbClr val="232F3E"/>
                    </a:solidFill>
                  </a:tcPr>
                </a:tc>
                <a:tc>
                  <a:txBody>
                    <a:bodyPr/>
                    <a:lstStyle/>
                    <a:p>
                      <a:pPr>
                        <a:defRPr sz="1400" b="1">
                          <a:solidFill>
                            <a:srgbClr val="FFFFFF"/>
                          </a:solidFill>
                        </a:defRPr>
                      </a:pPr>
                      <a:r>
                        <a:t>Examples</a:t>
                      </a:r>
                    </a:p>
                  </a:txBody>
                  <a:tcPr>
                    <a:solidFill>
                      <a:srgbClr val="232F3E"/>
                    </a:solidFill>
                  </a:tcPr>
                </a:tc>
              </a:tr>
              <a:tr h="365760">
                <a:tc>
                  <a:txBody>
                    <a:bodyPr/>
                    <a:lstStyle/>
                    <a:p>
                      <a:pPr>
                        <a:defRPr sz="1200"/>
                      </a:pPr>
                      <a:r>
                        <a:t>Marketplace</a:t>
                      </a:r>
                    </a:p>
                  </a:txBody>
                  <a:tcPr>
                    <a:solidFill>
                      <a:srgbClr val="F2F3F4"/>
                    </a:solidFill>
                  </a:tcPr>
                </a:tc>
                <a:tc>
                  <a:txBody>
                    <a:bodyPr/>
                    <a:lstStyle/>
                    <a:p>
                      <a:pPr>
                        <a:defRPr sz="1200"/>
                      </a:pPr>
                      <a:r>
                        <a:t>Third-party vendor images</a:t>
                      </a:r>
                    </a:p>
                  </a:txBody>
                  <a:tcPr>
                    <a:solidFill>
                      <a:srgbClr val="F2F3F4"/>
                    </a:solidFill>
                  </a:tcPr>
                </a:tc>
                <a:tc>
                  <a:txBody>
                    <a:bodyPr/>
                    <a:lstStyle/>
                    <a:p>
                      <a:pPr>
                        <a:defRPr sz="1200"/>
                      </a:pPr>
                      <a:r>
                        <a:t>WordPress, NGINX Plus</a:t>
                      </a:r>
                    </a:p>
                  </a:txBody>
                  <a:tcPr>
                    <a:solidFill>
                      <a:srgbClr val="F2F3F4"/>
                    </a:solidFill>
                  </a:tcPr>
                </a:tc>
              </a:tr>
              <a:tr h="365760">
                <a:tc>
                  <a:txBody>
                    <a:bodyPr/>
                    <a:lstStyle/>
                    <a:p>
                      <a:pPr>
                        <a:defRPr sz="1200"/>
                      </a:pPr>
                      <a:r>
                        <a:t>Custom</a:t>
                      </a:r>
                    </a:p>
                  </a:txBody>
                  <a:tcPr/>
                </a:tc>
                <a:tc>
                  <a:txBody>
                    <a:bodyPr/>
                    <a:lstStyle/>
                    <a:p>
                      <a:pPr>
                        <a:defRPr sz="1200"/>
                      </a:pPr>
                      <a:r>
                        <a:t>Created by you from a configured instance</a:t>
                      </a:r>
                    </a:p>
                  </a:txBody>
                  <a:tcPr/>
                </a:tc>
                <a:tc>
                  <a:txBody>
                    <a:bodyPr/>
                    <a:lstStyle/>
                    <a:p>
                      <a:pPr>
                        <a:defRPr sz="1200"/>
                      </a:pPr>
                      <a:r>
                        <a:t>Your app pre-installed</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an AMI?</a:t>
            </a:r>
          </a:p>
        </p:txBody>
      </p:sp>
      <p:sp>
        <p:nvSpPr>
          <p:cNvPr id="3" name="Content Placeholder 2"/>
          <p:cNvSpPr>
            <a:spLocks noGrp="1"/>
          </p:cNvSpPr>
          <p:nvPr>
            <p:ph idx="1"/>
          </p:nvPr>
        </p:nvSpPr>
        <p:spPr/>
        <p:txBody>
          <a:bodyPr/>
          <a:lstStyle/>
          <a:p>
            <a:pPr>
              <a:defRPr sz="1800"/>
            </a:pPr>
            <a:r>
              <a:t>A template containing OS, applications, and configuration</a:t>
            </a:r>
          </a:p>
          <a:p>
            <a:pPr>
              <a:defRPr sz="1800"/>
            </a:pPr>
            <a:r>
              <a:t>Every instance launch requires an AMI</a:t>
            </a:r>
          </a:p>
          <a:p>
            <a:pPr>
              <a:defRPr sz="1800"/>
            </a:pPr>
            <a:r>
              <a:t>Includes root volume template, launch permissions, and block device mapping</a:t>
            </a:r>
          </a:p>
          <a:p>
            <a:pPr>
              <a:defRPr sz="1400" i="1">
                <a:solidFill>
                  <a:srgbClr val="555555"/>
                </a:solidFill>
              </a:defRPr>
            </a:pPr>
            <a:r>
              <a:t>AMIs are Region-specific. Copy an AMI to another Region before launching instances there.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Connecting to instances</a:t>
            </a:r>
          </a:p>
        </p:txBody>
      </p:sp>
      <p:sp>
        <p:nvSpPr>
          <p:cNvPr id="3" name="Text Placeholder 2"/>
          <p:cNvSpPr>
            <a:spLocks noGrp="1"/>
          </p:cNvSpPr>
          <p:nvPr>
            <p:ph type="body" idx="1"/>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Connection methods</a:t>
            </a:r>
          </a:p>
        </p:txBody>
      </p:sp>
      <p:graphicFrame>
        <p:nvGraphicFramePr>
          <p:cNvPr id="4" name="Table 3"/>
          <p:cNvGraphicFramePr>
            <a:graphicFrameLocks noGrp="1"/>
          </p:cNvGraphicFramePr>
          <p:nvPr/>
        </p:nvGraphicFramePr>
        <p:xfrm>
          <a:off x="457200" y="1097280"/>
          <a:ext cx="8229600" cy="109728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65760">
                <a:tc>
                  <a:txBody>
                    <a:bodyPr/>
                    <a:lstStyle/>
                    <a:p>
                      <a:pPr>
                        <a:defRPr sz="1400" b="1">
                          <a:solidFill>
                            <a:srgbClr val="FFFFFF"/>
                          </a:solidFill>
                        </a:defRPr>
                      </a:pPr>
                      <a:r>
                        <a:t>Method</a:t>
                      </a:r>
                    </a:p>
                  </a:txBody>
                  <a:tcPr>
                    <a:solidFill>
                      <a:srgbClr val="232F3E"/>
                    </a:solidFill>
                  </a:tcPr>
                </a:tc>
                <a:tc>
                  <a:txBody>
                    <a:bodyPr/>
                    <a:lstStyle/>
                    <a:p>
                      <a:pPr>
                        <a:defRPr sz="1400" b="1">
                          <a:solidFill>
                            <a:srgbClr val="FFFFFF"/>
                          </a:solidFill>
                        </a:defRPr>
                      </a:pPr>
                      <a:r>
                        <a:t>Requires Public IP</a:t>
                      </a:r>
                    </a:p>
                  </a:txBody>
                  <a:tcPr>
                    <a:solidFill>
                      <a:srgbClr val="232F3E"/>
                    </a:solidFill>
                  </a:tcPr>
                </a:tc>
                <a:tc>
                  <a:txBody>
                    <a:bodyPr/>
                    <a:lstStyle/>
                    <a:p>
                      <a:pPr>
                        <a:defRPr sz="1400" b="1">
                          <a:solidFill>
                            <a:srgbClr val="FFFFFF"/>
                          </a:solidFill>
                        </a:defRPr>
                      </a:pPr>
                      <a:r>
                        <a:t>Open SSH Port</a:t>
                      </a:r>
                    </a:p>
                  </a:txBody>
                  <a:tcPr>
                    <a:solidFill>
                      <a:srgbClr val="232F3E"/>
                    </a:solidFill>
                  </a:tcPr>
                </a:tc>
                <a:tc>
                  <a:txBody>
                    <a:bodyPr/>
                    <a:lstStyle/>
                    <a:p>
                      <a:pPr>
                        <a:defRPr sz="1400" b="1">
                          <a:solidFill>
                            <a:srgbClr val="FFFFFF"/>
                          </a:solidFill>
                        </a:defRPr>
                      </a:pPr>
                      <a:r>
                        <a:t>Key Pair</a:t>
                      </a:r>
                    </a:p>
                  </a:txBody>
                  <a:tcPr>
                    <a:solidFill>
                      <a:srgbClr val="232F3E"/>
                    </a:solidFill>
                  </a:tcPr>
                </a:tc>
                <a:tc>
                  <a:txBody>
                    <a:bodyPr/>
                    <a:lstStyle/>
                    <a:p>
                      <a:pPr>
                        <a:defRPr sz="1400" b="1">
                          <a:solidFill>
                            <a:srgbClr val="FFFFFF"/>
                          </a:solidFill>
                        </a:defRPr>
                      </a:pPr>
                      <a:r>
                        <a:t>Best For</a:t>
                      </a:r>
                    </a:p>
                  </a:txBody>
                  <a:tcPr>
                    <a:solidFill>
                      <a:srgbClr val="232F3E"/>
                    </a:solidFill>
                  </a:tcPr>
                </a:tc>
              </a:tr>
              <a:tr h="365760">
                <a:tc>
                  <a:txBody>
                    <a:bodyPr/>
                    <a:lstStyle/>
                    <a:p>
                      <a:pPr>
                        <a:defRPr sz="1200"/>
                      </a:pPr>
                      <a:r>
                        <a:t>EC2 Instance Connect</a:t>
                      </a:r>
                    </a:p>
                  </a:txBody>
                  <a:tcPr>
                    <a:solidFill>
                      <a:srgbClr val="F2F3F4"/>
                    </a:solidFill>
                  </a:tcPr>
                </a:tc>
                <a:tc>
                  <a:txBody>
                    <a:bodyPr/>
                    <a:lstStyle/>
                    <a:p>
                      <a:pPr>
                        <a:defRPr sz="1200"/>
                      </a:pPr>
                      <a:r>
                        <a:t>Yes</a:t>
                      </a:r>
                    </a:p>
                  </a:txBody>
                  <a:tcPr>
                    <a:solidFill>
                      <a:srgbClr val="F2F3F4"/>
                    </a:solidFill>
                  </a:tcPr>
                </a:tc>
                <a:tc>
                  <a:txBody>
                    <a:bodyPr/>
                    <a:lstStyle/>
                    <a:p>
                      <a:pPr>
                        <a:defRPr sz="1200"/>
                      </a:pPr>
                      <a:r>
                        <a:t>Yes (port 22)</a:t>
                      </a:r>
                    </a:p>
                  </a:txBody>
                  <a:tcPr>
                    <a:solidFill>
                      <a:srgbClr val="F2F3F4"/>
                    </a:solidFill>
                  </a:tcPr>
                </a:tc>
                <a:tc>
                  <a:txBody>
                    <a:bodyPr/>
                    <a:lstStyle/>
                    <a:p>
                      <a:pPr>
                        <a:defRPr sz="1200"/>
                      </a:pPr>
                      <a:r>
                        <a:t>No</a:t>
                      </a:r>
                    </a:p>
                  </a:txBody>
                  <a:tcPr>
                    <a:solidFill>
                      <a:srgbClr val="F2F3F4"/>
                    </a:solidFill>
                  </a:tcPr>
                </a:tc>
                <a:tc>
                  <a:txBody>
                    <a:bodyPr/>
                    <a:lstStyle/>
                    <a:p>
                      <a:pPr>
                        <a:defRPr sz="1200"/>
                      </a:pPr>
                      <a:r>
                        <a:t>Quick browser-based access</a:t>
                      </a:r>
                    </a:p>
                  </a:txBody>
                  <a:tcPr>
                    <a:solidFill>
                      <a:srgbClr val="F2F3F4"/>
                    </a:solidFill>
                  </a:tcPr>
                </a:tc>
              </a:tr>
              <a:tr h="365760">
                <a:tc>
                  <a:txBody>
                    <a:bodyPr/>
                    <a:lstStyle/>
                    <a:p>
                      <a:pPr>
                        <a:defRPr sz="1200"/>
                      </a:pPr>
                      <a:r>
                        <a:t>Session Manager</a:t>
                      </a:r>
                    </a:p>
                  </a:txBody>
                  <a:tcPr/>
                </a:tc>
                <a:tc>
                  <a:txBody>
                    <a:bodyPr/>
                    <a:lstStyle/>
                    <a:p>
                      <a:pPr>
                        <a:defRPr sz="1200"/>
                      </a:pPr>
                      <a:r>
                        <a:t>No</a:t>
                      </a:r>
                    </a:p>
                  </a:txBody>
                  <a:tcPr/>
                </a:tc>
                <a:tc>
                  <a:txBody>
                    <a:bodyPr/>
                    <a:lstStyle/>
                    <a:p>
                      <a:pPr>
                        <a:defRPr sz="1200"/>
                      </a:pPr>
                      <a:r>
                        <a:t>No</a:t>
                      </a:r>
                    </a:p>
                  </a:txBody>
                  <a:tcPr/>
                </a:tc>
                <a:tc>
                  <a:txBody>
                    <a:bodyPr/>
                    <a:lstStyle/>
                    <a:p>
                      <a:pPr>
                        <a:defRPr sz="1200"/>
                      </a:pPr>
                      <a:r>
                        <a:t>No</a:t>
                      </a:r>
                    </a:p>
                  </a:txBody>
                  <a:tcPr/>
                </a:tc>
                <a:tc>
                  <a:txBody>
                    <a:bodyPr/>
                    <a:lstStyle/>
                    <a:p>
                      <a:pPr>
                        <a:defRPr sz="1200"/>
                      </a:pPr>
                      <a:r>
                        <a:t>Secure access, audit logging</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Connection methods</a:t>
            </a:r>
          </a:p>
        </p:txBody>
      </p:sp>
      <p:sp>
        <p:nvSpPr>
          <p:cNvPr id="3" name="Content Placeholder 2"/>
          <p:cNvSpPr>
            <a:spLocks noGrp="1"/>
          </p:cNvSpPr>
          <p:nvPr>
            <p:ph idx="1"/>
          </p:nvPr>
        </p:nvSpPr>
        <p:spPr/>
        <p:txBody>
          <a:bodyPr/>
          <a:lstStyle/>
          <a:p>
            <a:pPr>
              <a:defRPr sz="1400" i="1">
                <a:solidFill>
                  <a:srgbClr val="555555"/>
                </a:solidFill>
              </a:defRPr>
            </a:pPr>
            <a:r>
              <a:t>Prefer Session Manager for production. It eliminates open ports, provides IAM-based access control, and logs every session.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Amazon EBS volumes</a:t>
            </a:r>
          </a:p>
        </p:txBody>
      </p:sp>
      <p:sp>
        <p:nvSpPr>
          <p:cNvPr id="3" name="Text Placeholder 2"/>
          <p:cNvSpPr>
            <a:spLocks noGrp="1"/>
          </p:cNvSpPr>
          <p:nvPr>
            <p:ph type="body" idx="1"/>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EBS volume types: SSD</a:t>
            </a:r>
          </a:p>
        </p:txBody>
      </p:sp>
      <p:graphicFrame>
        <p:nvGraphicFramePr>
          <p:cNvPr id="4" name="Table 3"/>
          <p:cNvGraphicFramePr>
            <a:graphicFrameLocks noGrp="1"/>
          </p:cNvGraphicFramePr>
          <p:nvPr/>
        </p:nvGraphicFramePr>
        <p:xfrm>
          <a:off x="457200" y="1097280"/>
          <a:ext cx="8229600" cy="73152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65760">
                <a:tc>
                  <a:txBody>
                    <a:bodyPr/>
                    <a:lstStyle/>
                    <a:p>
                      <a:pPr>
                        <a:defRPr sz="1400" b="1">
                          <a:solidFill>
                            <a:srgbClr val="FFFFFF"/>
                          </a:solidFill>
                        </a:defRPr>
                      </a:pPr>
                      <a:r>
                        <a:t>Volume Type</a:t>
                      </a:r>
                    </a:p>
                  </a:txBody>
                  <a:tcPr>
                    <a:solidFill>
                      <a:srgbClr val="232F3E"/>
                    </a:solidFill>
                  </a:tcPr>
                </a:tc>
                <a:tc>
                  <a:txBody>
                    <a:bodyPr/>
                    <a:lstStyle/>
                    <a:p>
                      <a:pPr>
                        <a:defRPr sz="1400" b="1">
                          <a:solidFill>
                            <a:srgbClr val="FFFFFF"/>
                          </a:solidFill>
                        </a:defRPr>
                      </a:pPr>
                      <a:r>
                        <a:t>API Name</a:t>
                      </a:r>
                    </a:p>
                  </a:txBody>
                  <a:tcPr>
                    <a:solidFill>
                      <a:srgbClr val="232F3E"/>
                    </a:solidFill>
                  </a:tcPr>
                </a:tc>
                <a:tc>
                  <a:txBody>
                    <a:bodyPr/>
                    <a:lstStyle/>
                    <a:p>
                      <a:pPr>
                        <a:defRPr sz="1400" b="1">
                          <a:solidFill>
                            <a:srgbClr val="FFFFFF"/>
                          </a:solidFill>
                        </a:defRPr>
                      </a:pPr>
                      <a:r>
                        <a:t>Max IOPS</a:t>
                      </a:r>
                    </a:p>
                  </a:txBody>
                  <a:tcPr>
                    <a:solidFill>
                      <a:srgbClr val="232F3E"/>
                    </a:solidFill>
                  </a:tcPr>
                </a:tc>
                <a:tc>
                  <a:txBody>
                    <a:bodyPr/>
                    <a:lstStyle/>
                    <a:p>
                      <a:pPr>
                        <a:defRPr sz="1400" b="1">
                          <a:solidFill>
                            <a:srgbClr val="FFFFFF"/>
                          </a:solidFill>
                        </a:defRPr>
                      </a:pPr>
                      <a:r>
                        <a:t>Max Throughput</a:t>
                      </a:r>
                    </a:p>
                  </a:txBody>
                  <a:tcPr>
                    <a:solidFill>
                      <a:srgbClr val="232F3E"/>
                    </a:solidFill>
                  </a:tcPr>
                </a:tc>
                <a:tc>
                  <a:txBody>
                    <a:bodyPr/>
                    <a:lstStyle/>
                    <a:p>
                      <a:pPr>
                        <a:defRPr sz="1400" b="1">
                          <a:solidFill>
                            <a:srgbClr val="FFFFFF"/>
                          </a:solidFill>
                        </a:defRPr>
                      </a:pPr>
                      <a:r>
                        <a:t>Use Cases</a:t>
                      </a:r>
                    </a:p>
                  </a:txBody>
                  <a:tcPr>
                    <a:solidFill>
                      <a:srgbClr val="232F3E"/>
                    </a:solidFill>
                  </a:tcPr>
                </a:tc>
              </a:tr>
              <a:tr h="365760">
                <a:tc>
                  <a:txBody>
                    <a:bodyPr/>
                    <a:lstStyle/>
                    <a:p>
                      <a:pPr>
                        <a:defRPr sz="1200"/>
                      </a:pPr>
                      <a:r>
                        <a:t>Provisioned IOPS SSD</a:t>
                      </a:r>
                    </a:p>
                  </a:txBody>
                  <a:tcPr>
                    <a:solidFill>
                      <a:srgbClr val="F2F3F4"/>
                    </a:solidFill>
                  </a:tcPr>
                </a:tc>
                <a:tc>
                  <a:txBody>
                    <a:bodyPr/>
                    <a:lstStyle/>
                    <a:p>
                      <a:pPr>
                        <a:defRPr sz="1200"/>
                      </a:pPr>
                      <a:r>
                        <a:t>io2 Block Express</a:t>
                      </a:r>
                    </a:p>
                  </a:txBody>
                  <a:tcPr>
                    <a:solidFill>
                      <a:srgbClr val="F2F3F4"/>
                    </a:solidFill>
                  </a:tcPr>
                </a:tc>
                <a:tc>
                  <a:txBody>
                    <a:bodyPr/>
                    <a:lstStyle/>
                    <a:p>
                      <a:pPr>
                        <a:defRPr sz="1200"/>
                      </a:pPr>
                      <a:r>
                        <a:t>256,000</a:t>
                      </a:r>
                    </a:p>
                  </a:txBody>
                  <a:tcPr>
                    <a:solidFill>
                      <a:srgbClr val="F2F3F4"/>
                    </a:solidFill>
                  </a:tcPr>
                </a:tc>
                <a:tc>
                  <a:txBody>
                    <a:bodyPr/>
                    <a:lstStyle/>
                    <a:p>
                      <a:pPr>
                        <a:defRPr sz="1200"/>
                      </a:pPr>
                      <a:r>
                        <a:t>4,000 MiB/s</a:t>
                      </a:r>
                    </a:p>
                  </a:txBody>
                  <a:tcPr>
                    <a:solidFill>
                      <a:srgbClr val="F2F3F4"/>
                    </a:solidFill>
                  </a:tcPr>
                </a:tc>
                <a:tc>
                  <a:txBody>
                    <a:bodyPr/>
                    <a:lstStyle/>
                    <a:p>
                      <a:pPr>
                        <a:defRPr sz="1200"/>
                      </a:pPr>
                      <a:r>
                        <a:t>Large databases, latency-sensitive</a:t>
                      </a:r>
                    </a:p>
                  </a:txBody>
                  <a:tcPr>
                    <a:solidFill>
                      <a:srgbClr val="F2F3F4"/>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EBS volume types: HDD</a:t>
            </a:r>
          </a:p>
        </p:txBody>
      </p:sp>
      <p:graphicFrame>
        <p:nvGraphicFramePr>
          <p:cNvPr id="4" name="Table 3"/>
          <p:cNvGraphicFramePr>
            <a:graphicFrameLocks noGrp="1"/>
          </p:cNvGraphicFramePr>
          <p:nvPr/>
        </p:nvGraphicFramePr>
        <p:xfrm>
          <a:off x="457200" y="1097280"/>
          <a:ext cx="8229600" cy="73152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65760">
                <a:tc>
                  <a:txBody>
                    <a:bodyPr/>
                    <a:lstStyle/>
                    <a:p>
                      <a:pPr>
                        <a:defRPr sz="1400" b="1">
                          <a:solidFill>
                            <a:srgbClr val="FFFFFF"/>
                          </a:solidFill>
                        </a:defRPr>
                      </a:pPr>
                      <a:r>
                        <a:t>Volume Type</a:t>
                      </a:r>
                    </a:p>
                  </a:txBody>
                  <a:tcPr>
                    <a:solidFill>
                      <a:srgbClr val="232F3E"/>
                    </a:solidFill>
                  </a:tcPr>
                </a:tc>
                <a:tc>
                  <a:txBody>
                    <a:bodyPr/>
                    <a:lstStyle/>
                    <a:p>
                      <a:pPr>
                        <a:defRPr sz="1400" b="1">
                          <a:solidFill>
                            <a:srgbClr val="FFFFFF"/>
                          </a:solidFill>
                        </a:defRPr>
                      </a:pPr>
                      <a:r>
                        <a:t>API Name</a:t>
                      </a:r>
                    </a:p>
                  </a:txBody>
                  <a:tcPr>
                    <a:solidFill>
                      <a:srgbClr val="232F3E"/>
                    </a:solidFill>
                  </a:tcPr>
                </a:tc>
                <a:tc>
                  <a:txBody>
                    <a:bodyPr/>
                    <a:lstStyle/>
                    <a:p>
                      <a:pPr>
                        <a:defRPr sz="1400" b="1">
                          <a:solidFill>
                            <a:srgbClr val="FFFFFF"/>
                          </a:solidFill>
                        </a:defRPr>
                      </a:pPr>
                      <a:r>
                        <a:t>Max IOPS</a:t>
                      </a:r>
                    </a:p>
                  </a:txBody>
                  <a:tcPr>
                    <a:solidFill>
                      <a:srgbClr val="232F3E"/>
                    </a:solidFill>
                  </a:tcPr>
                </a:tc>
                <a:tc>
                  <a:txBody>
                    <a:bodyPr/>
                    <a:lstStyle/>
                    <a:p>
                      <a:pPr>
                        <a:defRPr sz="1400" b="1">
                          <a:solidFill>
                            <a:srgbClr val="FFFFFF"/>
                          </a:solidFill>
                        </a:defRPr>
                      </a:pPr>
                      <a:r>
                        <a:t>Max Throughput</a:t>
                      </a:r>
                    </a:p>
                  </a:txBody>
                  <a:tcPr>
                    <a:solidFill>
                      <a:srgbClr val="232F3E"/>
                    </a:solidFill>
                  </a:tcPr>
                </a:tc>
                <a:tc>
                  <a:txBody>
                    <a:bodyPr/>
                    <a:lstStyle/>
                    <a:p>
                      <a:pPr>
                        <a:defRPr sz="1400" b="1">
                          <a:solidFill>
                            <a:srgbClr val="FFFFFF"/>
                          </a:solidFill>
                        </a:defRPr>
                      </a:pPr>
                      <a:r>
                        <a:t>Use Cases</a:t>
                      </a:r>
                    </a:p>
                  </a:txBody>
                  <a:tcPr>
                    <a:solidFill>
                      <a:srgbClr val="232F3E"/>
                    </a:solidFill>
                  </a:tcPr>
                </a:tc>
              </a:tr>
              <a:tr h="365760">
                <a:tc>
                  <a:txBody>
                    <a:bodyPr/>
                    <a:lstStyle/>
                    <a:p>
                      <a:pPr>
                        <a:defRPr sz="1200"/>
                      </a:pPr>
                      <a:r>
                        <a:t>Cold HDD</a:t>
                      </a:r>
                    </a:p>
                  </a:txBody>
                  <a:tcPr>
                    <a:solidFill>
                      <a:srgbClr val="F2F3F4"/>
                    </a:solidFill>
                  </a:tcPr>
                </a:tc>
                <a:tc>
                  <a:txBody>
                    <a:bodyPr/>
                    <a:lstStyle/>
                    <a:p>
                      <a:pPr>
                        <a:defRPr sz="1200"/>
                      </a:pPr>
                      <a:r>
                        <a:t>sc1</a:t>
                      </a:r>
                    </a:p>
                  </a:txBody>
                  <a:tcPr>
                    <a:solidFill>
                      <a:srgbClr val="F2F3F4"/>
                    </a:solidFill>
                  </a:tcPr>
                </a:tc>
                <a:tc>
                  <a:txBody>
                    <a:bodyPr/>
                    <a:lstStyle/>
                    <a:p>
                      <a:pPr>
                        <a:defRPr sz="1200"/>
                      </a:pPr>
                      <a:r>
                        <a:t>250</a:t>
                      </a:r>
                    </a:p>
                  </a:txBody>
                  <a:tcPr>
                    <a:solidFill>
                      <a:srgbClr val="F2F3F4"/>
                    </a:solidFill>
                  </a:tcPr>
                </a:tc>
                <a:tc>
                  <a:txBody>
                    <a:bodyPr/>
                    <a:lstStyle/>
                    <a:p>
                      <a:pPr>
                        <a:defRPr sz="1200"/>
                      </a:pPr>
                      <a:r>
                        <a:t>250 MiB/s</a:t>
                      </a:r>
                    </a:p>
                  </a:txBody>
                  <a:tcPr>
                    <a:solidFill>
                      <a:srgbClr val="F2F3F4"/>
                    </a:solidFill>
                  </a:tcPr>
                </a:tc>
                <a:tc>
                  <a:txBody>
                    <a:bodyPr/>
                    <a:lstStyle/>
                    <a:p>
                      <a:pPr>
                        <a:defRPr sz="1200"/>
                      </a:pPr>
                      <a:r>
                        <a:t>Infrequent access, lowest cost</a:t>
                      </a:r>
                    </a:p>
                  </a:txBody>
                  <a:tcPr>
                    <a:solidFill>
                      <a:srgbClr val="F2F3F4"/>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EBS volume types: HDD</a:t>
            </a:r>
          </a:p>
        </p:txBody>
      </p:sp>
      <p:sp>
        <p:nvSpPr>
          <p:cNvPr id="3" name="Content Placeholder 2"/>
          <p:cNvSpPr>
            <a:spLocks noGrp="1"/>
          </p:cNvSpPr>
          <p:nvPr>
            <p:ph idx="1"/>
          </p:nvPr>
        </p:nvSpPr>
        <p:spPr/>
        <p:txBody>
          <a:bodyPr/>
          <a:lstStyle/>
          <a:p>
            <a:pPr>
              <a:defRPr sz="1400" i="1">
                <a:solidFill>
                  <a:srgbClr val="555555"/>
                </a:solidFill>
              </a:defRPr>
            </a:pPr>
            <a:r>
              <a:t>For most workloads, gp3 is the best starting point. It provides 3,000 IOPS baseline at no extra cost.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EBS snapshots and encryption</a:t>
            </a:r>
          </a:p>
        </p:txBody>
      </p:sp>
      <p:sp>
        <p:nvSpPr>
          <p:cNvPr id="3" name="Content Placeholder 2"/>
          <p:cNvSpPr>
            <a:spLocks noGrp="1"/>
          </p:cNvSpPr>
          <p:nvPr>
            <p:ph idx="1"/>
          </p:nvPr>
        </p:nvSpPr>
        <p:spPr/>
        <p:txBody>
          <a:bodyPr/>
          <a:lstStyle/>
          <a:p>
            <a:pPr>
              <a:defRPr sz="1800"/>
            </a:pPr>
            <a:r>
              <a:t>Snapshots: point-in-time backups stored in S3 (incremental)</a:t>
            </a:r>
          </a:p>
          <a:p>
            <a:pPr>
              <a:defRPr sz="1800"/>
            </a:pPr>
            <a:r>
              <a:t>Use for backup, AMI creation, and cross-Region replication</a:t>
            </a:r>
          </a:p>
          <a:p>
            <a:pPr>
              <a:defRPr sz="1800"/>
            </a:pPr>
            <a:r>
              <a:t>Encryption: uses AWS KMS, transparent to the OS</a:t>
            </a:r>
          </a:p>
          <a:p>
            <a:pPr>
              <a:defRPr sz="1800"/>
            </a:pPr>
            <a:r>
              <a:t>Enable encryption by default for your account</a:t>
            </a:r>
          </a:p>
          <a:p>
            <a:pPr>
              <a:defRPr sz="1800"/>
            </a:pPr>
            <a:r>
              <a:t>EBS volumes exist in a single AZ</a:t>
            </a:r>
          </a:p>
          <a:p>
            <a:pPr>
              <a:defRPr sz="1400" i="1">
                <a:solidFill>
                  <a:srgbClr val="555555"/>
                </a:solidFill>
              </a:defRPr>
            </a:pPr>
            <a:r>
              <a:t>You cannot encrypt an existing unencrypted volume directly. Create a snapshot, copy with encryption, then create a new volume.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Discussion: choosing storage for a database</a:t>
            </a:r>
          </a:p>
        </p:txBody>
      </p:sp>
      <p:sp>
        <p:nvSpPr>
          <p:cNvPr id="3" name="Content Placeholder 2"/>
          <p:cNvSpPr>
            <a:spLocks noGrp="1"/>
          </p:cNvSpPr>
          <p:nvPr>
            <p:ph idx="1"/>
          </p:nvPr>
        </p:nvSpPr>
        <p:spPr/>
        <p:txBody>
          <a:bodyPr/>
          <a:lstStyle/>
          <a:p>
            <a:pPr>
              <a:defRPr sz="1600"/>
            </a:pPr>
            <a:r>
              <a:t>Your team needs persistent storage for a PostgreSQL database that requires 10,000 IOPS consistently.</a:t>
            </a:r>
          </a:p>
          <a:p>
            <a:pPr>
              <a:defRPr sz="1600"/>
            </a:pPr>
            <a:r>
              <a:t>Which EBS volume type would you choose, and why?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User data scripts</a:t>
            </a:r>
          </a:p>
        </p:txBody>
      </p:sp>
      <p:sp>
        <p:nvSpPr>
          <p:cNvPr id="3" name="Text Placeholder 2"/>
          <p:cNvSpPr>
            <a:spLocks noGrp="1"/>
          </p:cNvSpPr>
          <p:nvPr>
            <p:ph type="body" idx="1"/>
          </p:nvPr>
        </p:nvSpPr>
        <p:spPr/>
        <p:txBody>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Bootstrapping instances at launch</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#!/bin/bash</a:t>
            </a:r>
            <a:br/>
            <a:r>
              <a:t>yum update -y</a:t>
            </a:r>
            <a:br/>
            <a:r>
              <a:t>yum install -y httpd</a:t>
            </a:r>
            <a:br/>
            <a:r>
              <a:t>systemctl start httpd</a:t>
            </a:r>
            <a:br/>
            <a:r>
              <a:t>systemctl enable httpd</a:t>
            </a:r>
            <a:br/>
            <a:r>
              <a:t>echo "&lt;h1&gt;Hello from EC2&lt;/h1&gt;" &gt; /var/www/html/index.html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 Scaling groups</a:t>
            </a:r>
          </a:p>
        </p:txBody>
      </p:sp>
      <p:sp>
        <p:nvSpPr>
          <p:cNvPr id="3" name="Text Placeholder 2"/>
          <p:cNvSpPr>
            <a:spLocks noGrp="1"/>
          </p:cNvSpPr>
          <p:nvPr>
            <p:ph type="body" idx="1"/>
          </p:nvPr>
        </p:nvSpPr>
        <p:spPr/>
        <p:txBody>
          <a:bodyP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Launch templates and capacity settings</a:t>
            </a:r>
          </a:p>
        </p:txBody>
      </p:sp>
      <p:graphicFrame>
        <p:nvGraphicFramePr>
          <p:cNvPr id="4" name="Table 3"/>
          <p:cNvGraphicFramePr>
            <a:graphicFrameLocks noGrp="1"/>
          </p:cNvGraphicFramePr>
          <p:nvPr/>
        </p:nvGraphicFramePr>
        <p:xfrm>
          <a:off x="457200" y="1097280"/>
          <a:ext cx="8229600" cy="109728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Setting</a:t>
                      </a:r>
                    </a:p>
                  </a:txBody>
                  <a:tcPr>
                    <a:solidFill>
                      <a:srgbClr val="232F3E"/>
                    </a:solidFill>
                  </a:tcPr>
                </a:tc>
                <a:tc>
                  <a:txBody>
                    <a:bodyPr/>
                    <a:lstStyle/>
                    <a:p>
                      <a:pPr>
                        <a:defRPr sz="1400" b="1">
                          <a:solidFill>
                            <a:srgbClr val="FFFFFF"/>
                          </a:solidFill>
                        </a:defRPr>
                      </a:pPr>
                      <a:r>
                        <a:t>Description</a:t>
                      </a:r>
                    </a:p>
                  </a:txBody>
                  <a:tcPr>
                    <a:solidFill>
                      <a:srgbClr val="232F3E"/>
                    </a:solidFill>
                  </a:tcPr>
                </a:tc>
              </a:tr>
              <a:tr h="365760">
                <a:tc>
                  <a:txBody>
                    <a:bodyPr/>
                    <a:lstStyle/>
                    <a:p>
                      <a:pPr>
                        <a:defRPr sz="1200"/>
                      </a:pPr>
                      <a:r>
                        <a:t>Desired capacity</a:t>
                      </a:r>
                    </a:p>
                  </a:txBody>
                  <a:tcPr>
                    <a:solidFill>
                      <a:srgbClr val="F2F3F4"/>
                    </a:solidFill>
                  </a:tcPr>
                </a:tc>
                <a:tc>
                  <a:txBody>
                    <a:bodyPr/>
                    <a:lstStyle/>
                    <a:p>
                      <a:pPr>
                        <a:defRPr sz="1200"/>
                      </a:pPr>
                      <a:r>
                        <a:t>Target number of instances at any time</a:t>
                      </a:r>
                    </a:p>
                  </a:txBody>
                  <a:tcPr>
                    <a:solidFill>
                      <a:srgbClr val="F2F3F4"/>
                    </a:solidFill>
                  </a:tcPr>
                </a:tc>
              </a:tr>
              <a:tr h="365760">
                <a:tc>
                  <a:txBody>
                    <a:bodyPr/>
                    <a:lstStyle/>
                    <a:p>
                      <a:pPr>
                        <a:defRPr sz="1200"/>
                      </a:pPr>
                      <a:r>
                        <a:t>Maximum capacity</a:t>
                      </a:r>
                    </a:p>
                  </a:txBody>
                  <a:tcPr/>
                </a:tc>
                <a:tc>
                  <a:txBody>
                    <a:bodyPr/>
                    <a:lstStyle/>
                    <a:p>
                      <a:pPr>
                        <a:defRPr sz="1200"/>
                      </a:pPr>
                      <a:r>
                        <a:t>Highest number the group can scale to</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Launch templates and capacity settings</a:t>
            </a:r>
          </a:p>
        </p:txBody>
      </p:sp>
      <p:sp>
        <p:nvSpPr>
          <p:cNvPr id="3" name="Content Placeholder 2"/>
          <p:cNvSpPr>
            <a:spLocks noGrp="1"/>
          </p:cNvSpPr>
          <p:nvPr>
            <p:ph idx="1"/>
          </p:nvPr>
        </p:nvSpPr>
        <p:spPr/>
        <p:txBody>
          <a:bodyPr/>
          <a:lstStyle/>
          <a:p>
            <a:pPr>
              <a:defRPr sz="1800"/>
            </a:pPr>
            <a:r>
              <a:t>Launch template: specifies AMI, instance type, key pair, security groups, user data, and IAM profile</a:t>
            </a:r>
          </a:p>
          <a:p>
            <a:pPr>
              <a:defRPr sz="1800"/>
            </a:pPr>
            <a:r>
              <a:t>Supports versioning for rollback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Scaling policies</a:t>
            </a:r>
          </a:p>
        </p:txBody>
      </p:sp>
      <p:sp>
        <p:nvSpPr>
          <p:cNvPr id="3" name="Content Placeholder 2"/>
          <p:cNvSpPr>
            <a:spLocks noGrp="1"/>
          </p:cNvSpPr>
          <p:nvPr>
            <p:ph idx="1"/>
          </p:nvPr>
        </p:nvSpPr>
        <p:spPr/>
        <p:txBody>
          <a:bodyPr/>
          <a:lstStyle/>
          <a:p>
            <a:pPr>
              <a:defRPr sz="1800"/>
            </a:pPr>
            <a:r>
              <a:t>Target tracking: maintain a metric target (e.g., CPU at 50%)</a:t>
            </a:r>
          </a:p>
          <a:p>
            <a:pPr>
              <a:defRPr sz="1800"/>
            </a:pPr>
            <a:r>
              <a:t>Step scaling: add instances based on CloudWatch alarm thresholds</a:t>
            </a:r>
          </a:p>
          <a:p>
            <a:pPr>
              <a:defRPr sz="1800"/>
            </a:pPr>
            <a:r>
              <a:t>Scheduled scaling: scale on a time-based schedule</a:t>
            </a:r>
          </a:p>
          <a:p>
            <a:pPr>
              <a:defRPr sz="1600"/>
            </a:pPr>
            <a:r>
              <a:t>Health checks detect unhealthy instances and replace them automatically. Always span at least two AZs for high availability.</a:t>
            </a:r>
          </a:p>
          <a:p>
            <a:pPr>
              <a:defRPr sz="1400" i="1">
                <a:solidFill>
                  <a:srgbClr val="555555"/>
                </a:solidFill>
              </a:defRPr>
            </a:pPr>
            <a:r>
              <a:t>Target tracking is the simplest and most commonly used policy type.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Think about it: Auto Scaling scenario</a:t>
            </a:r>
          </a:p>
        </p:txBody>
      </p:sp>
      <p:sp>
        <p:nvSpPr>
          <p:cNvPr id="3" name="Content Placeholder 2"/>
          <p:cNvSpPr>
            <a:spLocks noGrp="1"/>
          </p:cNvSpPr>
          <p:nvPr>
            <p:ph idx="1"/>
          </p:nvPr>
        </p:nvSpPr>
        <p:spPr/>
        <p:txBody>
          <a:bodyPr/>
          <a:lstStyle/>
          <a:p>
            <a:pPr>
              <a:defRPr sz="1600"/>
            </a:pPr>
            <a:r>
              <a:t>Your web application runs on an Auto Scaling group with min=2, desired=2, max=6. During a flash sale, CPU utilization spikes to 90%.</a:t>
            </a:r>
          </a:p>
          <a:p>
            <a:pPr>
              <a:defRPr sz="1600"/>
            </a:pPr>
            <a:r>
              <a:t>What happens if you have a target tracking policy set to 50% CPU?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EC2 pricing models</a:t>
            </a:r>
          </a:p>
        </p:txBody>
      </p:sp>
      <p:sp>
        <p:nvSpPr>
          <p:cNvPr id="3" name="Text Placeholder 2"/>
          <p:cNvSpPr>
            <a:spLocks noGrp="1"/>
          </p:cNvSpPr>
          <p:nvPr>
            <p:ph type="body" idx="1"/>
          </p:nvPr>
        </p:nvSpPr>
        <p:spPr/>
        <p:txBody>
          <a:bodyPr/>
          <a:lstStyle/>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Pricing model comparison</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pPr>
                        <a:defRPr sz="1400" b="1">
                          <a:solidFill>
                            <a:srgbClr val="FFFFFF"/>
                          </a:solidFill>
                        </a:defRPr>
                      </a:pPr>
                      <a:r>
                        <a:t>Model</a:t>
                      </a:r>
                    </a:p>
                  </a:txBody>
                  <a:tcPr>
                    <a:solidFill>
                      <a:srgbClr val="232F3E"/>
                    </a:solidFill>
                  </a:tcPr>
                </a:tc>
                <a:tc>
                  <a:txBody>
                    <a:bodyPr/>
                    <a:lstStyle/>
                    <a:p>
                      <a:pPr>
                        <a:defRPr sz="1400" b="1">
                          <a:solidFill>
                            <a:srgbClr val="FFFFFF"/>
                          </a:solidFill>
                        </a:defRPr>
                      </a:pPr>
                      <a:r>
                        <a:t>Commitment</a:t>
                      </a:r>
                    </a:p>
                  </a:txBody>
                  <a:tcPr>
                    <a:solidFill>
                      <a:srgbClr val="232F3E"/>
                    </a:solidFill>
                  </a:tcPr>
                </a:tc>
                <a:tc>
                  <a:txBody>
                    <a:bodyPr/>
                    <a:lstStyle/>
                    <a:p>
                      <a:pPr>
                        <a:defRPr sz="1400" b="1">
                          <a:solidFill>
                            <a:srgbClr val="FFFFFF"/>
                          </a:solidFill>
                        </a:defRPr>
                      </a:pPr>
                      <a:r>
                        <a:t>Discount</a:t>
                      </a:r>
                    </a:p>
                  </a:txBody>
                  <a:tcPr>
                    <a:solidFill>
                      <a:srgbClr val="232F3E"/>
                    </a:solidFill>
                  </a:tcPr>
                </a:tc>
                <a:tc>
                  <a:txBody>
                    <a:bodyPr/>
                    <a:lstStyle/>
                    <a:p>
                      <a:pPr>
                        <a:defRPr sz="1400" b="1">
                          <a:solidFill>
                            <a:srgbClr val="FFFFFF"/>
                          </a:solidFill>
                        </a:defRPr>
                      </a:pPr>
                      <a:r>
                        <a:t>Best For</a:t>
                      </a:r>
                    </a:p>
                  </a:txBody>
                  <a:tcPr>
                    <a:solidFill>
                      <a:srgbClr val="232F3E"/>
                    </a:solidFill>
                  </a:tcPr>
                </a:tc>
              </a:tr>
              <a:tr h="365760">
                <a:tc>
                  <a:txBody>
                    <a:bodyPr/>
                    <a:lstStyle/>
                    <a:p>
                      <a:pPr>
                        <a:defRPr sz="1200"/>
                      </a:pPr>
                      <a:r>
                        <a:t>Reserved Instances</a:t>
                      </a:r>
                    </a:p>
                  </a:txBody>
                  <a:tcPr>
                    <a:solidFill>
                      <a:srgbClr val="F2F3F4"/>
                    </a:solidFill>
                  </a:tcPr>
                </a:tc>
                <a:tc>
                  <a:txBody>
                    <a:bodyPr/>
                    <a:lstStyle/>
                    <a:p>
                      <a:pPr>
                        <a:defRPr sz="1200"/>
                      </a:pPr>
                      <a:r>
                        <a:t>1 or 3 years</a:t>
                      </a:r>
                    </a:p>
                  </a:txBody>
                  <a:tcPr>
                    <a:solidFill>
                      <a:srgbClr val="F2F3F4"/>
                    </a:solidFill>
                  </a:tcPr>
                </a:tc>
                <a:tc>
                  <a:txBody>
                    <a:bodyPr/>
                    <a:lstStyle/>
                    <a:p>
                      <a:pPr>
                        <a:defRPr sz="1200"/>
                      </a:pPr>
                      <a:r>
                        <a:t>Up to 72%</a:t>
                      </a:r>
                    </a:p>
                  </a:txBody>
                  <a:tcPr>
                    <a:solidFill>
                      <a:srgbClr val="F2F3F4"/>
                    </a:solidFill>
                  </a:tcPr>
                </a:tc>
                <a:tc>
                  <a:txBody>
                    <a:bodyPr/>
                    <a:lstStyle/>
                    <a:p>
                      <a:pPr>
                        <a:defRPr sz="1200"/>
                      </a:pPr>
                      <a:r>
                        <a:t>Steady-state, predictable usage</a:t>
                      </a:r>
                    </a:p>
                  </a:txBody>
                  <a:tcPr>
                    <a:solidFill>
                      <a:srgbClr val="F2F3F4"/>
                    </a:solidFill>
                  </a:tcPr>
                </a:tc>
              </a:tr>
              <a:tr h="365760">
                <a:tc>
                  <a:txBody>
                    <a:bodyPr/>
                    <a:lstStyle/>
                    <a:p>
                      <a:pPr>
                        <a:defRPr sz="1200"/>
                      </a:pPr>
                      <a:r>
                        <a:t>Savings Plans</a:t>
                      </a:r>
                    </a:p>
                  </a:txBody>
                  <a:tcPr/>
                </a:tc>
                <a:tc>
                  <a:txBody>
                    <a:bodyPr/>
                    <a:lstStyle/>
                    <a:p>
                      <a:pPr>
                        <a:defRPr sz="1200"/>
                      </a:pPr>
                      <a:r>
                        <a:t>1 or 3 years</a:t>
                      </a:r>
                    </a:p>
                  </a:txBody>
                  <a:tcPr/>
                </a:tc>
                <a:tc>
                  <a:txBody>
                    <a:bodyPr/>
                    <a:lstStyle/>
                    <a:p>
                      <a:pPr>
                        <a:defRPr sz="1200"/>
                      </a:pPr>
                      <a:r>
                        <a:t>Up to 72%</a:t>
                      </a:r>
                    </a:p>
                  </a:txBody>
                  <a:tcPr/>
                </a:tc>
                <a:tc>
                  <a:txBody>
                    <a:bodyPr/>
                    <a:lstStyle/>
                    <a:p>
                      <a:pPr>
                        <a:defRPr sz="1200"/>
                      </a:pPr>
                      <a:r>
                        <a:t>Flexible commitment across services</a:t>
                      </a:r>
                    </a:p>
                  </a:txBody>
                  <a:tcPr/>
                </a:tc>
              </a:tr>
              <a:tr h="365760">
                <a:tc>
                  <a:txBody>
                    <a:bodyPr/>
                    <a:lstStyle/>
                    <a:p>
                      <a:pPr>
                        <a:defRPr sz="1200"/>
                      </a:pPr>
                      <a:r>
                        <a:t>Spot Instances</a:t>
                      </a:r>
                    </a:p>
                  </a:txBody>
                  <a:tcPr>
                    <a:solidFill>
                      <a:srgbClr val="F2F3F4"/>
                    </a:solidFill>
                  </a:tcPr>
                </a:tc>
                <a:tc>
                  <a:txBody>
                    <a:bodyPr/>
                    <a:lstStyle/>
                    <a:p>
                      <a:pPr>
                        <a:defRPr sz="1200"/>
                      </a:pPr>
                      <a:r>
                        <a:t>None</a:t>
                      </a:r>
                    </a:p>
                  </a:txBody>
                  <a:tcPr>
                    <a:solidFill>
                      <a:srgbClr val="F2F3F4"/>
                    </a:solidFill>
                  </a:tcPr>
                </a:tc>
                <a:tc>
                  <a:txBody>
                    <a:bodyPr/>
                    <a:lstStyle/>
                    <a:p>
                      <a:pPr>
                        <a:defRPr sz="1200"/>
                      </a:pPr>
                      <a:r>
                        <a:t>Up to 90%</a:t>
                      </a:r>
                    </a:p>
                  </a:txBody>
                  <a:tcPr>
                    <a:solidFill>
                      <a:srgbClr val="F2F3F4"/>
                    </a:solidFill>
                  </a:tcPr>
                </a:tc>
                <a:tc>
                  <a:txBody>
                    <a:bodyPr/>
                    <a:lstStyle/>
                    <a:p>
                      <a:pPr>
                        <a:defRPr sz="1200"/>
                      </a:pPr>
                      <a:r>
                        <a:t>Fault-tolerant batch processing</a:t>
                      </a:r>
                    </a:p>
                  </a:txBody>
                  <a:tcPr>
                    <a:solidFill>
                      <a:srgbClr val="F2F3F4"/>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Instances: the trade-off</a:t>
            </a:r>
          </a:p>
        </p:txBody>
      </p:sp>
      <p:sp>
        <p:nvSpPr>
          <p:cNvPr id="3" name="Content Placeholder 2"/>
          <p:cNvSpPr>
            <a:spLocks noGrp="1"/>
          </p:cNvSpPr>
          <p:nvPr>
            <p:ph idx="1"/>
          </p:nvPr>
        </p:nvSpPr>
        <p:spPr/>
        <p:txBody>
          <a:bodyPr/>
          <a:lstStyle/>
          <a:p>
            <a:pPr>
              <a:defRPr sz="1800"/>
            </a:pPr>
            <a:r>
              <a:t>Up to 90% discount on spare EC2 capacity</a:t>
            </a:r>
          </a:p>
          <a:p>
            <a:pPr>
              <a:defRPr sz="1800"/>
            </a:pPr>
            <a:r>
              <a:t>AWS can reclaim with a two-minute warning</a:t>
            </a:r>
          </a:p>
          <a:p>
            <a:pPr>
              <a:defRPr sz="1800"/>
            </a:pPr>
            <a:r>
              <a:t>Ideal for fault-tolerant, flexible, stateless workloads</a:t>
            </a:r>
          </a:p>
          <a:p>
            <a:pPr>
              <a:defRPr sz="1800"/>
            </a:pPr>
            <a:r>
              <a:t>Common uses: batch processing, CI/CD builds, containerized services</a:t>
            </a:r>
          </a:p>
          <a:p>
            <a:pPr>
              <a:defRPr sz="1400" i="1">
                <a:solidFill>
                  <a:srgbClr val="555555"/>
                </a:solidFill>
              </a:defRPr>
            </a:pPr>
            <a:r>
              <a:t>Do not use Spot for databases or single-instance apps without failover.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a:defRPr sz="1800"/>
            </a:pPr>
            <a:r>
              <a:t>EC2 provides virtual servers launched into VPC subnets with security groups and IAM roles (via instance profiles) granting permissions to other AWS services.</a:t>
            </a:r>
          </a:p>
          <a:p>
            <a:pPr>
              <a:defRPr sz="1800"/>
            </a:pPr>
            <a:r>
              <a:t>Instance types follow a naming convention (family, generation, size) mapping to workload categories: general purpose (T, M), compute (C), memory (R), storage (I), accelerated (G, P).</a:t>
            </a:r>
          </a:p>
          <a:p>
            <a:pPr>
              <a:defRPr sz="1800"/>
            </a:pPr>
            <a:r>
              <a:t>Amazon EBS provides persistent block storage with four volume types (gp3, io2, st1, sc1). Use snapshots for backups and encryption for data protection.</a:t>
            </a:r>
          </a:p>
          <a:p>
            <a:pPr>
              <a:defRPr sz="1800"/>
            </a:pPr>
            <a:r>
              <a:t>Auto Scaling groups with launch templates maintain desired instance count, replace unhealthy instances, and scale based on demand across multiple AZs.</a:t>
            </a:r>
          </a:p>
          <a:p>
            <a:pPr>
              <a:defRPr sz="1800"/>
            </a:pPr>
            <a:r>
              <a:t>EC2 pricing models (On-Demand, Reserved, Savings Plans, Spot) offer trade-offs between flexibility and cost savings.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preview: launching and managing EC2 instances</a:t>
            </a:r>
          </a:p>
        </p:txBody>
      </p:sp>
      <p:sp>
        <p:nvSpPr>
          <p:cNvPr id="3" name="Content Placeholder 2"/>
          <p:cNvSpPr>
            <a:spLocks noGrp="1"/>
          </p:cNvSpPr>
          <p:nvPr>
            <p:ph idx="1"/>
          </p:nvPr>
        </p:nvSpPr>
        <p:spPr/>
        <p:txBody>
          <a:bodyPr/>
          <a:lstStyle/>
          <a:p>
            <a:pPr>
              <a:defRPr sz="1600"/>
            </a:pPr>
            <a:r>
              <a:t>Objective: Launch EC2 instances with user data, attach EBS volumes, create snapshots, and configure an Auto Scaling group</a:t>
            </a:r>
          </a:p>
          <a:p>
            <a:pPr>
              <a:defRPr sz="1600"/>
            </a:pPr>
            <a:r>
              <a:t>Key services: Amazon EC2, EBS, Auto Scaling, VPC, IAM</a:t>
            </a:r>
          </a:p>
          <a:p>
            <a:pPr>
              <a:defRPr sz="1600"/>
            </a:pPr>
            <a:r>
              <a:t>Duration: 60 minutes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a:lstStyle/>
          <a:p>
            <a:pPr>
              <a:defRPr sz="1600"/>
            </a:pPr>
            <a:r>
              <a:t>Review `modules/04-compute-ec2/resources.md` for further reading.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