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students to Module 03. This module covers VPC networking, the foundation for every AWS resource that needs network connectivity. Total time: ~90 minutes. Breakdown: 15 min VPC fundamentals and CIDR, 15 min subnets, 15 min gateways, 15 min route tables, 15 min security groups and NACLs, 15 min design patterns and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Start by connecting to Module 01's Regions and AZs. Draw a Region with two AZs, then draw a VPC spanning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Choose a non-overlapping range like 10.0.0.0/16 or 10.2.0.0/16. Overlapping CIDR blocks cause routing conflicts when connecting networks. This is why planning IP address space before creating the VPC is critical. You cannot change the primary CIDR block after creation.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Explain that subnets divide the VPC's address space and each subnet lives in a single AZ.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B) Private subnet. Placing the database in a private subnet means it has no direct internet access, reducing the attack surface. The web server in the public subnet connects to the database through security group rules. This follows the principle of least privilege applied to network access.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Explain the two gateway types and when each is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Explain how route tables control traffic flow and the difference between main and custom route 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This is where students often get confused. Emphasize the stateful vs. stateless distinction and use the comparison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The NACL is stateless, so the outbound rule for ephemeral ports (1024-65535) is missing. The security group is stateful and would allow the response automatically, but the NACL requires an explicit outbound rule for the return traffic. This is the most common NACL troubleshooting scenario.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Cover two-tier and three-tier architectures. Draw the three-tier architecture on the whiteboard and ask students to define security group rules for each tier.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answers: ALB SG allows inbound HTTP/HTTPS from 0.0.0.0/0. App server SG allows inbound on the app port from the ALB security group only. RDS SG allows inbound on port 5432 (PostgreSQL) from the app server security group only. Each tier only accepts traffic from the tier above it. This is layered security following the principle of least privilege.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Remind students they will create a VPC from scratch in us-east-1. They will launch an EC2 instance in the public subnet and verify internet connectivity, then launch one in the private subnet and verify it can reach the internet only through the NAT gateway. Have students review Module 03 prerequisites before starting.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at this point involve CIDR math and the stateful vs. stateless distinction. If time permits, do a quick whiteboard exercise calculating usable IPs in a /24 and /28 subnet.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03: Networking Basics (VPC)</a:t>
            </a:r>
          </a:p>
        </p:txBody>
      </p:sp>
      <p:sp>
        <p:nvSpPr>
          <p:cNvPr id="3" name="Content Placeholder 2"/>
          <p:cNvSpPr>
            <a:spLocks noGrp="1"/>
          </p:cNvSpPr>
          <p:nvPr>
            <p:ph idx="1"/>
          </p:nvPr>
        </p:nvSpPr>
        <p:spPr/>
        <p:txBody>
          <a:bodyPr/>
          <a:lstStyle/>
          <a:p>
            <a:pPr>
              <a:defRPr sz="1600"/>
            </a:pPr>
            <a:r>
              <a:t>Phase 1: Cloud Foundations</a:t>
            </a:r>
          </a:p>
          <a:p>
            <a:pPr>
              <a:defRPr sz="1600"/>
            </a:pPr>
            <a:r>
              <a:t>Estimated lecture time: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Define a Virtual Private Cloud (VPC) and explain its role as the networking foundation</a:t>
            </a:r>
          </a:p>
          <a:p>
            <a:pPr>
              <a:defRPr sz="1800"/>
            </a:pPr>
            <a:r>
              <a:t>Describe the difference between the default VPC and a custom VPC</a:t>
            </a:r>
          </a:p>
          <a:p>
            <a:pPr>
              <a:defRPr sz="1800"/>
            </a:pPr>
            <a:r>
              <a:t>Explain CIDR notation and how it determines VPC and subnet size</a:t>
            </a:r>
          </a:p>
          <a:p>
            <a:pPr>
              <a:defRPr sz="1800"/>
            </a:pPr>
            <a:r>
              <a:t>Distinguish between public subnets and private subnets</a:t>
            </a:r>
          </a:p>
          <a:p>
            <a:pPr>
              <a:defRPr sz="1800"/>
            </a:pPr>
            <a:r>
              <a:t>Describe how internet gateways and NAT gateways provide internet access</a:t>
            </a:r>
          </a:p>
          <a:p>
            <a:pPr>
              <a:defRPr sz="1800"/>
            </a:pPr>
            <a:r>
              <a:t>Explain how route tables control network traffic flow</a:t>
            </a:r>
          </a:p>
          <a:p>
            <a:pPr>
              <a:defRPr sz="1800"/>
            </a:pPr>
            <a:r>
              <a:t>Distinguish between security groups (stateful) and NACLs (stateless)</a:t>
            </a:r>
          </a:p>
          <a:p>
            <a:pPr>
              <a:defRPr sz="1800"/>
            </a:pPr>
            <a:r>
              <a:t>Identify common VPC design patterns (two-tier and three-tier)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 01 (Cloud Fundamentals), Module 02 (IAM and Security), AWS account with console access</a:t>
            </a:r>
          </a:p>
          <a:p>
            <a:pPr>
              <a:defRPr sz="1600"/>
            </a:pPr>
            <a:r>
              <a:t>Agenda:</a:t>
            </a:r>
          </a:p>
          <a:p>
            <a:pPr>
              <a:defRPr sz="1800"/>
            </a:pPr>
            <a:r>
              <a:t>VPC fundamentals</a:t>
            </a:r>
          </a:p>
          <a:p>
            <a:pPr>
              <a:defRPr sz="1800"/>
            </a:pPr>
            <a:r>
              <a:t>Subnets: public vs. private</a:t>
            </a:r>
          </a:p>
          <a:p>
            <a:pPr>
              <a:defRPr sz="1800"/>
            </a:pPr>
            <a:r>
              <a:t>Internet gateway and NAT gateway</a:t>
            </a:r>
          </a:p>
          <a:p>
            <a:pPr>
              <a:defRPr sz="1800"/>
            </a:pPr>
            <a:r>
              <a:t>Route tables</a:t>
            </a:r>
          </a:p>
          <a:p>
            <a:pPr>
              <a:defRPr sz="1800"/>
            </a:pPr>
            <a:r>
              <a:t>Security groups and network ACLs</a:t>
            </a:r>
          </a:p>
          <a:p>
            <a:pPr>
              <a:defRPr sz="1800"/>
            </a:pPr>
            <a:r>
              <a:t>VPC design patterns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VPC fundamentals</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VPC?</a:t>
            </a:r>
          </a:p>
        </p:txBody>
      </p:sp>
      <p:sp>
        <p:nvSpPr>
          <p:cNvPr id="3" name="Content Placeholder 2"/>
          <p:cNvSpPr>
            <a:spLocks noGrp="1"/>
          </p:cNvSpPr>
          <p:nvPr>
            <p:ph idx="1"/>
          </p:nvPr>
        </p:nvSpPr>
        <p:spPr/>
        <p:txBody>
          <a:bodyPr/>
          <a:lstStyle/>
          <a:p>
            <a:pPr>
              <a:defRPr sz="1800"/>
            </a:pPr>
            <a:r>
              <a:t>A logically isolated virtual network within your AWS account</a:t>
            </a:r>
          </a:p>
          <a:p>
            <a:pPr>
              <a:defRPr sz="1800"/>
            </a:pPr>
            <a:r>
              <a:t>Every networked AWS resource runs inside a VPC</a:t>
            </a:r>
          </a:p>
          <a:p>
            <a:pPr>
              <a:defRPr sz="1800"/>
            </a:pPr>
            <a:r>
              <a:t>You control IP address range, subnets, route tables, and gateways</a:t>
            </a:r>
          </a:p>
          <a:p>
            <a:pPr>
              <a:defRPr sz="1800"/>
            </a:pPr>
            <a:r>
              <a:t>A VPC exists in a single Region but spans multiple AZs</a:t>
            </a:r>
          </a:p>
          <a:p>
            <a:pPr>
              <a:defRPr sz="1800"/>
            </a:pPr>
            <a:r>
              <a:t>Think of it as your own private data center in the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Default VPC vs. custom VPC</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Default VPC</a:t>
                      </a:r>
                    </a:p>
                  </a:txBody>
                  <a:tcPr>
                    <a:solidFill>
                      <a:srgbClr val="232F3E"/>
                    </a:solidFill>
                  </a:tcPr>
                </a:tc>
                <a:tc>
                  <a:txBody>
                    <a:bodyPr/>
                    <a:lstStyle/>
                    <a:p>
                      <a:pPr>
                        <a:defRPr sz="1400" b="1">
                          <a:solidFill>
                            <a:srgbClr val="FFFFFF"/>
                          </a:solidFill>
                        </a:defRPr>
                      </a:pPr>
                      <a:r>
                        <a:t>Custom VPC</a:t>
                      </a:r>
                    </a:p>
                  </a:txBody>
                  <a:tcPr>
                    <a:solidFill>
                      <a:srgbClr val="232F3E"/>
                    </a:solidFill>
                  </a:tcPr>
                </a:tc>
              </a:tr>
              <a:tr h="365760">
                <a:tc>
                  <a:txBody>
                    <a:bodyPr/>
                    <a:lstStyle/>
                    <a:p>
                      <a:pPr>
                        <a:defRPr sz="1200"/>
                      </a:pPr>
                      <a:r>
                        <a:t>CIDR block</a:t>
                      </a:r>
                    </a:p>
                  </a:txBody>
                  <a:tcPr>
                    <a:solidFill>
                      <a:srgbClr val="F2F3F4"/>
                    </a:solidFill>
                  </a:tcPr>
                </a:tc>
                <a:tc>
                  <a:txBody>
                    <a:bodyPr/>
                    <a:lstStyle/>
                    <a:p>
                      <a:pPr>
                        <a:defRPr sz="1200"/>
                      </a:pPr>
                      <a:r>
                        <a:t>`172.31.0.0/16` (fixed)</a:t>
                      </a:r>
                    </a:p>
                  </a:txBody>
                  <a:tcPr>
                    <a:solidFill>
                      <a:srgbClr val="F2F3F4"/>
                    </a:solidFill>
                  </a:tcPr>
                </a:tc>
                <a:tc>
                  <a:txBody>
                    <a:bodyPr/>
                    <a:lstStyle/>
                    <a:p>
                      <a:pPr>
                        <a:defRPr sz="1200"/>
                      </a:pPr>
                      <a:r>
                        <a:t>You choose</a:t>
                      </a:r>
                    </a:p>
                  </a:txBody>
                  <a:tcPr>
                    <a:solidFill>
                      <a:srgbClr val="F2F3F4"/>
                    </a:solidFill>
                  </a:tcPr>
                </a:tc>
              </a:tr>
              <a:tr h="365760">
                <a:tc>
                  <a:txBody>
                    <a:bodyPr/>
                    <a:lstStyle/>
                    <a:p>
                      <a:pPr>
                        <a:defRPr sz="1200"/>
                      </a:pPr>
                      <a:r>
                        <a:t>Internet gateway</a:t>
                      </a:r>
                    </a:p>
                  </a:txBody>
                  <a:tcPr/>
                </a:tc>
                <a:tc>
                  <a:txBody>
                    <a:bodyPr/>
                    <a:lstStyle/>
                    <a:p>
                      <a:pPr>
                        <a:defRPr sz="1200"/>
                      </a:pPr>
                      <a:r>
                        <a:t>Attached by default</a:t>
                      </a:r>
                    </a:p>
                  </a:txBody>
                  <a:tcPr/>
                </a:tc>
                <a:tc>
                  <a:txBody>
                    <a:bodyPr/>
                    <a:lstStyle/>
                    <a:p>
                      <a:pPr>
                        <a:defRPr sz="1200"/>
                      </a:pPr>
                      <a:r>
                        <a:t>You attach if needed</a:t>
                      </a:r>
                    </a:p>
                  </a:txBody>
                  <a:tcPr/>
                </a:tc>
              </a:tr>
              <a:tr h="365760">
                <a:tc>
                  <a:txBody>
                    <a:bodyPr/>
                    <a:lstStyle/>
                    <a:p>
                      <a:pPr>
                        <a:defRPr sz="1200"/>
                      </a:pPr>
                      <a:r>
                        <a:t>Subnets</a:t>
                      </a:r>
                    </a:p>
                  </a:txBody>
                  <a:tcPr>
                    <a:solidFill>
                      <a:srgbClr val="F2F3F4"/>
                    </a:solidFill>
                  </a:tcPr>
                </a:tc>
                <a:tc>
                  <a:txBody>
                    <a:bodyPr/>
                    <a:lstStyle/>
                    <a:p>
                      <a:pPr>
                        <a:defRPr sz="1200"/>
                      </a:pPr>
                      <a:r>
                        <a:t>Public by default</a:t>
                      </a:r>
                    </a:p>
                  </a:txBody>
                  <a:tcPr>
                    <a:solidFill>
                      <a:srgbClr val="F2F3F4"/>
                    </a:solidFill>
                  </a:tcPr>
                </a:tc>
                <a:tc>
                  <a:txBody>
                    <a:bodyPr/>
                    <a:lstStyle/>
                    <a:p>
                      <a:pPr>
                        <a:defRPr sz="1200"/>
                      </a:pPr>
                      <a:r>
                        <a:t>You configure</a:t>
                      </a:r>
                    </a:p>
                  </a:txBody>
                  <a:tcPr>
                    <a:solidFill>
                      <a:srgbClr val="F2F3F4"/>
                    </a:solidFill>
                  </a:tcPr>
                </a:tc>
              </a:tr>
              <a:tr h="365760">
                <a:tc>
                  <a:txBody>
                    <a:bodyPr/>
                    <a:lstStyle/>
                    <a:p>
                      <a:pPr>
                        <a:defRPr sz="1200"/>
                      </a:pPr>
                      <a:r>
                        <a:t>Use case</a:t>
                      </a:r>
                    </a:p>
                  </a:txBody>
                  <a:tcPr/>
                </a:tc>
                <a:tc>
                  <a:txBody>
                    <a:bodyPr/>
                    <a:lstStyle/>
                    <a:p>
                      <a:pPr>
                        <a:defRPr sz="1200"/>
                      </a:pPr>
                      <a:r>
                        <a:t>Quick testing, learning</a:t>
                      </a:r>
                    </a:p>
                  </a:txBody>
                  <a:tcPr/>
                </a:tc>
                <a:tc>
                  <a:txBody>
                    <a:bodyPr/>
                    <a:lstStyle/>
                    <a:p>
                      <a:pPr>
                        <a:defRPr sz="1200"/>
                      </a:pPr>
                      <a:r>
                        <a:t>Production workloads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Default VPC vs. custom VPC</a:t>
            </a:r>
          </a:p>
        </p:txBody>
      </p:sp>
      <p:sp>
        <p:nvSpPr>
          <p:cNvPr id="3" name="Content Placeholder 2"/>
          <p:cNvSpPr>
            <a:spLocks noGrp="1"/>
          </p:cNvSpPr>
          <p:nvPr>
            <p:ph idx="1"/>
          </p:nvPr>
        </p:nvSpPr>
        <p:spPr/>
        <p:txBody>
          <a:bodyPr/>
          <a:lstStyle/>
          <a:p>
            <a:pPr>
              <a:defRPr sz="1400" i="1">
                <a:solidFill>
                  <a:srgbClr val="555555"/>
                </a:solidFill>
              </a:defRPr>
            </a:pPr>
            <a:r>
              <a:t>Use the default VPC for labs. Create a custom VPC for real workloads.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CIDR blocks and IP addressing</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CIDR Block</a:t>
                      </a:r>
                    </a:p>
                  </a:txBody>
                  <a:tcPr>
                    <a:solidFill>
                      <a:srgbClr val="232F3E"/>
                    </a:solidFill>
                  </a:tcPr>
                </a:tc>
                <a:tc>
                  <a:txBody>
                    <a:bodyPr/>
                    <a:lstStyle/>
                    <a:p>
                      <a:pPr>
                        <a:defRPr sz="1400" b="1">
                          <a:solidFill>
                            <a:srgbClr val="FFFFFF"/>
                          </a:solidFill>
                        </a:defRPr>
                      </a:pPr>
                      <a:r>
                        <a:t>Prefix</a:t>
                      </a:r>
                    </a:p>
                  </a:txBody>
                  <a:tcPr>
                    <a:solidFill>
                      <a:srgbClr val="232F3E"/>
                    </a:solidFill>
                  </a:tcPr>
                </a:tc>
                <a:tc>
                  <a:txBody>
                    <a:bodyPr/>
                    <a:lstStyle/>
                    <a:p>
                      <a:pPr>
                        <a:defRPr sz="1400" b="1">
                          <a:solidFill>
                            <a:srgbClr val="FFFFFF"/>
                          </a:solidFill>
                        </a:defRPr>
                      </a:pPr>
                      <a:r>
                        <a:t>Available IPs</a:t>
                      </a:r>
                    </a:p>
                  </a:txBody>
                  <a:tcPr>
                    <a:solidFill>
                      <a:srgbClr val="232F3E"/>
                    </a:solidFill>
                  </a:tcPr>
                </a:tc>
                <a:tc>
                  <a:txBody>
                    <a:bodyPr/>
                    <a:lstStyle/>
                    <a:p>
                      <a:pPr>
                        <a:defRPr sz="1400" b="1">
                          <a:solidFill>
                            <a:srgbClr val="FFFFFF"/>
                          </a:solidFill>
                        </a:defRPr>
                      </a:pPr>
                      <a:r>
                        <a:t>Typical Use</a:t>
                      </a:r>
                    </a:p>
                  </a:txBody>
                  <a:tcPr>
                    <a:solidFill>
                      <a:srgbClr val="232F3E"/>
                    </a:solidFill>
                  </a:tcPr>
                </a:tc>
              </a:tr>
              <a:tr h="365760">
                <a:tc>
                  <a:txBody>
                    <a:bodyPr/>
                    <a:lstStyle/>
                    <a:p>
                      <a:pPr>
                        <a:defRPr sz="1200"/>
                      </a:pPr>
                      <a:r>
                        <a:t>`10.0.0.0/24`</a:t>
                      </a:r>
                    </a:p>
                  </a:txBody>
                  <a:tcPr>
                    <a:solidFill>
                      <a:srgbClr val="F2F3F4"/>
                    </a:solidFill>
                  </a:tcPr>
                </a:tc>
                <a:tc>
                  <a:txBody>
                    <a:bodyPr/>
                    <a:lstStyle/>
                    <a:p>
                      <a:pPr>
                        <a:defRPr sz="1200"/>
                      </a:pPr>
                      <a:r>
                        <a:t>/24</a:t>
                      </a:r>
                    </a:p>
                  </a:txBody>
                  <a:tcPr>
                    <a:solidFill>
                      <a:srgbClr val="F2F3F4"/>
                    </a:solidFill>
                  </a:tcPr>
                </a:tc>
                <a:tc>
                  <a:txBody>
                    <a:bodyPr/>
                    <a:lstStyle/>
                    <a:p>
                      <a:pPr>
                        <a:defRPr sz="1200"/>
                      </a:pPr>
                      <a:r>
                        <a:t>256</a:t>
                      </a:r>
                    </a:p>
                  </a:txBody>
                  <a:tcPr>
                    <a:solidFill>
                      <a:srgbClr val="F2F3F4"/>
                    </a:solidFill>
                  </a:tcPr>
                </a:tc>
                <a:tc>
                  <a:txBody>
                    <a:bodyPr/>
                    <a:lstStyle/>
                    <a:p>
                      <a:pPr>
                        <a:defRPr sz="1200"/>
                      </a:pPr>
                      <a:r>
                        <a:t>Small subnet</a:t>
                      </a:r>
                    </a:p>
                  </a:txBody>
                  <a:tcPr>
                    <a:solidFill>
                      <a:srgbClr val="F2F3F4"/>
                    </a:solidFill>
                  </a:tcPr>
                </a:tc>
              </a:tr>
              <a:tr h="365760">
                <a:tc>
                  <a:txBody>
                    <a:bodyPr/>
                    <a:lstStyle/>
                    <a:p>
                      <a:pPr>
                        <a:defRPr sz="1200"/>
                      </a:pPr>
                      <a:r>
                        <a:t>`10.0.0.0/28`</a:t>
                      </a:r>
                    </a:p>
                  </a:txBody>
                  <a:tcPr/>
                </a:tc>
                <a:tc>
                  <a:txBody>
                    <a:bodyPr/>
                    <a:lstStyle/>
                    <a:p>
                      <a:pPr>
                        <a:defRPr sz="1200"/>
                      </a:pPr>
                      <a:r>
                        <a:t>/28</a:t>
                      </a:r>
                    </a:p>
                  </a:txBody>
                  <a:tcPr/>
                </a:tc>
                <a:tc>
                  <a:txBody>
                    <a:bodyPr/>
                    <a:lstStyle/>
                    <a:p>
                      <a:pPr>
                        <a:defRPr sz="1200"/>
                      </a:pPr>
                      <a:r>
                        <a:t>16</a:t>
                      </a:r>
                    </a:p>
                  </a:txBody>
                  <a:tcPr/>
                </a:tc>
                <a:tc>
                  <a:txBody>
                    <a:bodyPr/>
                    <a:lstStyle/>
                    <a:p>
                      <a:pPr>
                        <a:defRPr sz="1200"/>
                      </a:pPr>
                      <a:r>
                        <a:t>Minimum subnet</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CIDR blocks and IP addressing</a:t>
            </a:r>
          </a:p>
        </p:txBody>
      </p:sp>
      <p:sp>
        <p:nvSpPr>
          <p:cNvPr id="3" name="Content Placeholder 2"/>
          <p:cNvSpPr>
            <a:spLocks noGrp="1"/>
          </p:cNvSpPr>
          <p:nvPr>
            <p:ph idx="1"/>
          </p:nvPr>
        </p:nvSpPr>
        <p:spPr/>
        <p:txBody>
          <a:bodyPr/>
          <a:lstStyle/>
          <a:p>
            <a:pPr>
              <a:defRPr sz="1800"/>
            </a:pPr>
            <a:r>
              <a:t>CIDR notation combines an IP address with a prefix length</a:t>
            </a:r>
          </a:p>
          <a:p>
            <a:pPr>
              <a:defRPr sz="1800"/>
            </a:pPr>
            <a:r>
              <a:t>The prefix determines how many bits are fixed</a:t>
            </a:r>
          </a:p>
          <a:p>
            <a:pPr>
              <a:defRPr sz="1800"/>
            </a:pPr>
            <a:r>
              <a:t>Remaining bits are available for host addresses</a:t>
            </a:r>
          </a:p>
          <a:p>
            <a:pPr>
              <a:defRPr sz="1800"/>
            </a:pPr>
            <a:r>
              <a:t>Use private IP ranges defined by RFC 1918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planning your CIDR block</a:t>
            </a:r>
          </a:p>
        </p:txBody>
      </p:sp>
      <p:sp>
        <p:nvSpPr>
          <p:cNvPr id="3" name="Content Placeholder 2"/>
          <p:cNvSpPr>
            <a:spLocks noGrp="1"/>
          </p:cNvSpPr>
          <p:nvPr>
            <p:ph idx="1"/>
          </p:nvPr>
        </p:nvSpPr>
        <p:spPr/>
        <p:txBody>
          <a:bodyPr/>
          <a:lstStyle/>
          <a:p>
            <a:pPr>
              <a:defRPr sz="1600"/>
            </a:pPr>
            <a:r>
              <a:t>You are designing a VPC that will eventually connect to your company's on-premises network (`10.1.0.0/16`) via VPN.</a:t>
            </a:r>
          </a:p>
          <a:p>
            <a:pPr>
              <a:defRPr sz="1600"/>
            </a:pPr>
            <a:r>
              <a:t>What CIDR block would you choose for your VPC, and why does it matter?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Subnets: public vs. private</a:t>
            </a:r>
          </a:p>
        </p:txBody>
      </p:sp>
      <p:sp>
        <p:nvSpPr>
          <p:cNvPr id="3" name="Text Placeholder 2"/>
          <p:cNvSpPr>
            <a:spLocks noGrp="1"/>
          </p:cNvSpPr>
          <p:nvPr>
            <p:ph type="body"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Public vs. private subnets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Characteristic</a:t>
                      </a:r>
                    </a:p>
                  </a:txBody>
                  <a:tcPr>
                    <a:solidFill>
                      <a:srgbClr val="232F3E"/>
                    </a:solidFill>
                  </a:tcPr>
                </a:tc>
                <a:tc>
                  <a:txBody>
                    <a:bodyPr/>
                    <a:lstStyle/>
                    <a:p>
                      <a:pPr>
                        <a:defRPr sz="1400" b="1">
                          <a:solidFill>
                            <a:srgbClr val="FFFFFF"/>
                          </a:solidFill>
                        </a:defRPr>
                      </a:pPr>
                      <a:r>
                        <a:t>Public Subnet</a:t>
                      </a:r>
                    </a:p>
                  </a:txBody>
                  <a:tcPr>
                    <a:solidFill>
                      <a:srgbClr val="232F3E"/>
                    </a:solidFill>
                  </a:tcPr>
                </a:tc>
                <a:tc>
                  <a:txBody>
                    <a:bodyPr/>
                    <a:lstStyle/>
                    <a:p>
                      <a:pPr>
                        <a:defRPr sz="1400" b="1">
                          <a:solidFill>
                            <a:srgbClr val="FFFFFF"/>
                          </a:solidFill>
                        </a:defRPr>
                      </a:pPr>
                      <a:r>
                        <a:t>Private Subnet</a:t>
                      </a:r>
                    </a:p>
                  </a:txBody>
                  <a:tcPr>
                    <a:solidFill>
                      <a:srgbClr val="232F3E"/>
                    </a:solidFill>
                  </a:tcPr>
                </a:tc>
              </a:tr>
              <a:tr h="365760">
                <a:tc>
                  <a:txBody>
                    <a:bodyPr/>
                    <a:lstStyle/>
                    <a:p>
                      <a:pPr>
                        <a:defRPr sz="1200"/>
                      </a:pPr>
                      <a:r>
                        <a:t>Public IP addresses</a:t>
                      </a:r>
                    </a:p>
                  </a:txBody>
                  <a:tcPr>
                    <a:solidFill>
                      <a:srgbClr val="F2F3F4"/>
                    </a:solidFill>
                  </a:tcPr>
                </a:tc>
                <a:tc>
                  <a:txBody>
                    <a:bodyPr/>
                    <a:lstStyle/>
                    <a:p>
                      <a:pPr>
                        <a:defRPr sz="1200"/>
                      </a:pPr>
                      <a:r>
                        <a:t>Auto-assigned or Elastic IP</a:t>
                      </a:r>
                    </a:p>
                  </a:txBody>
                  <a:tcPr>
                    <a:solidFill>
                      <a:srgbClr val="F2F3F4"/>
                    </a:solidFill>
                  </a:tcPr>
                </a:tc>
                <a:tc>
                  <a:txBody>
                    <a:bodyPr/>
                    <a:lstStyle/>
                    <a:p>
                      <a:pPr>
                        <a:defRPr sz="1200"/>
                      </a:pPr>
                      <a:r>
                        <a:t>Not needed</a:t>
                      </a:r>
                    </a:p>
                  </a:txBody>
                  <a:tcPr>
                    <a:solidFill>
                      <a:srgbClr val="F2F3F4"/>
                    </a:solidFill>
                  </a:tcPr>
                </a:tc>
              </a:tr>
              <a:tr h="365760">
                <a:tc>
                  <a:txBody>
                    <a:bodyPr/>
                    <a:lstStyle/>
                    <a:p>
                      <a:pPr>
                        <a:defRPr sz="1200"/>
                      </a:pPr>
                      <a:r>
                        <a:t>Inbound internet traffic</a:t>
                      </a:r>
                    </a:p>
                  </a:txBody>
                  <a:tcPr/>
                </a:tc>
                <a:tc>
                  <a:txBody>
                    <a:bodyPr/>
                    <a:lstStyle/>
                    <a:p>
                      <a:pPr>
                        <a:defRPr sz="1200"/>
                      </a:pPr>
                      <a:r>
                        <a:t>Allowed (filtered by SGs)</a:t>
                      </a:r>
                    </a:p>
                  </a:txBody>
                  <a:tcPr/>
                </a:tc>
                <a:tc>
                  <a:txBody>
                    <a:bodyPr/>
                    <a:lstStyle/>
                    <a:p>
                      <a:pPr>
                        <a:defRPr sz="1200"/>
                      </a:pPr>
                      <a:r>
                        <a:t>Blocked</a:t>
                      </a:r>
                    </a:p>
                  </a:txBody>
                  <a:tcPr/>
                </a:tc>
              </a:tr>
              <a:tr h="365760">
                <a:tc>
                  <a:txBody>
                    <a:bodyPr/>
                    <a:lstStyle/>
                    <a:p>
                      <a:pPr>
                        <a:defRPr sz="1200"/>
                      </a:pPr>
                      <a:r>
                        <a:t>Outbound internet access</a:t>
                      </a:r>
                    </a:p>
                  </a:txBody>
                  <a:tcPr>
                    <a:solidFill>
                      <a:srgbClr val="F2F3F4"/>
                    </a:solidFill>
                  </a:tcPr>
                </a:tc>
                <a:tc>
                  <a:txBody>
                    <a:bodyPr/>
                    <a:lstStyle/>
                    <a:p>
                      <a:pPr>
                        <a:defRPr sz="1200"/>
                      </a:pPr>
                      <a:r>
                        <a:t>Direct via internet gateway</a:t>
                      </a:r>
                    </a:p>
                  </a:txBody>
                  <a:tcPr>
                    <a:solidFill>
                      <a:srgbClr val="F2F3F4"/>
                    </a:solidFill>
                  </a:tcPr>
                </a:tc>
                <a:tc>
                  <a:txBody>
                    <a:bodyPr/>
                    <a:lstStyle/>
                    <a:p>
                      <a:pPr>
                        <a:defRPr sz="1200"/>
                      </a:pPr>
                      <a:r>
                        <a:t>Through NAT gateway only</a:t>
                      </a:r>
                    </a:p>
                  </a:txBody>
                  <a:tcPr>
                    <a:solidFill>
                      <a:srgbClr val="F2F3F4"/>
                    </a:solidFill>
                  </a:tcPr>
                </a:tc>
              </a:tr>
              <a:tr h="365760">
                <a:tc>
                  <a:txBody>
                    <a:bodyPr/>
                    <a:lstStyle/>
                    <a:p>
                      <a:pPr>
                        <a:defRPr sz="1200"/>
                      </a:pPr>
                      <a:r>
                        <a:t>Typical workloads</a:t>
                      </a:r>
                    </a:p>
                  </a:txBody>
                  <a:tcPr/>
                </a:tc>
                <a:tc>
                  <a:txBody>
                    <a:bodyPr/>
                    <a:lstStyle/>
                    <a:p>
                      <a:pPr>
                        <a:defRPr sz="1200"/>
                      </a:pPr>
                      <a:r>
                        <a:t>Web servers, load balancers</a:t>
                      </a:r>
                    </a:p>
                  </a:txBody>
                  <a:tcPr/>
                </a:tc>
                <a:tc>
                  <a:txBody>
                    <a:bodyPr/>
                    <a:lstStyle/>
                    <a:p>
                      <a:pPr>
                        <a:defRPr sz="1200"/>
                      </a:pPr>
                      <a:r>
                        <a:t>Databases, app servers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Availability Zone placement</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VPC: 10.0.0.0/16</a:t>
            </a:r>
            <a:br/>
            <a:r>
              <a:t>├── AZ-a</a:t>
            </a:r>
            <a:br/>
            <a:r>
              <a:t>│   ├── Public Subnet:  10.0.1.0/24</a:t>
            </a:r>
            <a:br/>
            <a:r>
              <a:t>│   └── Private Subnet: 10.0.2.0/24</a:t>
            </a:r>
            <a:br/>
            <a:r>
              <a:t>└── AZ-b</a:t>
            </a:r>
            <a:br/>
            <a:r>
              <a:t>    ├── Public Subnet:  10.0.3.0/24</a:t>
            </a:r>
            <a:br/>
            <a:r>
              <a:t>    └── Private Subnet: 10.0.4.0/24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Subnet sizing</a:t>
            </a:r>
          </a:p>
        </p:txBody>
      </p:sp>
      <p:sp>
        <p:nvSpPr>
          <p:cNvPr id="3" name="Content Placeholder 2"/>
          <p:cNvSpPr>
            <a:spLocks noGrp="1"/>
          </p:cNvSpPr>
          <p:nvPr>
            <p:ph idx="1"/>
          </p:nvPr>
        </p:nvSpPr>
        <p:spPr/>
        <p:txBody>
          <a:bodyPr/>
          <a:lstStyle/>
          <a:p>
            <a:pPr>
              <a:defRPr sz="1800"/>
            </a:pPr>
            <a:r>
              <a:t>Each subnet CIDR must be a subset of the VPC CIDR</a:t>
            </a:r>
          </a:p>
          <a:p>
            <a:pPr>
              <a:defRPr sz="1800"/>
            </a:pPr>
            <a:r>
              <a:t>AWS reserves five IP addresses in every subnet</a:t>
            </a:r>
          </a:p>
          <a:p>
            <a:pPr>
              <a:defRPr sz="1800"/>
            </a:pPr>
            <a:r>
              <a:t>In a /24 subnet (256 addresses), only 251 are usable</a:t>
            </a:r>
          </a:p>
          <a:p>
            <a:pPr>
              <a:defRPr sz="1800"/>
            </a:pPr>
            <a:r>
              <a:t>In a /28 subnet (16 addresses), only 11 are usable</a:t>
            </a:r>
          </a:p>
          <a:p>
            <a:pPr>
              <a:defRPr sz="1400" i="1">
                <a:solidFill>
                  <a:srgbClr val="555555"/>
                </a:solidFill>
              </a:defRPr>
            </a:pPr>
            <a:r>
              <a:t>Account for the five reserved addresses when planning subnet sizes. For small subnets, this overhead is significant.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subnet placement</a:t>
            </a:r>
          </a:p>
        </p:txBody>
      </p:sp>
      <p:sp>
        <p:nvSpPr>
          <p:cNvPr id="3" name="Content Placeholder 2"/>
          <p:cNvSpPr>
            <a:spLocks noGrp="1"/>
          </p:cNvSpPr>
          <p:nvPr>
            <p:ph idx="1"/>
          </p:nvPr>
        </p:nvSpPr>
        <p:spPr/>
        <p:txBody>
          <a:bodyPr/>
          <a:lstStyle/>
          <a:p>
            <a:pPr>
              <a:defRPr sz="1600"/>
            </a:pPr>
            <a:r>
              <a:t>Your application has a web server and a PostgreSQL database.</a:t>
            </a:r>
          </a:p>
          <a:p>
            <a:pPr>
              <a:defRPr sz="1600"/>
            </a:pPr>
            <a:r>
              <a:t>Which subnet type would you place the database in, and why?</a:t>
            </a:r>
          </a:p>
          <a:p>
            <a:pPr>
              <a:defRPr sz="1600"/>
            </a:pPr>
            <a:r>
              <a:t>A) Public subnet</a:t>
            </a:r>
          </a:p>
          <a:p>
            <a:pPr>
              <a:defRPr sz="1600"/>
            </a:pPr>
            <a:r>
              <a:t>B) Private subnet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Internet gateway and NAT gateway</a:t>
            </a:r>
          </a:p>
        </p:txBody>
      </p:sp>
      <p:sp>
        <p:nvSpPr>
          <p:cNvPr id="3" name="Text Placeholder 2"/>
          <p:cNvSpPr>
            <a:spLocks noGrp="1"/>
          </p:cNvSpPr>
          <p:nvPr>
            <p:ph type="body"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Internet gateway</a:t>
            </a:r>
          </a:p>
        </p:txBody>
      </p:sp>
      <p:sp>
        <p:nvSpPr>
          <p:cNvPr id="3" name="Content Placeholder 2"/>
          <p:cNvSpPr>
            <a:spLocks noGrp="1"/>
          </p:cNvSpPr>
          <p:nvPr>
            <p:ph idx="1"/>
          </p:nvPr>
        </p:nvSpPr>
        <p:spPr/>
        <p:txBody>
          <a:bodyPr/>
          <a:lstStyle/>
          <a:p>
            <a:pPr>
              <a:defRPr sz="1800"/>
            </a:pPr>
            <a:r>
              <a:t>Allows communication between your VPC and the internet</a:t>
            </a:r>
          </a:p>
          <a:p>
            <a:pPr>
              <a:defRPr sz="1800"/>
            </a:pPr>
            <a:r>
              <a:t>Horizontally scaled, redundant, and highly available</a:t>
            </a:r>
          </a:p>
          <a:p>
            <a:pPr>
              <a:defRPr sz="1800"/>
            </a:pPr>
            <a:r>
              <a:t>Provides a target in your route table for internet traffic</a:t>
            </a:r>
          </a:p>
          <a:p>
            <a:pPr>
              <a:defRPr sz="1800"/>
            </a:pPr>
            <a:r>
              <a:t>Performs NAT for instances with a public IPv4 address</a:t>
            </a:r>
          </a:p>
          <a:p>
            <a:pPr>
              <a:defRPr sz="1600"/>
            </a:pPr>
            <a:r>
              <a:t>To enable internet access for a subnet:</a:t>
            </a:r>
          </a:p>
          <a:p>
            <a:pPr>
              <a:defRPr sz="1800"/>
            </a:pPr>
            <a:r>
              <a:t>Attach an internet gateway to your VPC</a:t>
            </a:r>
          </a:p>
          <a:p>
            <a:pPr>
              <a:defRPr sz="1800"/>
            </a:pPr>
            <a:r>
              <a:t>Add a route for `0.0.0.0/0` to the internet gateway</a:t>
            </a:r>
          </a:p>
          <a:p>
            <a:pPr>
              <a:defRPr sz="1800"/>
            </a:pPr>
            <a:r>
              <a:t>Ensure instances have a public IP or Elastic IP</a:t>
            </a:r>
          </a:p>
          <a:p>
            <a:pPr>
              <a:defRPr sz="1800"/>
            </a:pPr>
            <a:r>
              <a:t>Configure security groups to allow desired traffic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NAT gateway</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Private Instance --&gt; NAT Gateway (public subnet) --&gt; Internet Gateway --&gt; Internet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Internet gateway vs. NAT gateway</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Gateway Type</a:t>
                      </a:r>
                    </a:p>
                  </a:txBody>
                  <a:tcPr>
                    <a:solidFill>
                      <a:srgbClr val="232F3E"/>
                    </a:solidFill>
                  </a:tcPr>
                </a:tc>
                <a:tc>
                  <a:txBody>
                    <a:bodyPr/>
                    <a:lstStyle/>
                    <a:p>
                      <a:pPr>
                        <a:defRPr sz="1400" b="1">
                          <a:solidFill>
                            <a:srgbClr val="FFFFFF"/>
                          </a:solidFill>
                        </a:defRPr>
                      </a:pPr>
                      <a:r>
                        <a:t>Direction</a:t>
                      </a:r>
                    </a:p>
                  </a:txBody>
                  <a:tcPr>
                    <a:solidFill>
                      <a:srgbClr val="232F3E"/>
                    </a:solidFill>
                  </a:tcPr>
                </a:tc>
                <a:tc>
                  <a:txBody>
                    <a:bodyPr/>
                    <a:lstStyle/>
                    <a:p>
                      <a:pPr>
                        <a:defRPr sz="1400" b="1">
                          <a:solidFill>
                            <a:srgbClr val="FFFFFF"/>
                          </a:solidFill>
                        </a:defRPr>
                      </a:pPr>
                      <a:r>
                        <a:t>Location</a:t>
                      </a:r>
                    </a:p>
                  </a:txBody>
                  <a:tcPr>
                    <a:solidFill>
                      <a:srgbClr val="232F3E"/>
                    </a:solidFill>
                  </a:tcPr>
                </a:tc>
                <a:tc>
                  <a:txBody>
                    <a:bodyPr/>
                    <a:lstStyle/>
                    <a:p>
                      <a:pPr>
                        <a:defRPr sz="1400" b="1">
                          <a:solidFill>
                            <a:srgbClr val="FFFFFF"/>
                          </a:solidFill>
                        </a:defRPr>
                      </a:pPr>
                      <a:r>
                        <a:t>Use Case</a:t>
                      </a:r>
                    </a:p>
                  </a:txBody>
                  <a:tcPr>
                    <a:solidFill>
                      <a:srgbClr val="232F3E"/>
                    </a:solidFill>
                  </a:tcPr>
                </a:tc>
              </a:tr>
              <a:tr h="365760">
                <a:tc>
                  <a:txBody>
                    <a:bodyPr/>
                    <a:lstStyle/>
                    <a:p>
                      <a:pPr>
                        <a:defRPr sz="1200"/>
                      </a:pPr>
                      <a:r>
                        <a:t>NAT gateway</a:t>
                      </a:r>
                    </a:p>
                  </a:txBody>
                  <a:tcPr>
                    <a:solidFill>
                      <a:srgbClr val="F2F3F4"/>
                    </a:solidFill>
                  </a:tcPr>
                </a:tc>
                <a:tc>
                  <a:txBody>
                    <a:bodyPr/>
                    <a:lstStyle/>
                    <a:p>
                      <a:pPr>
                        <a:defRPr sz="1200"/>
                      </a:pPr>
                      <a:r>
                        <a:t>Outbound only</a:t>
                      </a:r>
                    </a:p>
                  </a:txBody>
                  <a:tcPr>
                    <a:solidFill>
                      <a:srgbClr val="F2F3F4"/>
                    </a:solidFill>
                  </a:tcPr>
                </a:tc>
                <a:tc>
                  <a:txBody>
                    <a:bodyPr/>
                    <a:lstStyle/>
                    <a:p>
                      <a:pPr>
                        <a:defRPr sz="1200"/>
                      </a:pPr>
                      <a:r>
                        <a:t>In a public subnet</a:t>
                      </a:r>
                    </a:p>
                  </a:txBody>
                  <a:tcPr>
                    <a:solidFill>
                      <a:srgbClr val="F2F3F4"/>
                    </a:solidFill>
                  </a:tcPr>
                </a:tc>
                <a:tc>
                  <a:txBody>
                    <a:bodyPr/>
                    <a:lstStyle/>
                    <a:p>
                      <a:pPr>
                        <a:defRPr sz="1200"/>
                      </a:pPr>
                      <a:r>
                        <a:t>Private subnet outbound access</a:t>
                      </a:r>
                    </a:p>
                  </a:txBody>
                  <a:tcPr>
                    <a:solidFill>
                      <a:srgbClr val="F2F3F4"/>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Route tables</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route tables work</a:t>
            </a:r>
          </a:p>
        </p:txBody>
      </p:sp>
      <p:sp>
        <p:nvSpPr>
          <p:cNvPr id="3" name="Content Placeholder 2"/>
          <p:cNvSpPr>
            <a:spLocks noGrp="1"/>
          </p:cNvSpPr>
          <p:nvPr>
            <p:ph idx="1"/>
          </p:nvPr>
        </p:nvSpPr>
        <p:spPr/>
        <p:txBody>
          <a:bodyPr/>
          <a:lstStyle/>
          <a:p>
            <a:pPr>
              <a:defRPr sz="1800"/>
            </a:pPr>
            <a:r>
              <a:t>A route table contains rules that determine where traffic is directed</a:t>
            </a:r>
          </a:p>
          <a:p>
            <a:pPr>
              <a:defRPr sz="1800"/>
            </a:pPr>
            <a:r>
              <a:t>Every subnet must be associated with a route table</a:t>
            </a:r>
          </a:p>
          <a:p>
            <a:pPr>
              <a:defRPr sz="1800"/>
            </a:pPr>
            <a:r>
              <a:t>The most specific route (longest prefix match) wins</a:t>
            </a:r>
          </a:p>
          <a:p>
            <a:pPr>
              <a:defRPr sz="1800"/>
            </a:pPr>
            <a:r>
              <a:t>AWS creates a main route table with a local route automatically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Public vs. private route tables</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Destination</a:t>
                      </a:r>
                    </a:p>
                  </a:txBody>
                  <a:tcPr>
                    <a:solidFill>
                      <a:srgbClr val="232F3E"/>
                    </a:solidFill>
                  </a:tcPr>
                </a:tc>
                <a:tc>
                  <a:txBody>
                    <a:bodyPr/>
                    <a:lstStyle/>
                    <a:p>
                      <a:pPr>
                        <a:defRPr sz="1400" b="1">
                          <a:solidFill>
                            <a:srgbClr val="FFFFFF"/>
                          </a:solidFill>
                        </a:defRPr>
                      </a:pPr>
                      <a:r>
                        <a:t>Target</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`0.0.0.0/0`</a:t>
                      </a:r>
                    </a:p>
                  </a:txBody>
                  <a:tcPr>
                    <a:solidFill>
                      <a:srgbClr val="F2F3F4"/>
                    </a:solidFill>
                  </a:tcPr>
                </a:tc>
                <a:tc>
                  <a:txBody>
                    <a:bodyPr/>
                    <a:lstStyle/>
                    <a:p>
                      <a:pPr>
                        <a:defRPr sz="1200"/>
                      </a:pPr>
                      <a:r>
                        <a:t>igw-xxxxxxxx</a:t>
                      </a:r>
                    </a:p>
                  </a:txBody>
                  <a:tcPr>
                    <a:solidFill>
                      <a:srgbClr val="F2F3F4"/>
                    </a:solidFill>
                  </a:tcPr>
                </a:tc>
                <a:tc>
                  <a:txBody>
                    <a:bodyPr/>
                    <a:lstStyle/>
                    <a:p>
                      <a:pPr>
                        <a:defRPr sz="1200"/>
                      </a:pPr>
                      <a:r>
                        <a:t>Internet-bound traffic</a:t>
                      </a:r>
                    </a:p>
                  </a:txBody>
                  <a:tcPr>
                    <a:solidFill>
                      <a:srgbClr val="F2F3F4"/>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vs. private route tables</a:t>
            </a:r>
          </a:p>
        </p:txBody>
      </p:sp>
      <p:sp>
        <p:nvSpPr>
          <p:cNvPr id="3" name="Content Placeholder 2"/>
          <p:cNvSpPr>
            <a:spLocks noGrp="1"/>
          </p:cNvSpPr>
          <p:nvPr>
            <p:ph idx="1"/>
          </p:nvPr>
        </p:nvSpPr>
        <p:spPr/>
        <p:txBody>
          <a:bodyPr/>
          <a:lstStyle/>
          <a:p>
            <a:pPr>
              <a:defRPr sz="1600"/>
            </a:pPr>
            <a:r>
              <a:t>Public subnet route table:</a:t>
            </a:r>
          </a:p>
          <a:p>
            <a:pPr>
              <a:defRPr sz="1600"/>
            </a:pPr>
            <a:r>
              <a:t>Private subnet route 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Viewing route tables with the CLI</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ec2 describe-route-tables \</a:t>
            </a:r>
            <a:br/>
            <a:r>
              <a:t>    --filters "Name=vpc-id,Values=vpc-xxxxxxxx"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groups and network ACLs</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groups (stateful)</a:t>
            </a:r>
          </a:p>
        </p:txBody>
      </p:sp>
      <p:sp>
        <p:nvSpPr>
          <p:cNvPr id="3" name="Content Placeholder 2"/>
          <p:cNvSpPr>
            <a:spLocks noGrp="1"/>
          </p:cNvSpPr>
          <p:nvPr>
            <p:ph idx="1"/>
          </p:nvPr>
        </p:nvSpPr>
        <p:spPr/>
        <p:txBody>
          <a:bodyPr/>
          <a:lstStyle/>
          <a:p>
            <a:pPr>
              <a:defRPr sz="1800"/>
            </a:pPr>
            <a:r>
              <a:t>Virtual firewall at the resource level (EC2, RDS, Lambda in VPC)</a:t>
            </a:r>
          </a:p>
          <a:p>
            <a:pPr>
              <a:defRPr sz="1800"/>
            </a:pPr>
            <a:r>
              <a:t>Stateful: return traffic is automatically allowed</a:t>
            </a:r>
          </a:p>
          <a:p>
            <a:pPr>
              <a:defRPr sz="1800"/>
            </a:pPr>
            <a:r>
              <a:t>Allow rules only: traffic not matching a rule is denied</a:t>
            </a:r>
          </a:p>
          <a:p>
            <a:pPr>
              <a:defRPr sz="1800"/>
            </a:pPr>
            <a:r>
              <a:t>All rules evaluated together (no ordering)</a:t>
            </a:r>
          </a:p>
          <a:p>
            <a:pPr>
              <a:defRPr sz="1800"/>
            </a:pPr>
            <a:r>
              <a:t>Default: no inbound allowed, all outbound allowed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Security group example: web server</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Direction</a:t>
                      </a:r>
                    </a:p>
                  </a:txBody>
                  <a:tcPr>
                    <a:solidFill>
                      <a:srgbClr val="232F3E"/>
                    </a:solidFill>
                  </a:tcPr>
                </a:tc>
                <a:tc>
                  <a:txBody>
                    <a:bodyPr/>
                    <a:lstStyle/>
                    <a:p>
                      <a:pPr>
                        <a:defRPr sz="1400" b="1">
                          <a:solidFill>
                            <a:srgbClr val="FFFFFF"/>
                          </a:solidFill>
                        </a:defRPr>
                      </a:pPr>
                      <a:r>
                        <a:t>Protocol</a:t>
                      </a:r>
                    </a:p>
                  </a:txBody>
                  <a:tcPr>
                    <a:solidFill>
                      <a:srgbClr val="232F3E"/>
                    </a:solidFill>
                  </a:tcPr>
                </a:tc>
                <a:tc>
                  <a:txBody>
                    <a:bodyPr/>
                    <a:lstStyle/>
                    <a:p>
                      <a:pPr>
                        <a:defRPr sz="1400" b="1">
                          <a:solidFill>
                            <a:srgbClr val="FFFFFF"/>
                          </a:solidFill>
                        </a:defRPr>
                      </a:pPr>
                      <a:r>
                        <a:t>Port</a:t>
                      </a:r>
                    </a:p>
                  </a:txBody>
                  <a:tcPr>
                    <a:solidFill>
                      <a:srgbClr val="232F3E"/>
                    </a:solidFill>
                  </a:tcPr>
                </a:tc>
                <a:tc>
                  <a:txBody>
                    <a:bodyPr/>
                    <a:lstStyle/>
                    <a:p>
                      <a:pPr>
                        <a:defRPr sz="1400" b="1">
                          <a:solidFill>
                            <a:srgbClr val="FFFFFF"/>
                          </a:solidFill>
                        </a:defRPr>
                      </a:pPr>
                      <a:r>
                        <a:t>Source</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Inbound</a:t>
                      </a:r>
                    </a:p>
                  </a:txBody>
                  <a:tcPr>
                    <a:solidFill>
                      <a:srgbClr val="F2F3F4"/>
                    </a:solidFill>
                  </a:tcPr>
                </a:tc>
                <a:tc>
                  <a:txBody>
                    <a:bodyPr/>
                    <a:lstStyle/>
                    <a:p>
                      <a:pPr>
                        <a:defRPr sz="1200"/>
                      </a:pPr>
                      <a:r>
                        <a:t>TCP</a:t>
                      </a:r>
                    </a:p>
                  </a:txBody>
                  <a:tcPr>
                    <a:solidFill>
                      <a:srgbClr val="F2F3F4"/>
                    </a:solidFill>
                  </a:tcPr>
                </a:tc>
                <a:tc>
                  <a:txBody>
                    <a:bodyPr/>
                    <a:lstStyle/>
                    <a:p>
                      <a:pPr>
                        <a:defRPr sz="1200"/>
                      </a:pPr>
                      <a:r>
                        <a:t>443</a:t>
                      </a:r>
                    </a:p>
                  </a:txBody>
                  <a:tcPr>
                    <a:solidFill>
                      <a:srgbClr val="F2F3F4"/>
                    </a:solidFill>
                  </a:tcPr>
                </a:tc>
                <a:tc>
                  <a:txBody>
                    <a:bodyPr/>
                    <a:lstStyle/>
                    <a:p>
                      <a:pPr>
                        <a:defRPr sz="1200"/>
                      </a:pPr>
                      <a:r>
                        <a:t>0.0.0.0/0</a:t>
                      </a:r>
                    </a:p>
                  </a:txBody>
                  <a:tcPr>
                    <a:solidFill>
                      <a:srgbClr val="F2F3F4"/>
                    </a:solidFill>
                  </a:tcPr>
                </a:tc>
                <a:tc>
                  <a:txBody>
                    <a:bodyPr/>
                    <a:lstStyle/>
                    <a:p>
                      <a:pPr>
                        <a:defRPr sz="1200"/>
                      </a:pPr>
                      <a:r>
                        <a:t>Allow HTTPS</a:t>
                      </a:r>
                    </a:p>
                  </a:txBody>
                  <a:tcPr>
                    <a:solidFill>
                      <a:srgbClr val="F2F3F4"/>
                    </a:solidFill>
                  </a:tcPr>
                </a:tc>
              </a:tr>
              <a:tr h="365760">
                <a:tc>
                  <a:txBody>
                    <a:bodyPr/>
                    <a:lstStyle/>
                    <a:p>
                      <a:pPr>
                        <a:defRPr sz="1200"/>
                      </a:pPr>
                      <a:r>
                        <a:t>Inbound</a:t>
                      </a:r>
                    </a:p>
                  </a:txBody>
                  <a:tcPr/>
                </a:tc>
                <a:tc>
                  <a:txBody>
                    <a:bodyPr/>
                    <a:lstStyle/>
                    <a:p>
                      <a:pPr>
                        <a:defRPr sz="1200"/>
                      </a:pPr>
                      <a:r>
                        <a:t>TCP</a:t>
                      </a:r>
                    </a:p>
                  </a:txBody>
                  <a:tcPr/>
                </a:tc>
                <a:tc>
                  <a:txBody>
                    <a:bodyPr/>
                    <a:lstStyle/>
                    <a:p>
                      <a:pPr>
                        <a:defRPr sz="1200"/>
                      </a:pPr>
                      <a:r>
                        <a:t>22</a:t>
                      </a:r>
                    </a:p>
                  </a:txBody>
                  <a:tcPr/>
                </a:tc>
                <a:tc>
                  <a:txBody>
                    <a:bodyPr/>
                    <a:lstStyle/>
                    <a:p>
                      <a:pPr>
                        <a:defRPr sz="1200"/>
                      </a:pPr>
                      <a:r>
                        <a:t>203.0.113.0/24</a:t>
                      </a:r>
                    </a:p>
                  </a:txBody>
                  <a:tcPr/>
                </a:tc>
                <a:tc>
                  <a:txBody>
                    <a:bodyPr/>
                    <a:lstStyle/>
                    <a:p>
                      <a:pPr>
                        <a:defRPr sz="1200"/>
                      </a:pPr>
                      <a:r>
                        <a:t>Allow SSH</a:t>
                      </a:r>
                    </a:p>
                  </a:txBody>
                  <a:tcPr/>
                </a:tc>
              </a:tr>
              <a:tr h="365760">
                <a:tc>
                  <a:txBody>
                    <a:bodyPr/>
                    <a:lstStyle/>
                    <a:p>
                      <a:pPr>
                        <a:defRPr sz="1200"/>
                      </a:pPr>
                      <a:r>
                        <a:t>Outbound</a:t>
                      </a:r>
                    </a:p>
                  </a:txBody>
                  <a:tcPr>
                    <a:solidFill>
                      <a:srgbClr val="F2F3F4"/>
                    </a:solidFill>
                  </a:tcPr>
                </a:tc>
                <a:tc>
                  <a:txBody>
                    <a:bodyPr/>
                    <a:lstStyle/>
                    <a:p>
                      <a:pPr>
                        <a:defRPr sz="1200"/>
                      </a:pPr>
                      <a:r>
                        <a:t>All</a:t>
                      </a:r>
                    </a:p>
                  </a:txBody>
                  <a:tcPr>
                    <a:solidFill>
                      <a:srgbClr val="F2F3F4"/>
                    </a:solidFill>
                  </a:tcPr>
                </a:tc>
                <a:tc>
                  <a:txBody>
                    <a:bodyPr/>
                    <a:lstStyle/>
                    <a:p>
                      <a:pPr>
                        <a:defRPr sz="1200"/>
                      </a:pPr>
                      <a:r>
                        <a:t>All</a:t>
                      </a:r>
                    </a:p>
                  </a:txBody>
                  <a:tcPr>
                    <a:solidFill>
                      <a:srgbClr val="F2F3F4"/>
                    </a:solidFill>
                  </a:tcPr>
                </a:tc>
                <a:tc>
                  <a:txBody>
                    <a:bodyPr/>
                    <a:lstStyle/>
                    <a:p>
                      <a:pPr>
                        <a:defRPr sz="1200"/>
                      </a:pPr>
                      <a:r>
                        <a:t>0.0.0.0/0</a:t>
                      </a:r>
                    </a:p>
                  </a:txBody>
                  <a:tcPr>
                    <a:solidFill>
                      <a:srgbClr val="F2F3F4"/>
                    </a:solidFill>
                  </a:tcPr>
                </a:tc>
                <a:tc>
                  <a:txBody>
                    <a:bodyPr/>
                    <a:lstStyle/>
                    <a:p>
                      <a:pPr>
                        <a:defRPr sz="1200"/>
                      </a:pPr>
                      <a:r>
                        <a:t>Allow all outbound</a:t>
                      </a:r>
                    </a:p>
                  </a:txBody>
                  <a:tcPr>
                    <a:solidFill>
                      <a:srgbClr val="F2F3F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ACLs (stateless)</a:t>
            </a:r>
          </a:p>
        </p:txBody>
      </p:sp>
      <p:sp>
        <p:nvSpPr>
          <p:cNvPr id="3" name="Content Placeholder 2"/>
          <p:cNvSpPr>
            <a:spLocks noGrp="1"/>
          </p:cNvSpPr>
          <p:nvPr>
            <p:ph idx="1"/>
          </p:nvPr>
        </p:nvSpPr>
        <p:spPr/>
        <p:txBody>
          <a:bodyPr/>
          <a:lstStyle/>
          <a:p>
            <a:pPr>
              <a:defRPr sz="1800"/>
            </a:pPr>
            <a:r>
              <a:t>Optional firewall at the subnet level</a:t>
            </a:r>
          </a:p>
          <a:p>
            <a:pPr>
              <a:defRPr sz="1800"/>
            </a:pPr>
            <a:r>
              <a:t>Stateless: must explicitly allow return traffic</a:t>
            </a:r>
          </a:p>
          <a:p>
            <a:pPr>
              <a:defRPr sz="1800"/>
            </a:pPr>
            <a:r>
              <a:t>Allow and deny rules: useful for blocking specific IPs</a:t>
            </a:r>
          </a:p>
          <a:p>
            <a:pPr>
              <a:defRPr sz="1800"/>
            </a:pPr>
            <a:r>
              <a:t>Rules evaluated in number order; first match wins</a:t>
            </a:r>
          </a:p>
          <a:p>
            <a:pPr>
              <a:defRPr sz="1800"/>
            </a:pPr>
            <a:r>
              <a:t>Default NACL allows all traffic; custom NACL denies all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Security groups vs. NACLs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Security Group</a:t>
                      </a:r>
                    </a:p>
                  </a:txBody>
                  <a:tcPr>
                    <a:solidFill>
                      <a:srgbClr val="232F3E"/>
                    </a:solidFill>
                  </a:tcPr>
                </a:tc>
                <a:tc>
                  <a:txBody>
                    <a:bodyPr/>
                    <a:lstStyle/>
                    <a:p>
                      <a:pPr>
                        <a:defRPr sz="1400" b="1">
                          <a:solidFill>
                            <a:srgbClr val="FFFFFF"/>
                          </a:solidFill>
                        </a:defRPr>
                      </a:pPr>
                      <a:r>
                        <a:t>Network ACL</a:t>
                      </a:r>
                    </a:p>
                  </a:txBody>
                  <a:tcPr>
                    <a:solidFill>
                      <a:srgbClr val="232F3E"/>
                    </a:solidFill>
                  </a:tcPr>
                </a:tc>
              </a:tr>
              <a:tr h="365760">
                <a:tc>
                  <a:txBody>
                    <a:bodyPr/>
                    <a:lstStyle/>
                    <a:p>
                      <a:pPr>
                        <a:defRPr sz="1200"/>
                      </a:pPr>
                      <a:r>
                        <a:t>Statefulness</a:t>
                      </a:r>
                    </a:p>
                  </a:txBody>
                  <a:tcPr>
                    <a:solidFill>
                      <a:srgbClr val="F2F3F4"/>
                    </a:solidFill>
                  </a:tcPr>
                </a:tc>
                <a:tc>
                  <a:txBody>
                    <a:bodyPr/>
                    <a:lstStyle/>
                    <a:p>
                      <a:pPr>
                        <a:defRPr sz="1200"/>
                      </a:pPr>
                      <a:r>
                        <a:t>Stateful</a:t>
                      </a:r>
                    </a:p>
                  </a:txBody>
                  <a:tcPr>
                    <a:solidFill>
                      <a:srgbClr val="F2F3F4"/>
                    </a:solidFill>
                  </a:tcPr>
                </a:tc>
                <a:tc>
                  <a:txBody>
                    <a:bodyPr/>
                    <a:lstStyle/>
                    <a:p>
                      <a:pPr>
                        <a:defRPr sz="1200"/>
                      </a:pPr>
                      <a:r>
                        <a:t>Stateless</a:t>
                      </a:r>
                    </a:p>
                  </a:txBody>
                  <a:tcPr>
                    <a:solidFill>
                      <a:srgbClr val="F2F3F4"/>
                    </a:solidFill>
                  </a:tcPr>
                </a:tc>
              </a:tr>
              <a:tr h="365760">
                <a:tc>
                  <a:txBody>
                    <a:bodyPr/>
                    <a:lstStyle/>
                    <a:p>
                      <a:pPr>
                        <a:defRPr sz="1200"/>
                      </a:pPr>
                      <a:r>
                        <a:t>Rule types</a:t>
                      </a:r>
                    </a:p>
                  </a:txBody>
                  <a:tcPr/>
                </a:tc>
                <a:tc>
                  <a:txBody>
                    <a:bodyPr/>
                    <a:lstStyle/>
                    <a:p>
                      <a:pPr>
                        <a:defRPr sz="1200"/>
                      </a:pPr>
                      <a:r>
                        <a:t>Allow only</a:t>
                      </a:r>
                    </a:p>
                  </a:txBody>
                  <a:tcPr/>
                </a:tc>
                <a:tc>
                  <a:txBody>
                    <a:bodyPr/>
                    <a:lstStyle/>
                    <a:p>
                      <a:pPr>
                        <a:defRPr sz="1200"/>
                      </a:pPr>
                      <a:r>
                        <a:t>Allow and deny</a:t>
                      </a:r>
                    </a:p>
                  </a:txBody>
                  <a:tcPr/>
                </a:tc>
              </a:tr>
              <a:tr h="365760">
                <a:tc>
                  <a:txBody>
                    <a:bodyPr/>
                    <a:lstStyle/>
                    <a:p>
                      <a:pPr>
                        <a:defRPr sz="1200"/>
                      </a:pPr>
                      <a:r>
                        <a:t>Rule evaluation</a:t>
                      </a:r>
                    </a:p>
                  </a:txBody>
                  <a:tcPr>
                    <a:solidFill>
                      <a:srgbClr val="F2F3F4"/>
                    </a:solidFill>
                  </a:tcPr>
                </a:tc>
                <a:tc>
                  <a:txBody>
                    <a:bodyPr/>
                    <a:lstStyle/>
                    <a:p>
                      <a:pPr>
                        <a:defRPr sz="1200"/>
                      </a:pPr>
                      <a:r>
                        <a:t>All rules together</a:t>
                      </a:r>
                    </a:p>
                  </a:txBody>
                  <a:tcPr>
                    <a:solidFill>
                      <a:srgbClr val="F2F3F4"/>
                    </a:solidFill>
                  </a:tcPr>
                </a:tc>
                <a:tc>
                  <a:txBody>
                    <a:bodyPr/>
                    <a:lstStyle/>
                    <a:p>
                      <a:pPr>
                        <a:defRPr sz="1200"/>
                      </a:pPr>
                      <a:r>
                        <a:t>Number order, first match</a:t>
                      </a:r>
                    </a:p>
                  </a:txBody>
                  <a:tcPr>
                    <a:solidFill>
                      <a:srgbClr val="F2F3F4"/>
                    </a:solidFill>
                  </a:tcPr>
                </a:tc>
              </a:tr>
              <a:tr h="365760">
                <a:tc>
                  <a:txBody>
                    <a:bodyPr/>
                    <a:lstStyle/>
                    <a:p>
                      <a:pPr>
                        <a:defRPr sz="1200"/>
                      </a:pPr>
                      <a:r>
                        <a:t>Default behavior</a:t>
                      </a:r>
                    </a:p>
                  </a:txBody>
                  <a:tcPr/>
                </a:tc>
                <a:tc>
                  <a:txBody>
                    <a:bodyPr/>
                    <a:lstStyle/>
                    <a:p>
                      <a:pPr>
                        <a:defRPr sz="1200"/>
                      </a:pPr>
                      <a:r>
                        <a:t>Deny inbound, allow outbound</a:t>
                      </a:r>
                    </a:p>
                  </a:txBody>
                  <a:tcPr/>
                </a:tc>
                <a:tc>
                  <a:txBody>
                    <a:bodyPr/>
                    <a:lstStyle/>
                    <a:p>
                      <a:pPr>
                        <a:defRPr sz="1200"/>
                      </a:pPr>
                      <a:r>
                        <a:t>Default allows all</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groups vs. NACLs</a:t>
            </a:r>
          </a:p>
        </p:txBody>
      </p:sp>
      <p:sp>
        <p:nvSpPr>
          <p:cNvPr id="3" name="Content Placeholder 2"/>
          <p:cNvSpPr>
            <a:spLocks noGrp="1"/>
          </p:cNvSpPr>
          <p:nvPr>
            <p:ph idx="1"/>
          </p:nvPr>
        </p:nvSpPr>
        <p:spPr/>
        <p:txBody>
          <a:bodyPr/>
          <a:lstStyle/>
          <a:p>
            <a:pPr>
              <a:defRPr sz="1400" i="1">
                <a:solidFill>
                  <a:srgbClr val="555555"/>
                </a:solidFill>
              </a:defRPr>
            </a:pPr>
            <a:r>
              <a:t>Use security groups as your primary firewall. Use NACLs as a secondary defense for blocking specific IPs.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troubleshooting network access</a:t>
            </a:r>
          </a:p>
        </p:txBody>
      </p:sp>
      <p:sp>
        <p:nvSpPr>
          <p:cNvPr id="3" name="Content Placeholder 2"/>
          <p:cNvSpPr>
            <a:spLocks noGrp="1"/>
          </p:cNvSpPr>
          <p:nvPr>
            <p:ph idx="1"/>
          </p:nvPr>
        </p:nvSpPr>
        <p:spPr/>
        <p:txBody>
          <a:bodyPr/>
          <a:lstStyle/>
          <a:p>
            <a:pPr>
              <a:defRPr sz="1600"/>
            </a:pPr>
            <a:r>
              <a:t>An EC2 instance in a public subnet can receive HTTP requests on port 80, but clients never get a response.</a:t>
            </a:r>
          </a:p>
          <a:p>
            <a:pPr>
              <a:defRPr sz="1600"/>
            </a:pPr>
            <a:r>
              <a:t>The security group allows inbound TCP port 80 from `0.0.0.0/0`. The NACL allows inbound TCP port 80.</a:t>
            </a:r>
          </a:p>
          <a:p>
            <a:pPr>
              <a:defRPr sz="1600"/>
            </a:pPr>
            <a:r>
              <a:t>What is the most likely cause?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VPC design patterns</a:t>
            </a:r>
          </a:p>
        </p:txBody>
      </p:sp>
      <p:sp>
        <p:nvSpPr>
          <p:cNvPr id="3" name="Text Placeholder 2"/>
          <p:cNvSpPr>
            <a:spLocks noGrp="1"/>
          </p:cNvSpPr>
          <p:nvPr>
            <p:ph type="body" idx="1"/>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Two-tier architecture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Internet</a:t>
            </a:r>
            <a:br/>
            <a:r>
              <a:t>   |</a:t>
            </a:r>
            <a:br/>
            <a:r>
              <a:t>Internet Gateway</a:t>
            </a:r>
            <a:br/>
            <a:r>
              <a:t>   |</a:t>
            </a:r>
            <a:br/>
            <a:r>
              <a:t>Public Subnets (AZ-a, AZ-b)</a:t>
            </a:r>
            <a:br/>
            <a:r>
              <a:t>   ├── Web Server (AZ-a)</a:t>
            </a:r>
            <a:br/>
            <a:r>
              <a:t>   └── Web Server (AZ-b)</a:t>
            </a:r>
            <a:br/>
            <a:r>
              <a:t>   |</a:t>
            </a:r>
            <a:br/>
            <a:r>
              <a:t>Private Subnets (AZ-a, AZ-b)</a:t>
            </a:r>
            <a:br/>
            <a:r>
              <a:t>   ├── Database Primary (AZ-a)</a:t>
            </a:r>
            <a:br/>
            <a:r>
              <a:t>   └── Database Standby (AZ-b)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Three-tier architecture</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Tier</a:t>
                      </a:r>
                    </a:p>
                  </a:txBody>
                  <a:tcPr>
                    <a:solidFill>
                      <a:srgbClr val="232F3E"/>
                    </a:solidFill>
                  </a:tcPr>
                </a:tc>
                <a:tc>
                  <a:txBody>
                    <a:bodyPr/>
                    <a:lstStyle/>
                    <a:p>
                      <a:pPr>
                        <a:defRPr sz="1400" b="1">
                          <a:solidFill>
                            <a:srgbClr val="FFFFFF"/>
                          </a:solidFill>
                        </a:defRPr>
                      </a:pPr>
                      <a:r>
                        <a:t>Subnet Type</a:t>
                      </a:r>
                    </a:p>
                  </a:txBody>
                  <a:tcPr>
                    <a:solidFill>
                      <a:srgbClr val="232F3E"/>
                    </a:solidFill>
                  </a:tcPr>
                </a:tc>
                <a:tc>
                  <a:txBody>
                    <a:bodyPr/>
                    <a:lstStyle/>
                    <a:p>
                      <a:pPr>
                        <a:defRPr sz="1400" b="1">
                          <a:solidFill>
                            <a:srgbClr val="FFFFFF"/>
                          </a:solidFill>
                        </a:defRPr>
                      </a:pPr>
                      <a:r>
                        <a:t>SG Allows Inbound From</a:t>
                      </a:r>
                    </a:p>
                  </a:txBody>
                  <a:tcPr>
                    <a:solidFill>
                      <a:srgbClr val="232F3E"/>
                    </a:solidFill>
                  </a:tcPr>
                </a:tc>
              </a:tr>
              <a:tr h="365760">
                <a:tc>
                  <a:txBody>
                    <a:bodyPr/>
                    <a:lstStyle/>
                    <a:p>
                      <a:pPr>
                        <a:defRPr sz="1200"/>
                      </a:pPr>
                      <a:r>
                        <a:t>Application</a:t>
                      </a:r>
                    </a:p>
                  </a:txBody>
                  <a:tcPr>
                    <a:solidFill>
                      <a:srgbClr val="F2F3F4"/>
                    </a:solidFill>
                  </a:tcPr>
                </a:tc>
                <a:tc>
                  <a:txBody>
                    <a:bodyPr/>
                    <a:lstStyle/>
                    <a:p>
                      <a:pPr>
                        <a:defRPr sz="1200"/>
                      </a:pPr>
                      <a:r>
                        <a:t>Private</a:t>
                      </a:r>
                    </a:p>
                  </a:txBody>
                  <a:tcPr>
                    <a:solidFill>
                      <a:srgbClr val="F2F3F4"/>
                    </a:solidFill>
                  </a:tcPr>
                </a:tc>
                <a:tc>
                  <a:txBody>
                    <a:bodyPr/>
                    <a:lstStyle/>
                    <a:p>
                      <a:pPr>
                        <a:defRPr sz="1200"/>
                      </a:pPr>
                      <a:r>
                        <a:t>Presentation tier SG</a:t>
                      </a:r>
                    </a:p>
                  </a:txBody>
                  <a:tcPr>
                    <a:solidFill>
                      <a:srgbClr val="F2F3F4"/>
                    </a:solidFill>
                  </a:tcPr>
                </a:tc>
              </a:tr>
              <a:tr h="365760">
                <a:tc>
                  <a:txBody>
                    <a:bodyPr/>
                    <a:lstStyle/>
                    <a:p>
                      <a:pPr>
                        <a:defRPr sz="1200"/>
                      </a:pPr>
                      <a:r>
                        <a:t>Data</a:t>
                      </a:r>
                    </a:p>
                  </a:txBody>
                  <a:tcPr/>
                </a:tc>
                <a:tc>
                  <a:txBody>
                    <a:bodyPr/>
                    <a:lstStyle/>
                    <a:p>
                      <a:pPr>
                        <a:defRPr sz="1200"/>
                      </a:pPr>
                      <a:r>
                        <a:t>Private</a:t>
                      </a:r>
                    </a:p>
                  </a:txBody>
                  <a:tcPr/>
                </a:tc>
                <a:tc>
                  <a:txBody>
                    <a:bodyPr/>
                    <a:lstStyle/>
                    <a:p>
                      <a:pPr>
                        <a:defRPr sz="1200"/>
                      </a:pPr>
                      <a:r>
                        <a:t>Application tier SG</a:t>
                      </a: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Three-tier architecture</a:t>
            </a:r>
          </a:p>
        </p:txBody>
      </p:sp>
      <p:sp>
        <p:nvSpPr>
          <p:cNvPr id="3" name="Content Placeholder 2"/>
          <p:cNvSpPr>
            <a:spLocks noGrp="1"/>
          </p:cNvSpPr>
          <p:nvPr>
            <p:ph idx="1"/>
          </p:nvPr>
        </p:nvSpPr>
        <p:spPr/>
        <p:txBody>
          <a:bodyPr/>
          <a:lstStyle/>
          <a:p>
            <a:pPr>
              <a:defRPr sz="1800"/>
            </a:pPr>
            <a:r>
              <a:t>Presentation tier (public): load balancers</a:t>
            </a:r>
          </a:p>
          <a:p>
            <a:pPr>
              <a:defRPr sz="1800"/>
            </a:pPr>
            <a:r>
              <a:t>Application tier (private): app servers</a:t>
            </a:r>
          </a:p>
          <a:p>
            <a:pPr>
              <a:defRPr sz="1800"/>
            </a:pPr>
            <a:r>
              <a:t>Data tier (private): databases and caches</a:t>
            </a:r>
          </a:p>
          <a:p>
            <a:pPr>
              <a:defRPr sz="1400" i="1">
                <a:solidFill>
                  <a:srgbClr val="555555"/>
                </a:solidFill>
              </a:defRPr>
            </a:pPr>
            <a:r>
              <a:t>The three-tier architecture is the most common VPC design pattern for web applications on AWS.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designing security group rules</a:t>
            </a:r>
          </a:p>
        </p:txBody>
      </p:sp>
      <p:sp>
        <p:nvSpPr>
          <p:cNvPr id="3" name="Content Placeholder 2"/>
          <p:cNvSpPr>
            <a:spLocks noGrp="1"/>
          </p:cNvSpPr>
          <p:nvPr>
            <p:ph idx="1"/>
          </p:nvPr>
        </p:nvSpPr>
        <p:spPr/>
        <p:txBody>
          <a:bodyPr/>
          <a:lstStyle/>
          <a:p>
            <a:pPr>
              <a:defRPr sz="1600"/>
            </a:pPr>
            <a:r>
              <a:t>You are building a three-tier web application. The ALB is in public subnets, app servers are in private subnets, and an RDS database is in private subnets.</a:t>
            </a:r>
          </a:p>
          <a:p>
            <a:pPr>
              <a:defRPr sz="1600"/>
            </a:pPr>
            <a:r>
              <a:t>Define the inbound security group rules for each tier.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A VPC is your isolated virtual network in AWS, spanning a single Region across multiple AZs. You control the CIDR block, subnets, routing, and security.</a:t>
            </a:r>
          </a:p>
          <a:p>
            <a:pPr>
              <a:defRPr sz="1800"/>
            </a:pPr>
            <a:r>
              <a:t>Public subnets route traffic through an internet gateway; private subnets use a NAT gateway for outbound-only access. Place databases in private subnets.</a:t>
            </a:r>
          </a:p>
          <a:p>
            <a:pPr>
              <a:defRPr sz="1800"/>
            </a:pPr>
            <a:r>
              <a:t>Route tables determine where traffic flows. Each subnet is associated with a route table, and the most specific route wins.</a:t>
            </a:r>
          </a:p>
          <a:p>
            <a:pPr>
              <a:defRPr sz="1800"/>
            </a:pPr>
            <a:r>
              <a:t>Security groups (stateful, resource-level, allow-only) are your primary firewall. NACLs (stateless, subnet-level, allow and deny) provide an additional defense layer.</a:t>
            </a:r>
          </a:p>
          <a:p>
            <a:pPr>
              <a:defRPr sz="1800"/>
            </a:pPr>
            <a:r>
              <a:t>The three-tier architecture (presentation, application, data) uses layered security groups to restrict traffic between tiers following least privilege.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VPC setup</a:t>
            </a:r>
          </a:p>
        </p:txBody>
      </p:sp>
      <p:sp>
        <p:nvSpPr>
          <p:cNvPr id="3" name="Content Placeholder 2"/>
          <p:cNvSpPr>
            <a:spLocks noGrp="1"/>
          </p:cNvSpPr>
          <p:nvPr>
            <p:ph idx="1"/>
          </p:nvPr>
        </p:nvSpPr>
        <p:spPr/>
        <p:txBody>
          <a:bodyPr/>
          <a:lstStyle/>
          <a:p>
            <a:pPr>
              <a:defRPr sz="1600"/>
            </a:pPr>
            <a:r>
              <a:t>Objective: Build a custom VPC with public and private subnets, an internet gateway, a NAT gateway, route tables, and security groups</a:t>
            </a:r>
          </a:p>
          <a:p>
            <a:pPr>
              <a:defRPr sz="1600"/>
            </a:pPr>
            <a:r>
              <a:t>Key services: Amazon VPC, subnets, internet gateway, NAT gateway, security groups, EC2</a:t>
            </a:r>
          </a:p>
          <a:p>
            <a:pPr>
              <a:defRPr sz="1600"/>
            </a:pPr>
            <a:r>
              <a:t>Duration: 60 minutes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`modules/03-networking-basics/resources.md`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