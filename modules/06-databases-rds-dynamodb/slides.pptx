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Welcome to Module 06. This module covers both relational (RDS) and NoSQL (DynamoDB) databases. Breakdown: 10 min database landscape, 15 min RDS fundamentals, 10 min Multi-AZ and read replicas, 10 min backups, 15 min DynamoDB fundamentals, 10 min GSIs and capacity, 10 min SQL vs NoSQL decision, 10 min security and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This section takes approximately 10 minutes. Start by drawing a VPC with an RDS instance in a private subnet and an EC2 instance connecting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This section takes approximately 15 minutes. Cover supported engines, instance classes, and the free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Expected answer: RDS handles patching, automated backups, and Multi-AZ failover automatically. The DBAs could redirect that 40% of time toward query optimization, schema design, and application performance. The trade-off is less control over the OS and database engine configuration. This is the core value proposition of managed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This section takes approximately 10 minutes. Use the analogy: Multi-AZ is a backup generator, read replicas are additional staff for peak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This section takes approximately 10 minutes. Cover retention, point-in-time recovery, and manual snapshots.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This section takes approximately 15 minutes. Emphasize the "access patterns first" design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Answer: ConversationId as the partition key and Timestamp as the sort key. This allows you to Query all messages for a conversation (same partition key) sorted by time (sort key). This is a classic composite key pattern. A common wrong answer is using MessageId as the partition key, which would require a Scan to find all messages in a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This section takes approximately 10 minutes. Cover GSIs briefly and compare on-demand vs. provisioned.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This section takes approximately 10 minutes. Present the comparison table and walk through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Answer: Scenario A is RDS (complex joins, aggregations, reporting across multiple tables). Scenario B is DynamoDB (high throughput, low latency, simple key-based access pattern). This reinforces that the choice depends on access patterns, not on which service is "better."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This section takes approximately 10 minutes. Connect to Module 02 (IAM) and Module 03 (VPC, private subnets).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Students will create a DB subnet group, security group, and RDS instance in a private subnet. They will connect using psql from an EC2 instance. Then they will create a DynamoDB table with a composite key and run Query and Scan operations to see the performance difference. Remind students to delete the RDS instance after the lab to avoid charges.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Take 5-10 minutes for questions. Common questions involve choosing between Aurora and standard RDS, and designing DynamoDB partition keys. Transition to the lab when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06: Databases with Amazon RDS and DynamoDB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Phase 2: Core Services</a:t>
            </a:r>
          </a:p>
          <a:p>
            <a:pPr>
              <a:defRPr sz="1600"/>
            </a:pPr>
            <a:r>
              <a:t>Estimated lecture time: 90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By the end of this module, you will be able to:</a:t>
            </a:r>
          </a:p>
          <a:p>
            <a:pPr>
              <a:defRPr sz="1800"/>
            </a:pPr>
            <a:r>
              <a:t>Demonstrate the differences between managed and self-managed databases</a:t>
            </a:r>
          </a:p>
          <a:p>
            <a:pPr>
              <a:defRPr sz="1800"/>
            </a:pPr>
            <a:r>
              <a:t>Configure an RDS database instance with appropriate settings</a:t>
            </a:r>
          </a:p>
          <a:p>
            <a:pPr>
              <a:defRPr sz="1800"/>
            </a:pPr>
            <a:r>
              <a:t>Set up an RDS Multi-AZ deployment for high availability</a:t>
            </a:r>
          </a:p>
          <a:p>
            <a:pPr>
              <a:defRPr sz="1800"/>
            </a:pPr>
            <a:r>
              <a:t>Implement RDS read replicas to scale read-heavy workloads</a:t>
            </a:r>
          </a:p>
          <a:p>
            <a:pPr>
              <a:defRPr sz="1800"/>
            </a:pPr>
            <a:r>
              <a:t>Configure RDS automated backups and point-in-time recovery</a:t>
            </a:r>
          </a:p>
          <a:p>
            <a:pPr>
              <a:defRPr sz="1800"/>
            </a:pPr>
            <a:r>
              <a:t>Deploy a DynamoDB table with primary key schema and GSIs</a:t>
            </a:r>
          </a:p>
          <a:p>
            <a:pPr>
              <a:defRPr sz="1800"/>
            </a:pPr>
            <a:r>
              <a:t>Use DynamoDB on-demand and provisioned capacity modes</a:t>
            </a:r>
          </a:p>
          <a:p>
            <a:pPr>
              <a:defRPr sz="1800"/>
            </a:pPr>
            <a:r>
              <a:t>Implement database security controls including encryption and VPC placement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 and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Prerequisites: Module 02 (IAM), Module 03 (VPC, private subnets, security groups), Module 04 (EC2 for connectivity testing)</a:t>
            </a:r>
          </a:p>
          <a:p>
            <a:pPr>
              <a:defRPr sz="1600"/>
            </a:pPr>
            <a:r>
              <a:t>Agenda:</a:t>
            </a:r>
          </a:p>
          <a:p>
            <a:pPr>
              <a:defRPr sz="1800"/>
            </a:pPr>
            <a:r>
              <a:t>Database landscape on AWS</a:t>
            </a:r>
          </a:p>
          <a:p>
            <a:pPr>
              <a:defRPr sz="1800"/>
            </a:pPr>
            <a:r>
              <a:t>Amazon RDS fundamentals</a:t>
            </a:r>
          </a:p>
          <a:p>
            <a:pPr>
              <a:defRPr sz="1800"/>
            </a:pPr>
            <a:r>
              <a:t>Multi-AZ deployments and read replicas</a:t>
            </a:r>
          </a:p>
          <a:p>
            <a:pPr>
              <a:defRPr sz="1800"/>
            </a:pPr>
            <a:r>
              <a:t>RDS automated backups</a:t>
            </a:r>
          </a:p>
          <a:p>
            <a:pPr>
              <a:defRPr sz="1800"/>
            </a:pPr>
            <a:r>
              <a:t>Amazon DynamoDB fundamentals</a:t>
            </a:r>
          </a:p>
          <a:p>
            <a:pPr>
              <a:defRPr sz="1800"/>
            </a:pPr>
            <a:r>
              <a:t>DynamoDB keys, GSIs, and capacity modes</a:t>
            </a:r>
          </a:p>
          <a:p>
            <a:pPr>
              <a:defRPr sz="1800"/>
            </a:pPr>
            <a:r>
              <a:t>SQL vs. NoSQL decision framework</a:t>
            </a:r>
          </a:p>
          <a:p>
            <a:pPr>
              <a:defRPr sz="1800"/>
            </a:pPr>
            <a:r>
              <a:t>Database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landscape on AWS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Managed vs. self-managed databases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Self-Managed (EC2)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Managed (RDS)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Fully Managed (DynamoDB)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Patching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You patch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AWS patches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AWS patches transparently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Backups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You configure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AWS automates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AWS automates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 availability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You build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AWS provides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Built in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You resize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You resize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Automatic (on-demand)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Relational vs. NoSQL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Characteristic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Relational (SQL)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NoSQL (DynamoDB)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Schema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Fixed, defined upfront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Flexible, per-item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Query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SQL (joins, aggregations)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API-based (GetItem, Query)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Scaling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Vertical (larger instance)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Horizontal (partitioning)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Best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Complex queries,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High-throughput, low-latency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Relational vs. NoSQL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Many architectures use both. Each handles the workload it is best suited for.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RDS fundamentals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database engines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Amazon Aurora (MySQL and PostgreSQL compatible)</a:t>
            </a:r>
          </a:p>
          <a:p>
            <a:pPr>
              <a:defRPr sz="1800"/>
            </a:pPr>
            <a:r>
              <a:t>MySQL</a:t>
            </a:r>
          </a:p>
          <a:p>
            <a:pPr>
              <a:defRPr sz="1800"/>
            </a:pPr>
            <a:r>
              <a:t>PostgreSQL</a:t>
            </a:r>
          </a:p>
          <a:p>
            <a:pPr>
              <a:defRPr sz="1800"/>
            </a:pPr>
            <a:r>
              <a:t>MariaDB</a:t>
            </a:r>
          </a:p>
          <a:p>
            <a:pPr>
              <a:defRPr sz="1800"/>
            </a:pPr>
            <a:r>
              <a:t>Oracle Database</a:t>
            </a:r>
          </a:p>
          <a:p>
            <a:pPr>
              <a:defRPr sz="1800"/>
            </a:pPr>
            <a:r>
              <a:t>Microsoft SQL Server</a:t>
            </a:r>
          </a:p>
          <a:p>
            <a:pPr>
              <a:defRPr sz="1600"/>
            </a:pPr>
            <a:r>
              <a:t>Aurora provides up to 5x MySQL throughput and 3x PostgreSQL throughput with fault-tolerant storage across three AZs.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DB instance classes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Instance Class Type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Prefix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Optimized For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Memory optimized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db.r6g, db.r7g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Large databases, analytics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Burstable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db.t3, db.t4g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Dev, testing, small production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 instance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`db.t3.micro` is eligible for the AWS Free Tier (750 hours/month for 12 months).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Discussion: managed vs. self-managed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Your team has two database administrators who currently manage PostgreSQL on EC2 instances. They spend 40% of their time on patching, backups, and failover configuration.</a:t>
            </a:r>
          </a:p>
          <a:p>
            <a:pPr>
              <a:defRPr sz="1600"/>
            </a:pPr>
            <a:r>
              <a:t>How would migrating to RDS change their workload?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Multi-AZ and read replicas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Multi-AZ deployments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Synchronous standby replica in a different AZ</a:t>
            </a:r>
          </a:p>
          <a:p>
            <a:pPr>
              <a:defRPr sz="1800"/>
            </a:pPr>
            <a:r>
              <a:t>Automatic failover in 1-2 minutes if primary fails</a:t>
            </a:r>
          </a:p>
          <a:p>
            <a:pPr>
              <a:defRPr sz="1800"/>
            </a:pPr>
            <a:r>
              <a:t>Standby is not readable (failover target only)</a:t>
            </a:r>
          </a:p>
          <a:p>
            <a:pPr>
              <a:defRPr sz="1800"/>
            </a:pPr>
            <a:r>
              <a:t>DNS endpoint automatically updates on failover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 replicas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Asynchronous read-only copies for scaling read traffic</a:t>
            </a:r>
          </a:p>
          <a:p>
            <a:pPr>
              <a:defRPr sz="1800"/>
            </a:pPr>
            <a:r>
              <a:t>Small replica lag (typically seconds)</a:t>
            </a:r>
          </a:p>
          <a:p>
            <a:pPr>
              <a:defRPr sz="1800"/>
            </a:pPr>
            <a:r>
              <a:t>Can be created in another Region (cross-Region)</a:t>
            </a:r>
          </a:p>
          <a:p>
            <a:pPr>
              <a:defRPr sz="1800"/>
            </a:pPr>
            <a:r>
              <a:t>Manual promotion required (no automatic failover)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Multi-AZ vs. read replicas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Multi-AZ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Read Replica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Replication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Synchronous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Asynchronous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Readable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Cross-Region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Auto failover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Multi-AZ vs. read replicas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You can combine both: Multi-AZ on the primary for HA, plus read replicas for scaling.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RDS automated backups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Backups and recovery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CDD6F4"/>
                </a:solidFill>
                <a:latin typeface="Courier New"/>
              </a:defRPr>
            </a:pPr>
            <a:r>
              <a:t>aws rds create-db-snapshot \</a:t>
            </a:r>
            <a:br/>
            <a:r>
              <a:t>    --db-instance-identifier my-database \</a:t>
            </a:r>
            <a:br/>
            <a:r>
              <a:t>    --db-snapshot-identifier my-snapshot-2024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DynamoDB fundamentals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DynamoDB?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Fully managed, serverless NoSQL database</a:t>
            </a:r>
          </a:p>
          <a:p>
            <a:pPr>
              <a:defRPr sz="1800"/>
            </a:pPr>
            <a:r>
              <a:t>Single-digit millisecond performance at any scale</a:t>
            </a:r>
          </a:p>
          <a:p>
            <a:pPr>
              <a:defRPr sz="1800"/>
            </a:pPr>
            <a:r>
              <a:t>No servers to provision, patch, or manage</a:t>
            </a:r>
          </a:p>
          <a:p>
            <a:pPr>
              <a:defRPr sz="1800"/>
            </a:pPr>
            <a:r>
              <a:t>Supports key-value and document data models</a:t>
            </a:r>
          </a:p>
          <a:p>
            <a:pPr>
              <a:defRPr sz="1800"/>
            </a:pPr>
            <a:r>
              <a:t>Encryption at rest enabled by default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Tables, items, and attributes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CDD6F4"/>
                </a:solidFill>
                <a:latin typeface="Courier New"/>
              </a:defRPr>
            </a:pPr>
            <a:r>
              <a:t>aws dynamodb create-table \</a:t>
            </a:r>
            <a:br/>
            <a:r>
              <a:t>    --table-name Music \</a:t>
            </a:r>
            <a:br/>
            <a:r>
              <a:t>    --attribute-definitions \</a:t>
            </a:r>
            <a:br/>
            <a:r>
              <a:t>        AttributeName=Artist,AttributeType=S \</a:t>
            </a:r>
            <a:br/>
            <a:r>
              <a:t>        AttributeName=SongTitle,AttributeType=S \</a:t>
            </a:r>
            <a:br/>
            <a:r>
              <a:t>    --key-schema \</a:t>
            </a:r>
            <a:br/>
            <a:r>
              <a:t>        AttributeName=Artist,KeyType=HASH \</a:t>
            </a:r>
            <a:br/>
            <a:r>
              <a:t>        AttributeName=SongTitle,KeyType=RANGE \</a:t>
            </a:r>
            <a:br/>
            <a:r>
              <a:t>    --billing-mode PAY_PER_REQUEST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Primary key types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Attributes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Query Capability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Composite key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Partition + sort key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Retrieve all items with a partition key; filter by sort key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key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Choose a partition key with high cardinality to distribute data evenly. Poor choices create "hot partitions."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check: designing a DynamoDB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You are building a chat application. You need to retrieve all messages in a conversation, sorted by timestamp.</a:t>
            </a:r>
          </a:p>
          <a:p>
            <a:pPr>
              <a:defRPr sz="1600"/>
            </a:pPr>
            <a:r>
              <a:t>What would you choose as the partition key and sort key?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GSIs and capacity modes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Secondary Indexes (GSIs)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Query a table using an alternate key (different from primary key)</a:t>
            </a:r>
          </a:p>
          <a:p>
            <a:pPr>
              <a:defRPr sz="1800"/>
            </a:pPr>
            <a:r>
              <a:t>DynamoDB maintains a separate copy organized by the GSI key</a:t>
            </a:r>
          </a:p>
          <a:p>
            <a:pPr>
              <a:defRPr sz="1800"/>
            </a:pPr>
            <a:r>
              <a:t>Reads from GSIs are eventually consistent</a:t>
            </a:r>
          </a:p>
          <a:p>
            <a:pPr>
              <a:defRPr sz="1800"/>
            </a:pPr>
            <a:r>
              <a:t>Each GSI adds storage and write cost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Design GSIs around your application's actual query patterns. Avoid creating indexes you do not need.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Capacity modes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On-Demand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Provisioned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Capacity planning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None required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You specify RCUs and WCUs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Automatic, instant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Auto scaling with slight delay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Unpredictable traffic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Predictable, steady-state traffic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Capacity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Start with on-demand for new tables. Switch to provisioned after traffic patterns stabilize.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vs. NoSQL decision framework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When to use RDS vs. DynamoDB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Amazon RDS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Amazon DynamoDB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Schema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Fixed, enforced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Flexible, per-item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Multi-table ACID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Single-table ACID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Scaling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Vertical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Horizontal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Varies with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Single-digit ms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Complex queries, reporting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High-scale, key-based access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Think about it: database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Scenario A: A financial reporting system that joins data across 10 tables and generates monthly aggregate reports.</a:t>
            </a:r>
          </a:p>
          <a:p>
            <a:pPr>
              <a:defRPr sz="1600"/>
            </a:pPr>
            <a:r>
              <a:t>Scenario B: A real-time gaming leaderboard that handles 50,000 reads per second with simple key lookups.</a:t>
            </a:r>
          </a:p>
          <a:p>
            <a:pPr>
              <a:defRPr sz="1600"/>
            </a:pPr>
            <a:r>
              <a:t>Which database service would you choose for each?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security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VPC placement: always place RDS in private subnets</a:t>
            </a:r>
          </a:p>
          <a:p>
            <a:pPr>
              <a:defRPr sz="1800"/>
            </a:pPr>
            <a:r>
              <a:t>Security groups: allow connections only from app server SGs</a:t>
            </a:r>
          </a:p>
          <a:p>
            <a:pPr>
              <a:defRPr sz="1800"/>
            </a:pPr>
            <a:r>
              <a:t>Encryption at rest: RDS uses KMS; DynamoDB encrypts by default</a:t>
            </a:r>
          </a:p>
          <a:p>
            <a:pPr>
              <a:defRPr sz="1800"/>
            </a:pPr>
            <a:r>
              <a:t>Encryption in transit: RDS supports SSL/TLS; DynamoDB uses HTTPS</a:t>
            </a:r>
          </a:p>
          <a:p>
            <a:pPr>
              <a:defRPr sz="1800"/>
            </a:pPr>
            <a:r>
              <a:t>IAM authentication: RDS supports IAM DB auth; DynamoDB uses IAM policies</a:t>
            </a:r>
          </a:p>
          <a:p>
            <a:pPr>
              <a:defRPr sz="1800"/>
            </a:pPr>
            <a:r>
              <a:t>VPC endpoints: keep DynamoDB traffic off the public internet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Amazon RDS is a managed relational database handling provisioning, patching, backups, and failover. Use it for complex SQL queries, transactions, and reporting.</a:t>
            </a:r>
          </a:p>
          <a:p>
            <a:pPr>
              <a:defRPr sz="1800"/>
            </a:pPr>
            <a:r>
              <a:t>RDS Multi-AZ provides high availability with automatic failover. Read replicas provide read scaling and can span Regions for disaster recovery.</a:t>
            </a:r>
          </a:p>
          <a:p>
            <a:pPr>
              <a:defRPr sz="1800"/>
            </a:pPr>
            <a:r>
              <a:t>Amazon DynamoDB is a fully managed, serverless NoSQL database with single-digit millisecond performance. Design your table schema around access patterns.</a:t>
            </a:r>
          </a:p>
          <a:p>
            <a:pPr>
              <a:defRPr sz="1800"/>
            </a:pPr>
            <a:r>
              <a:t>Always place RDS in private subnets, enable encryption, and use IAM authentication. For DynamoDB, use VPC endpoints to keep traffic off the public internet.</a:t>
            </a:r>
          </a:p>
          <a:p>
            <a:pPr>
              <a:defRPr sz="1800"/>
            </a:pPr>
            <a:r>
              <a:t>Use the SQL vs. NoSQL decision framework to choose the right database. Many architectures use both RDS and DynamoDB together.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preview: working with RDS and DynamoDB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Objective: Create an RDS PostgreSQL instance, connect from EC2, create a DynamoDB table with a composite key, and compare Query vs. Scan</a:t>
            </a:r>
          </a:p>
          <a:p>
            <a:pPr>
              <a:defRPr sz="1600"/>
            </a:pPr>
            <a:r>
              <a:t>Key services: Amazon RDS, Amazon DynamoDB, VPC, EC2, IAM</a:t>
            </a:r>
          </a:p>
          <a:p>
            <a:pPr>
              <a:defRPr sz="1600"/>
            </a:pPr>
            <a:r>
              <a:t>Duration: 60 minutes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Review `modules/06-databases-rds-dynamodb/resources.md` for further reading.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