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Welcome to Module 05. This module covers S3 object storage, one of the most widely used AWS services. Breakdown: 10 min S3 overview, 15 min storage classes, 10 min versioning, 10 min lifecycle policies, 15 min access control, 10 min encryption, 10 min static website hosting, 10 min replication and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Start by contrasting S3 (object storage) with EBS (block storage) from Module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15 minutes. Use the filing system analogy: Standard is the desk drawer, Standard-IA is the filing cabinet, Glacier is the offsite warehouse.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Expected answer: Start in S3 Standard for the first 30 days (active access). Transition to Standard-IA after 30 days (occasional access). Transition to Glacier Flexible Retrieval after 90 days (rare access). Use a Lifecycle policy to automate these transitions. Expire after 7 years (2,555 days). This is a classic tiered storage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Demonstrate by uploading a file, modifying it, uploading again, then showing both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Show the transition hierarchy and a JSON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15 minutes. Connect to IAM policies from Module 02. Show a bucket policy and IAM policy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Answer: No. Block Public Access overrides the bucket policy. Even though the policy grants public read, the account-level Block Public Access setting prevents it. The developer must explicitly disable Block Public Access on that specific bucket (and have account-level permission to do so) before the public policy takes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Emphasize that SSE-S3 is the default and sufficient for most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10 minutes. Cover the configuration steps and the HTTPS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approximately 5 minutes. Cover CRR and Transfer Acceleration briefly.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Students will create a bucket in us-east-1, upload objects, enable versioning, create a Lifecycle rule, configure SSE-KMS encryption, and set up static website hosting with a public bucket policy. Remind students to clean up the bucket and objects after the lab to avoid storage charges.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Take 5-10 minutes for questions. Common questions involve the difference between S3 and EBS, and when to use SSE-KMS vs. SSE-S3. Transition to the lab when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05: Storage with Amazon S3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Phase 2: Core Services</a:t>
            </a:r>
          </a:p>
          <a:p>
            <a:pPr>
              <a:defRPr sz="1600"/>
            </a:pPr>
            <a:r>
              <a:t>Estimated lecture time: 90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By the end of this module, you will be able to:</a:t>
            </a:r>
          </a:p>
          <a:p>
            <a:pPr>
              <a:defRPr sz="1800"/>
            </a:pPr>
            <a:r>
              <a:t>Demonstrate how S3 stores data as objects in buckets using keys and prefixes</a:t>
            </a:r>
          </a:p>
          <a:p>
            <a:pPr>
              <a:defRPr sz="1800"/>
            </a:pPr>
            <a:r>
              <a:t>Configure bucket settings including versioning, encryption, and Block Public Access</a:t>
            </a:r>
          </a:p>
          <a:p>
            <a:pPr>
              <a:defRPr sz="1800"/>
            </a:pPr>
            <a:r>
              <a:t>Implement Lifecycle policies to transition objects between storage classes</a:t>
            </a:r>
          </a:p>
          <a:p>
            <a:pPr>
              <a:defRPr sz="1800"/>
            </a:pPr>
            <a:r>
              <a:t>Use S3 storage classes to optimize costs based on access patterns</a:t>
            </a:r>
          </a:p>
          <a:p>
            <a:pPr>
              <a:defRPr sz="1800"/>
            </a:pPr>
            <a:r>
              <a:t>Set up access control using bucket policies, IAM policies, and Block Public Access</a:t>
            </a:r>
          </a:p>
          <a:p>
            <a:pPr>
              <a:defRPr sz="1800"/>
            </a:pPr>
            <a:r>
              <a:t>Deploy a static website hosted on Amazon S3</a:t>
            </a:r>
          </a:p>
          <a:p>
            <a:pPr>
              <a:defRPr sz="1800"/>
            </a:pPr>
            <a:r>
              <a:t>Demonstrate the differences between S3 encryption options (SSE-S3, SSE-KMS, SSE-C)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Prerequisites and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Prerequisites: Module 02 (IAM policies), Module 04 (EC2 and IAM instance profiles), AWS account</a:t>
            </a:r>
          </a:p>
          <a:p>
            <a:pPr>
              <a:defRPr sz="1600"/>
            </a:pPr>
            <a:r>
              <a:t>Agenda:</a:t>
            </a:r>
          </a:p>
          <a:p>
            <a:pPr>
              <a:defRPr sz="1800"/>
            </a:pPr>
            <a:r>
              <a:t>S3 overview: object storage fundamentals</a:t>
            </a:r>
          </a:p>
          <a:p>
            <a:pPr>
              <a:defRPr sz="1800"/>
            </a:pPr>
            <a:r>
              <a:t>Storage classes</a:t>
            </a:r>
          </a:p>
          <a:p>
            <a:pPr>
              <a:defRPr sz="1800"/>
            </a:pPr>
            <a:r>
              <a:t>Versioning</a:t>
            </a:r>
          </a:p>
          <a:p>
            <a:pPr>
              <a:defRPr sz="1800"/>
            </a:pPr>
            <a:r>
              <a:t>Lifecycle policies</a:t>
            </a:r>
          </a:p>
          <a:p>
            <a:pPr>
              <a:defRPr sz="1800"/>
            </a:pPr>
            <a:r>
              <a:t>Access control</a:t>
            </a:r>
          </a:p>
          <a:p>
            <a:pPr>
              <a:defRPr sz="1800"/>
            </a:pPr>
            <a:r>
              <a:t>Encryption</a:t>
            </a:r>
          </a:p>
          <a:p>
            <a:pPr>
              <a:defRPr sz="1800"/>
            </a:pPr>
            <a:r>
              <a:t>Static website hosting</a:t>
            </a:r>
          </a:p>
          <a:p>
            <a:pPr>
              <a:defRPr sz="1800"/>
            </a:pPr>
            <a:r>
              <a:t>Cross-Region Replication and Transfer Acceleration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S3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S3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Object storage with virtually unlimited capacity</a:t>
            </a:r>
          </a:p>
          <a:p>
            <a:pPr>
              <a:defRPr sz="1800"/>
            </a:pPr>
            <a:r>
              <a:t>99.999999999% (eleven nines) durability</a:t>
            </a:r>
          </a:p>
          <a:p>
            <a:pPr>
              <a:defRPr sz="1800"/>
            </a:pPr>
            <a:r>
              <a:t>Pay only for what you use, no upfront cost</a:t>
            </a:r>
          </a:p>
          <a:p>
            <a:pPr>
              <a:defRPr sz="1800"/>
            </a:pPr>
            <a:r>
              <a:t>Access via S3 API, console, or AWS CLI</a:t>
            </a:r>
          </a:p>
          <a:p>
            <a:pPr>
              <a:defRPr sz="1800"/>
            </a:pPr>
            <a:r>
              <a:t>Strong read-after-write consistency for all operations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Buckets, objects, keys, and prefixes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aws s3 ls s3://my-bucket/images/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Storage class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Storage Class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Designed For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Retrieval Fee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S3 Intelligent-Tiering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Unknown access patterns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S3 Standard-IA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Infrequent access, fast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Per-GB fee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S3 One Zone-IA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Non-critical infrequent data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Per-GB fee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Glacier storage classes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Storage Class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Designed For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Retrieval Time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Glacier Flexible Retrieval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Archive, 1-2 times/year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Minutes to hours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Glacier Deep 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Long-term archive, rarely accessed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 to 48 hours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Glacier storage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S3 Intelligent-Tiering is a good default when you do not know the access pattern in advance.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Discussion: choosing a storage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You have application logs that are accessed daily for the first week, occasionally for the next 90 days, and almost never after that. Regulations require you to keep them for 7 years.</a:t>
            </a:r>
          </a:p>
          <a:p>
            <a:pPr>
              <a:defRPr sz="1600"/>
            </a:pPr>
            <a:r>
              <a:t>What storage class strategy would you recommend?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Versioning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S3 versioning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aws s3api put-bucket-versioning \</a:t>
            </a:r>
            <a:br/>
            <a:r>
              <a:t>    --bucket my-bucket \</a:t>
            </a:r>
            <a:br/>
            <a:r>
              <a:t>    --versioning-configuration Status=Enabled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Lifecycle policies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Lifecycle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S3 Standard</a:t>
            </a:r>
            <a:br/>
            <a:r>
              <a:t>  --&gt; Intelligent-Tiering</a:t>
            </a:r>
            <a:br/>
            <a:r>
              <a:t>    --&gt; Standard-IA / One Zone-IA</a:t>
            </a:r>
            <a:br/>
            <a:r>
              <a:t>      --&gt; Glacier Instant Retrieval</a:t>
            </a:r>
            <a:br/>
            <a:r>
              <a:t>        --&gt; Glacier Flexible Retrieval</a:t>
            </a:r>
            <a:br/>
            <a:r>
              <a:t>          --&gt; Glacier Deep Archive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Lifecycle rule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{</a:t>
            </a:r>
            <a:br/>
            <a:r>
              <a:t>  "Rules": [{</a:t>
            </a:r>
            <a:br/>
            <a:r>
              <a:t>    "ID": "ArchiveAndExpireLogs",</a:t>
            </a:r>
            <a:br/>
            <a:r>
              <a:t>    "Filter": { "Prefix": "logs/" },</a:t>
            </a:r>
            <a:br/>
            <a:r>
              <a:t>    "Status": "Enabled",</a:t>
            </a:r>
            <a:br/>
            <a:r>
              <a:t>    "Transitions": [</a:t>
            </a:r>
            <a:br/>
            <a:r>
              <a:t>      { "Days": 30, "StorageClass": "STANDARD_IA" },</a:t>
            </a:r>
            <a:br/>
            <a:r>
              <a:t>      { "Days": 90, "StorageClass": "GLACIER" }</a:t>
            </a:r>
            <a:br/>
            <a:r>
              <a:t>    ],</a:t>
            </a:r>
            <a:br/>
            <a:r>
              <a:t>    "Expiration": { "Days": 365 }</a:t>
            </a:r>
            <a:br/>
            <a:r>
              <a:t>  }]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Bucket policies vs. IAM policies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IAM Policy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Bucket Policy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Controls access for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 specific identity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Any principal accessing a bucket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Cross-account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Requires role 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Can grant access directly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What a user/role can do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Who can access a bucket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Bucket policies vs. IAM policies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Both the IAM policy and bucket policy must allow the action for the request to succeed.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Block Public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Four settings that override any policy granting public access</a:t>
            </a:r>
          </a:p>
          <a:p>
            <a:pPr>
              <a:defRPr sz="1800"/>
            </a:pPr>
            <a:r>
              <a:t>Acts as a safety net against accidental public exposure</a:t>
            </a:r>
          </a:p>
          <a:p>
            <a:pPr>
              <a:defRPr sz="1800"/>
            </a:pPr>
            <a:r>
              <a:t>Enabled by default on new buckets and at the account level</a:t>
            </a:r>
          </a:p>
          <a:p>
            <a:pPr>
              <a:defRPr sz="1800"/>
            </a:pPr>
            <a:r>
              <a:t>Disable only on specific buckets that require public access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t>Enable Block Public Access at the account level as a guardrail.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check: 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 developer attaches a bucket policy granting `s3:GetObject` to `"Principal": "*"` on a bucket. Block Public Access is enabled at the account level.</a:t>
            </a:r>
          </a:p>
          <a:p>
            <a:pPr>
              <a:defRPr sz="1600"/>
            </a:pPr>
            <a:r>
              <a:t>Can anonymous users read objects from this bucket?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Encryption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Server-side encryption options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Management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SSE-KMS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AWS KMS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KMS key fees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Audit trail, key access control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SSE-C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Customer provides keys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 S3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Full customer key control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Server-side encryption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SSE-S3 is enabled by default on all buckets (since January 2023)</a:t>
            </a:r>
          </a:p>
          <a:p>
            <a:pPr>
              <a:defRPr sz="1800"/>
            </a:pPr>
            <a:r>
              <a:t>SSE-KMS adds audit trail via CloudTrail and fine-grained key policies</a:t>
            </a:r>
          </a:p>
          <a:p>
            <a:pPr>
              <a:defRPr sz="1800"/>
            </a:pPr>
            <a:r>
              <a:t>SSE-C requires you to provide the key with every request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t>Use SSE-KMS when compliance requires customer-managed keys or audit logging.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Static website hosting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Hosting a static website on S3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http://&lt;bucket&gt;.s3-website-&lt;region&gt;.amazonaws.com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Cross-Region 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Replication and Transfer Acceleration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Cross-Region Replication (CRR): automatic async copy to another Region</a:t>
            </a:r>
          </a:p>
          <a:p>
            <a:pPr>
              <a:defRPr sz="1800"/>
            </a:pPr>
            <a:r>
              <a:t>Requires versioning on both source and destination buckets</a:t>
            </a:r>
          </a:p>
          <a:p>
            <a:pPr>
              <a:defRPr sz="1800"/>
            </a:pPr>
            <a:r>
              <a:t>Use cases: compliance, latency reduction, disaster recovery</a:t>
            </a:r>
          </a:p>
          <a:p>
            <a:pPr>
              <a:defRPr sz="1800"/>
            </a:pPr>
            <a:r>
              <a:t>Transfer Acceleration: speeds uploads via CloudFront edge locations</a:t>
            </a:r>
          </a:p>
          <a:p>
            <a:pPr>
              <a:defRPr sz="1800"/>
            </a:pPr>
            <a:r>
              <a:t>Most effective for long-distance uploads</a:t>
            </a:r>
          </a:p>
          <a:p>
            <a:pPr>
              <a:defRPr sz="1800"/>
            </a:pPr>
            <a:r>
              <a:t>Uses accelerate endpoint: `&lt;bucket&gt;.s3-accelerate.amazonaws.com`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Amazon S3 is object storage with virtually unlimited capacity and eleven-nines durability. Objects are stored in buckets and identified by keys.</a:t>
            </a:r>
          </a:p>
          <a:p>
            <a:pPr>
              <a:defRPr sz="1800"/>
            </a:pPr>
            <a:r>
              <a:t>S3 storage classes optimize costs by matching tier to access patterns. Use Lifecycle policies to automate transitions and expire unneeded objects.</a:t>
            </a:r>
          </a:p>
          <a:p>
            <a:pPr>
              <a:defRPr sz="1800"/>
            </a:pPr>
            <a:r>
              <a:t>Enable versioning on buckets storing important data. Combine with Lifecycle rules to manage costs for old versions.</a:t>
            </a:r>
          </a:p>
          <a:p>
            <a:pPr>
              <a:defRPr sz="1800"/>
            </a:pPr>
            <a:r>
              <a:t>Control access using bucket policies and IAM policies together. Keep Block Public Access enabled at the account level as a safety net.</a:t>
            </a:r>
          </a:p>
          <a:p>
            <a:pPr>
              <a:defRPr sz="1800"/>
            </a:pPr>
            <a:r>
              <a:t>S3 encrypts all new objects by default with SSE-S3. Use SSE-KMS when you need audit logging or customer-managed keys.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preview: S3 storage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Objective: Create an S3 bucket, configure versioning, set up Lifecycle policies, configure encryption, and host a static website</a:t>
            </a:r>
          </a:p>
          <a:p>
            <a:pPr>
              <a:defRPr sz="1600"/>
            </a:pPr>
            <a:r>
              <a:t>Key services: Amazon S3, IAM, AWS KMS</a:t>
            </a:r>
          </a:p>
          <a:p>
            <a:pPr>
              <a:defRPr sz="1600"/>
            </a:pPr>
            <a:r>
              <a:t>Duration: 45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Review `modules/05-storage-s3/resources.md` for further reading.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