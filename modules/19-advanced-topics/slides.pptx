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19. This module introduces advanced services at a conceptual level. Students are not expected to master every service here. The goal is awareness and the ability to evaluate applicability. Start by asking: "If you were starting a company today, how many AWS accounts would you create?" Breakdown: 15 min multi-account, 15 min CloudFront, 15 min ElastiCache, 15 min Step Functions, 15 min Athena, 10 min emerging services, 10 min ADRs, 5 min wrap-up.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15 minutes. Emphasize that a single account creates security, billing, and quota risks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At minimum 12 accounts: 1 management, 1 security/log archive, 1 shared infrastructure, 3 teams x 3 environments (dev/staging/prod) = 9 workload accounts. OUs: Security, Infrastructure, Workloads (with sub-OUs per team or per environment type). SCPs on the Workloads OU to restrict Regions and require encryption. This demonstrates that multi-account is not optional for production 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15 minutes. Use the warehouse analogy: edge locations are local warehouses for faster delivery.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15 minutes. Cover the four caching strategies and when to use each.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Cache-aside (lazy loading). The application checks ElastiCache first. On a cache miss, it reads from DynamoDB and writes the result to the cache with a 5-minute TTL. This is ideal because: reads are much more frequent than writes, stale data is acceptable for a short period, and the TTL ensures the cache refreshes regularly. Write-through would work but adds latency to the infrequent writes unnecessarily.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15 minutes. If time permits, demo the Workflow Studio visual editor.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Step Functions. Reasons: branching logic (skip steps on validation failure), parallel execution (three thumbnails simultaneously), error handling per step, and the workflow is a clear multi-step process. SQS + Lambda would require custom orchestration code to handle branching and parallelism. The visual execution history in Step Functions also aids debugging.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If possible, run a live query on sample S3 data. Show the cost difference between CSV and Parquet.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Brief conceptual overview. Students should know these exist and their primary use cases.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5 minutes. Show the ADR template. Emphasize writing ADRs for decisions that are hard to reverse.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Students choose 2 of 3 exercises plus write an ADR. This gives them flexibility to explore topics most relevant to their interests. Remind students that the capstone project (Module 20) is next, and these services may be useful in their capstone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"CloudFront vs. ALB?" (CloudFront caches at edge locations globally; ALB distributes within a Region. Often used together.) "Step Functions vs. calling Lambda from Lambda?" (Step Functions when you have branching, parallel execution, or retries per step. Direct invocation for simple A-calls-B patterns.)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19: Advanced Topics</a:t>
            </a:r>
          </a:p>
        </p:txBody>
      </p:sp>
      <p:sp>
        <p:nvSpPr>
          <p:cNvPr id="3" name="Content Placeholder 2"/>
          <p:cNvSpPr>
            <a:spLocks noGrp="1"/>
          </p:cNvSpPr>
          <p:nvPr>
            <p:ph idx="1"/>
          </p:nvPr>
        </p:nvSpPr>
        <p:spPr/>
        <p:txBody>
          <a:bodyPr/>
          <a:lstStyle/>
          <a:p>
            <a:pPr>
              <a:defRPr sz="1600"/>
            </a:pPr>
            <a:r>
              <a:t>Phase 5: Architecting</a:t>
            </a:r>
          </a:p>
          <a:p>
            <a:pPr>
              <a:defRPr sz="1600"/>
            </a:pPr>
            <a:r>
              <a:t>Estimated lecture time: 90 to 105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Design a multi-account strategy using AWS Organizations and Control Tower</a:t>
            </a:r>
          </a:p>
          <a:p>
            <a:pPr>
              <a:defRPr sz="1800"/>
            </a:pPr>
            <a:r>
              <a:t>Architect a CloudFront content delivery solution with OAC and caching behaviors</a:t>
            </a:r>
          </a:p>
          <a:p>
            <a:pPr>
              <a:defRPr sz="1800"/>
            </a:pPr>
            <a:r>
              <a:t>Propose ElastiCache caching strategies for different access patterns</a:t>
            </a:r>
          </a:p>
          <a:p>
            <a:pPr>
              <a:defRPr sz="1800"/>
            </a:pPr>
            <a:r>
              <a:t>Design multi-step workflows using Step Functions</a:t>
            </a:r>
          </a:p>
          <a:p>
            <a:pPr>
              <a:defRPr sz="1800"/>
            </a:pPr>
            <a:r>
              <a:t>Architect serverless analytics with Athena on S3 data</a:t>
            </a:r>
          </a:p>
          <a:p>
            <a:pPr>
              <a:defRPr sz="1800"/>
            </a:pPr>
            <a:r>
              <a:t>Critique emerging services (Bedrock, App Runner) for specific workloads</a:t>
            </a:r>
          </a:p>
          <a:p>
            <a:pPr>
              <a:defRPr sz="1800"/>
            </a:pPr>
            <a:r>
              <a:t>Create an Architecture Decision Record (ADR) documenting a technology choice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All modules 01-18, especially 05 (S3), 09 (Lambda), 13 (Security), 17 (Well-Architected), 18 (Patterns)</a:t>
            </a:r>
          </a:p>
          <a:p>
            <a:pPr>
              <a:defRPr sz="1600"/>
            </a:pPr>
            <a:r>
              <a:t>Agenda:</a:t>
            </a:r>
          </a:p>
          <a:p>
            <a:pPr>
              <a:defRPr sz="1800"/>
            </a:pPr>
            <a:r>
              <a:t>Multi-account strategy (Organizations, Control Tower)</a:t>
            </a:r>
          </a:p>
          <a:p>
            <a:pPr>
              <a:defRPr sz="1800"/>
            </a:pPr>
            <a:r>
              <a:t>Amazon CloudFront: global content delivery</a:t>
            </a:r>
          </a:p>
          <a:p>
            <a:pPr>
              <a:defRPr sz="1800"/>
            </a:pPr>
            <a:r>
              <a:t>Amazon ElastiCache: in-memory caching</a:t>
            </a:r>
          </a:p>
          <a:p>
            <a:pPr>
              <a:defRPr sz="1800"/>
            </a:pPr>
            <a:r>
              <a:t>AWS Step Functions: workflow orchestration</a:t>
            </a:r>
          </a:p>
          <a:p>
            <a:pPr>
              <a:defRPr sz="1800"/>
            </a:pPr>
            <a:r>
              <a:t>Amazon Athena: serverless SQL analytics</a:t>
            </a:r>
          </a:p>
          <a:p>
            <a:pPr>
              <a:defRPr sz="1800"/>
            </a:pPr>
            <a:r>
              <a:t>Emerging services and capabilities</a:t>
            </a:r>
          </a:p>
          <a:p>
            <a:pPr>
              <a:defRPr sz="1800"/>
            </a:pPr>
            <a:r>
              <a:t>Architecture Decision Records (ADRs)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Multi-account strategy</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Organizational unit structure</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OU</a:t>
                      </a:r>
                    </a:p>
                  </a:txBody>
                  <a:tcPr>
                    <a:solidFill>
                      <a:srgbClr val="232F3E"/>
                    </a:solidFill>
                  </a:tcPr>
                </a:tc>
                <a:tc>
                  <a:txBody>
                    <a:bodyPr/>
                    <a:lstStyle/>
                    <a:p>
                      <a:pPr>
                        <a:defRPr sz="1400" b="1">
                          <a:solidFill>
                            <a:srgbClr val="FFFFFF"/>
                          </a:solidFill>
                        </a:defRPr>
                      </a:pPr>
                      <a:r>
                        <a:t>Purpose</a:t>
                      </a:r>
                    </a:p>
                  </a:txBody>
                  <a:tcPr>
                    <a:solidFill>
                      <a:srgbClr val="232F3E"/>
                    </a:solidFill>
                  </a:tcPr>
                </a:tc>
                <a:tc>
                  <a:txBody>
                    <a:bodyPr/>
                    <a:lstStyle/>
                    <a:p>
                      <a:pPr>
                        <a:defRPr sz="1400" b="1">
                          <a:solidFill>
                            <a:srgbClr val="FFFFFF"/>
                          </a:solidFill>
                        </a:defRPr>
                      </a:pPr>
                      <a:r>
                        <a:t>Example Accounts</a:t>
                      </a:r>
                    </a:p>
                  </a:txBody>
                  <a:tcPr>
                    <a:solidFill>
                      <a:srgbClr val="232F3E"/>
                    </a:solidFill>
                  </a:tcPr>
                </a:tc>
              </a:tr>
              <a:tr h="365760">
                <a:tc>
                  <a:txBody>
                    <a:bodyPr/>
                    <a:lstStyle/>
                    <a:p>
                      <a:pPr>
                        <a:defRPr sz="1200"/>
                      </a:pPr>
                      <a:r>
                        <a:t>Infrastructure</a:t>
                      </a:r>
                    </a:p>
                  </a:txBody>
                  <a:tcPr>
                    <a:solidFill>
                      <a:srgbClr val="F2F3F4"/>
                    </a:solidFill>
                  </a:tcPr>
                </a:tc>
                <a:tc>
                  <a:txBody>
                    <a:bodyPr/>
                    <a:lstStyle/>
                    <a:p>
                      <a:pPr>
                        <a:defRPr sz="1200"/>
                      </a:pPr>
                      <a:r>
                        <a:t>Shared networking, CI/CD</a:t>
                      </a:r>
                    </a:p>
                  </a:txBody>
                  <a:tcPr>
                    <a:solidFill>
                      <a:srgbClr val="F2F3F4"/>
                    </a:solidFill>
                  </a:tcPr>
                </a:tc>
                <a:tc>
                  <a:txBody>
                    <a:bodyPr/>
                    <a:lstStyle/>
                    <a:p>
                      <a:pPr>
                        <a:defRPr sz="1200"/>
                      </a:pPr>
                      <a:r>
                        <a:t>Network account, shared services</a:t>
                      </a:r>
                    </a:p>
                  </a:txBody>
                  <a:tcPr>
                    <a:solidFill>
                      <a:srgbClr val="F2F3F4"/>
                    </a:solidFill>
                  </a:tcPr>
                </a:tc>
              </a:tr>
              <a:tr h="365760">
                <a:tc>
                  <a:txBody>
                    <a:bodyPr/>
                    <a:lstStyle/>
                    <a:p>
                      <a:pPr>
                        <a:defRPr sz="1200"/>
                      </a:pPr>
                      <a:r>
                        <a:t>Workloads</a:t>
                      </a:r>
                    </a:p>
                  </a:txBody>
                  <a:tcPr/>
                </a:tc>
                <a:tc>
                  <a:txBody>
                    <a:bodyPr/>
                    <a:lstStyle/>
                    <a:p>
                      <a:pPr>
                        <a:defRPr sz="1200"/>
                      </a:pPr>
                      <a:r>
                        <a:t>Production and non-production apps</a:t>
                      </a:r>
                    </a:p>
                  </a:txBody>
                  <a:tcPr/>
                </a:tc>
                <a:tc>
                  <a:txBody>
                    <a:bodyPr/>
                    <a:lstStyle/>
                    <a:p>
                      <a:pPr>
                        <a:defRPr sz="1200"/>
                      </a:pPr>
                      <a:r>
                        <a:t>Prod-app-A, staging-app-A</a:t>
                      </a:r>
                    </a:p>
                  </a:txBody>
                  <a:tcPr/>
                </a:tc>
              </a:tr>
              <a:tr h="365760">
                <a:tc>
                  <a:txBody>
                    <a:bodyPr/>
                    <a:lstStyle/>
                    <a:p>
                      <a:pPr>
                        <a:defRPr sz="1200"/>
                      </a:pPr>
                      <a:r>
                        <a:t>Sandbox</a:t>
                      </a:r>
                    </a:p>
                  </a:txBody>
                  <a:tcPr>
                    <a:solidFill>
                      <a:srgbClr val="F2F3F4"/>
                    </a:solidFill>
                  </a:tcPr>
                </a:tc>
                <a:tc>
                  <a:txBody>
                    <a:bodyPr/>
                    <a:lstStyle/>
                    <a:p>
                      <a:pPr>
                        <a:defRPr sz="1200"/>
                      </a:pPr>
                      <a:r>
                        <a:t>Experimentation with limited budgets</a:t>
                      </a:r>
                    </a:p>
                  </a:txBody>
                  <a:tcPr>
                    <a:solidFill>
                      <a:srgbClr val="F2F3F4"/>
                    </a:solidFill>
                  </a:tcPr>
                </a:tc>
                <a:tc>
                  <a:txBody>
                    <a:bodyPr/>
                    <a:lstStyle/>
                    <a:p>
                      <a:pPr>
                        <a:defRPr sz="1200"/>
                      </a:pPr>
                      <a:r>
                        <a:t>Developer sandbox accounts</a:t>
                      </a:r>
                    </a:p>
                  </a:txBody>
                  <a:tcPr>
                    <a:solidFill>
                      <a:srgbClr val="F2F3F4"/>
                    </a:solidFill>
                  </a:tcPr>
                </a:tc>
              </a:tr>
              <a:tr h="365760">
                <a:tc>
                  <a:txBody>
                    <a:bodyPr/>
                    <a:lstStyle/>
                    <a:p>
                      <a:pPr>
                        <a:defRPr sz="1200"/>
                      </a:pPr>
                      <a:r>
                        <a:t>Suspended</a:t>
                      </a:r>
                    </a:p>
                  </a:txBody>
                  <a:tcPr/>
                </a:tc>
                <a:tc>
                  <a:txBody>
                    <a:bodyPr/>
                    <a:lstStyle/>
                    <a:p>
                      <a:pPr>
                        <a:defRPr sz="1200"/>
                      </a:pPr>
                      <a:r>
                        <a:t>Accounts pending closure</a:t>
                      </a:r>
                    </a:p>
                  </a:txBody>
                  <a:tcPr/>
                </a:tc>
                <a:tc>
                  <a:txBody>
                    <a:bodyPr/>
                    <a:lstStyle/>
                    <a:p>
                      <a:pPr>
                        <a:defRPr sz="1200"/>
                      </a:pPr>
                      <a:r>
                        <a:t>Decommissioned projects</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Service Control Policies (SCPs)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SCP</a:t>
                      </a:r>
                    </a:p>
                  </a:txBody>
                  <a:tcPr>
                    <a:solidFill>
                      <a:srgbClr val="232F3E"/>
                    </a:solidFill>
                  </a:tcPr>
                </a:tc>
                <a:tc>
                  <a:txBody>
                    <a:bodyPr/>
                    <a:lstStyle/>
                    <a:p>
                      <a:pPr>
                        <a:defRPr sz="1400" b="1">
                          <a:solidFill>
                            <a:srgbClr val="FFFFFF"/>
                          </a:solidFill>
                        </a:defRPr>
                      </a:pPr>
                      <a:r>
                        <a:t>What It Prevents</a:t>
                      </a:r>
                    </a:p>
                  </a:txBody>
                  <a:tcPr>
                    <a:solidFill>
                      <a:srgbClr val="232F3E"/>
                    </a:solidFill>
                  </a:tcPr>
                </a:tc>
              </a:tr>
              <a:tr h="365760">
                <a:tc>
                  <a:txBody>
                    <a:bodyPr/>
                    <a:lstStyle/>
                    <a:p>
                      <a:pPr>
                        <a:defRPr sz="1200"/>
                      </a:pPr>
                      <a:r>
                        <a:t>Deny root user actions</a:t>
                      </a:r>
                    </a:p>
                  </a:txBody>
                  <a:tcPr>
                    <a:solidFill>
                      <a:srgbClr val="F2F3F4"/>
                    </a:solidFill>
                  </a:tcPr>
                </a:tc>
                <a:tc>
                  <a:txBody>
                    <a:bodyPr/>
                    <a:lstStyle/>
                    <a:p>
                      <a:pPr>
                        <a:defRPr sz="1200"/>
                      </a:pPr>
                      <a:r>
                        <a:t>Root user performing any actions in member accounts</a:t>
                      </a:r>
                    </a:p>
                  </a:txBody>
                  <a:tcPr>
                    <a:solidFill>
                      <a:srgbClr val="F2F3F4"/>
                    </a:solidFill>
                  </a:tcPr>
                </a:tc>
              </a:tr>
              <a:tr h="365760">
                <a:tc>
                  <a:txBody>
                    <a:bodyPr/>
                    <a:lstStyle/>
                    <a:p>
                      <a:pPr>
                        <a:defRPr sz="1200"/>
                      </a:pPr>
                      <a:r>
                        <a:t>Deny leaving organization</a:t>
                      </a:r>
                    </a:p>
                  </a:txBody>
                  <a:tcPr/>
                </a:tc>
                <a:tc>
                  <a:txBody>
                    <a:bodyPr/>
                    <a:lstStyle/>
                    <a:p>
                      <a:pPr>
                        <a:defRPr sz="1200"/>
                      </a:pPr>
                      <a:r>
                        <a:t>Member accounts removing themselves</a:t>
                      </a:r>
                    </a:p>
                  </a:txBody>
                  <a:tcPr/>
                </a:tc>
              </a:tr>
              <a:tr h="365760">
                <a:tc>
                  <a:txBody>
                    <a:bodyPr/>
                    <a:lstStyle/>
                    <a:p>
                      <a:pPr>
                        <a:defRPr sz="1200"/>
                      </a:pPr>
                      <a:r>
                        <a:t>Require encryption</a:t>
                      </a:r>
                    </a:p>
                  </a:txBody>
                  <a:tcPr>
                    <a:solidFill>
                      <a:srgbClr val="F2F3F4"/>
                    </a:solidFill>
                  </a:tcPr>
                </a:tc>
                <a:tc>
                  <a:txBody>
                    <a:bodyPr/>
                    <a:lstStyle/>
                    <a:p>
                      <a:pPr>
                        <a:defRPr sz="1200"/>
                      </a:pPr>
                      <a:r>
                        <a:t>Creating unencrypted S3 buckets or EBS volumes</a:t>
                      </a:r>
                    </a:p>
                  </a:txBody>
                  <a:tcPr>
                    <a:solidFill>
                      <a:srgbClr val="F2F3F4"/>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Control Policies (SCPs)</a:t>
            </a:r>
          </a:p>
        </p:txBody>
      </p:sp>
      <p:sp>
        <p:nvSpPr>
          <p:cNvPr id="3" name="Content Placeholder 2"/>
          <p:cNvSpPr>
            <a:spLocks noGrp="1"/>
          </p:cNvSpPr>
          <p:nvPr>
            <p:ph idx="1"/>
          </p:nvPr>
        </p:nvSpPr>
        <p:spPr/>
        <p:txBody>
          <a:bodyPr/>
          <a:lstStyle/>
          <a:p>
            <a:pPr>
              <a:defRPr sz="1800"/>
            </a:pPr>
            <a:r>
              <a:t>SCPs set maximum permissions boundaries (they do not grant permissions)</a:t>
            </a:r>
          </a:p>
          <a:p>
            <a:pPr>
              <a:defRPr sz="1800"/>
            </a:pPr>
            <a:r>
              <a:t>AWS Control Tower automates landing zone setup with guardrails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designing an account structure</a:t>
            </a:r>
          </a:p>
        </p:txBody>
      </p:sp>
      <p:sp>
        <p:nvSpPr>
          <p:cNvPr id="3" name="Content Placeholder 2"/>
          <p:cNvSpPr>
            <a:spLocks noGrp="1"/>
          </p:cNvSpPr>
          <p:nvPr>
            <p:ph idx="1"/>
          </p:nvPr>
        </p:nvSpPr>
        <p:spPr/>
        <p:txBody>
          <a:bodyPr/>
          <a:lstStyle/>
          <a:p>
            <a:pPr>
              <a:defRPr sz="1600"/>
            </a:pPr>
            <a:r>
              <a:t>Your company has three product teams, each with dev, staging, and production environments. Security requires centralized logging and separate blast radius per team.</a:t>
            </a:r>
          </a:p>
          <a:p>
            <a:pPr>
              <a:defRPr sz="1600"/>
            </a:pPr>
            <a:r>
              <a:t>How many accounts and OUs would you create?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CloudFront</a:t>
            </a:r>
          </a:p>
        </p:txBody>
      </p:sp>
      <p:sp>
        <p:nvSpPr>
          <p:cNvPr id="3" name="Text Placeholder 2"/>
          <p:cNvSpPr>
            <a:spLocks noGrp="1"/>
          </p:cNvSpPr>
          <p:nvPr>
            <p:ph type="body"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How CloudFront works</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User (Tokyo) --&gt; CloudFront Edge (Tokyo)</a:t>
            </a:r>
            <a:br/>
            <a:r>
              <a:t>  --&gt; Cache hit?  --&gt; Return cached content</a:t>
            </a:r>
            <a:br/>
            <a:r>
              <a:t>  --&gt; Cache miss? --&gt; Fetch from origin (us-east-1)</a:t>
            </a:r>
            <a:br/>
            <a:r>
              <a:t>                  --&gt; Cache at edge</a:t>
            </a:r>
            <a:br/>
            <a:r>
              <a:t>                  --&gt; Return to user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Origins and cache behaviors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Origin Type</a:t>
                      </a:r>
                    </a:p>
                  </a:txBody>
                  <a:tcPr>
                    <a:solidFill>
                      <a:srgbClr val="232F3E"/>
                    </a:solidFill>
                  </a:tcPr>
                </a:tc>
                <a:tc>
                  <a:txBody>
                    <a:bodyPr/>
                    <a:lstStyle/>
                    <a:p>
                      <a:pPr>
                        <a:defRPr sz="1400" b="1">
                          <a:solidFill>
                            <a:srgbClr val="FFFFFF"/>
                          </a:solidFill>
                        </a:defRPr>
                      </a:pPr>
                      <a:r>
                        <a:t>Use Case</a:t>
                      </a:r>
                    </a:p>
                  </a:txBody>
                  <a:tcPr>
                    <a:solidFill>
                      <a:srgbClr val="232F3E"/>
                    </a:solidFill>
                  </a:tcPr>
                </a:tc>
              </a:tr>
              <a:tr h="365760">
                <a:tc>
                  <a:txBody>
                    <a:bodyPr/>
                    <a:lstStyle/>
                    <a:p>
                      <a:pPr>
                        <a:defRPr sz="1200"/>
                      </a:pPr>
                      <a:r>
                        <a:t>ALB</a:t>
                      </a:r>
                    </a:p>
                  </a:txBody>
                  <a:tcPr>
                    <a:solidFill>
                      <a:srgbClr val="F2F3F4"/>
                    </a:solidFill>
                  </a:tcPr>
                </a:tc>
                <a:tc>
                  <a:txBody>
                    <a:bodyPr/>
                    <a:lstStyle/>
                    <a:p>
                      <a:pPr>
                        <a:defRPr sz="1200"/>
                      </a:pPr>
                      <a:r>
                        <a:t>Dynamic API responses from EC2 or ECS</a:t>
                      </a:r>
                    </a:p>
                  </a:txBody>
                  <a:tcPr>
                    <a:solidFill>
                      <a:srgbClr val="F2F3F4"/>
                    </a:solidFill>
                  </a:tcPr>
                </a:tc>
              </a:tr>
              <a:tr h="365760">
                <a:tc>
                  <a:txBody>
                    <a:bodyPr/>
                    <a:lstStyle/>
                    <a:p>
                      <a:pPr>
                        <a:defRPr sz="1200"/>
                      </a:pPr>
                      <a:r>
                        <a:t>API Gateway</a:t>
                      </a:r>
                    </a:p>
                  </a:txBody>
                  <a:tcPr/>
                </a:tc>
                <a:tc>
                  <a:txBody>
                    <a:bodyPr/>
                    <a:lstStyle/>
                    <a:p>
                      <a:pPr>
                        <a:defRPr sz="1200"/>
                      </a:pPr>
                      <a:r>
                        <a:t>Serverless API responses</a:t>
                      </a:r>
                    </a:p>
                  </a:txBody>
                  <a:tcPr/>
                </a:tc>
              </a:tr>
              <a:tr h="365760">
                <a:tc>
                  <a:txBody>
                    <a:bodyPr/>
                    <a:lstStyle/>
                    <a:p>
                      <a:pPr>
                        <a:defRPr sz="1200"/>
                      </a:pPr>
                      <a:r>
                        <a:t>Custom HTTP server</a:t>
                      </a:r>
                    </a:p>
                  </a:txBody>
                  <a:tcPr>
                    <a:solidFill>
                      <a:srgbClr val="F2F3F4"/>
                    </a:solidFill>
                  </a:tcPr>
                </a:tc>
                <a:tc>
                  <a:txBody>
                    <a:bodyPr/>
                    <a:lstStyle/>
                    <a:p>
                      <a:pPr>
                        <a:defRPr sz="1200"/>
                      </a:pPr>
                      <a:r>
                        <a:t>Any HTTP/HTTPS endpoint</a:t>
                      </a:r>
                    </a:p>
                  </a:txBody>
                  <a:tcPr>
                    <a:solidFill>
                      <a:srgbClr val="F2F3F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Origins and cache behaviors</a:t>
            </a:r>
          </a:p>
        </p:txBody>
      </p:sp>
      <p:sp>
        <p:nvSpPr>
          <p:cNvPr id="3" name="Content Placeholder 2"/>
          <p:cNvSpPr>
            <a:spLocks noGrp="1"/>
          </p:cNvSpPr>
          <p:nvPr>
            <p:ph idx="1"/>
          </p:nvPr>
        </p:nvSpPr>
        <p:spPr/>
        <p:txBody>
          <a:bodyPr/>
          <a:lstStyle/>
          <a:p>
            <a:pPr>
              <a:defRPr sz="1800"/>
            </a:pPr>
            <a:r>
              <a:t>Cache behaviors route URL paths to different origins</a:t>
            </a:r>
          </a:p>
          <a:p>
            <a:pPr>
              <a:defRPr sz="1800"/>
            </a:pPr>
            <a:r>
              <a:t>`/static/*` to S3, `/api/*` to ALB</a:t>
            </a:r>
          </a:p>
          <a:p>
            <a:pPr>
              <a:defRPr sz="1800"/>
            </a:pPr>
            <a:r>
              <a:t>Origin Access Control (OAC) keeps S3 private while CloudFront serves content</a:t>
            </a:r>
          </a:p>
          <a:p>
            <a:pPr>
              <a:defRPr sz="1400" i="1">
                <a:solidFill>
                  <a:srgbClr val="555555"/>
                </a:solidFill>
              </a:defRPr>
            </a:pPr>
            <a:r>
              <a:t>Always use OAC when serving S3 content through CloudFront. Keep the bucket private with Block Public Access enabled.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ElastiCache</a:t>
            </a:r>
          </a:p>
        </p:txBody>
      </p:sp>
      <p:sp>
        <p:nvSpPr>
          <p:cNvPr id="3" name="Text Placeholder 2"/>
          <p:cNvSpPr>
            <a:spLocks noGrp="1"/>
          </p:cNvSpPr>
          <p:nvPr>
            <p:ph type="body"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Caching strategies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Strategy</a:t>
                      </a:r>
                    </a:p>
                  </a:txBody>
                  <a:tcPr>
                    <a:solidFill>
                      <a:srgbClr val="232F3E"/>
                    </a:solidFill>
                  </a:tcPr>
                </a:tc>
                <a:tc>
                  <a:txBody>
                    <a:bodyPr/>
                    <a:lstStyle/>
                    <a:p>
                      <a:pPr>
                        <a:defRPr sz="1400" b="1">
                          <a:solidFill>
                            <a:srgbClr val="FFFFFF"/>
                          </a:solidFill>
                        </a:defRPr>
                      </a:pPr>
                      <a:r>
                        <a:t>How It Works</a:t>
                      </a:r>
                    </a:p>
                  </a:txBody>
                  <a:tcPr>
                    <a:solidFill>
                      <a:srgbClr val="232F3E"/>
                    </a:solidFill>
                  </a:tcPr>
                </a:tc>
                <a:tc>
                  <a:txBody>
                    <a:bodyPr/>
                    <a:lstStyle/>
                    <a:p>
                      <a:pPr>
                        <a:defRPr sz="1400" b="1">
                          <a:solidFill>
                            <a:srgbClr val="FFFFFF"/>
                          </a:solidFill>
                        </a:defRPr>
                      </a:pPr>
                      <a:r>
                        <a:t>Best For</a:t>
                      </a:r>
                    </a:p>
                  </a:txBody>
                  <a:tcPr>
                    <a:solidFill>
                      <a:srgbClr val="232F3E"/>
                    </a:solidFill>
                  </a:tcPr>
                </a:tc>
              </a:tr>
              <a:tr h="365760">
                <a:tc>
                  <a:txBody>
                    <a:bodyPr/>
                    <a:lstStyle/>
                    <a:p>
                      <a:pPr>
                        <a:defRPr sz="1200"/>
                      </a:pPr>
                      <a:r>
                        <a:t>Write-through</a:t>
                      </a:r>
                    </a:p>
                  </a:txBody>
                  <a:tcPr>
                    <a:solidFill>
                      <a:srgbClr val="F2F3F4"/>
                    </a:solidFill>
                  </a:tcPr>
                </a:tc>
                <a:tc>
                  <a:txBody>
                    <a:bodyPr/>
                    <a:lstStyle/>
                    <a:p>
                      <a:pPr>
                        <a:defRPr sz="1200"/>
                      </a:pPr>
                      <a:r>
                        <a:t>App writes to cache and DB simultaneously</a:t>
                      </a:r>
                    </a:p>
                  </a:txBody>
                  <a:tcPr>
                    <a:solidFill>
                      <a:srgbClr val="F2F3F4"/>
                    </a:solidFill>
                  </a:tcPr>
                </a:tc>
                <a:tc>
                  <a:txBody>
                    <a:bodyPr/>
                    <a:lstStyle/>
                    <a:p>
                      <a:pPr>
                        <a:defRPr sz="1200"/>
                      </a:pPr>
                      <a:r>
                        <a:t>Cache must always have latest data</a:t>
                      </a:r>
                    </a:p>
                  </a:txBody>
                  <a:tcPr>
                    <a:solidFill>
                      <a:srgbClr val="F2F3F4"/>
                    </a:solidFill>
                  </a:tcPr>
                </a:tc>
              </a:tr>
              <a:tr h="365760">
                <a:tc>
                  <a:txBody>
                    <a:bodyPr/>
                    <a:lstStyle/>
                    <a:p>
                      <a:pPr>
                        <a:defRPr sz="1200"/>
                      </a:pPr>
                      <a:r>
                        <a:t>Write-behind</a:t>
                      </a:r>
                    </a:p>
                  </a:txBody>
                  <a:tcPr/>
                </a:tc>
                <a:tc>
                  <a:txBody>
                    <a:bodyPr/>
                    <a:lstStyle/>
                    <a:p>
                      <a:pPr>
                        <a:defRPr sz="1200"/>
                      </a:pPr>
                      <a:r>
                        <a:t>App writes to cache only; cache writes to DB async</a:t>
                      </a:r>
                    </a:p>
                  </a:txBody>
                  <a:tcPr/>
                </a:tc>
                <a:tc>
                  <a:txBody>
                    <a:bodyPr/>
                    <a:lstStyle/>
                    <a:p>
                      <a:pPr>
                        <a:defRPr sz="1200"/>
                      </a:pPr>
                      <a:r>
                        <a:t>Write-heavy, slight data loss risk acceptable</a:t>
                      </a:r>
                    </a:p>
                  </a:txBody>
                  <a:tcPr/>
                </a:tc>
              </a:tr>
              <a:tr h="365760">
                <a:tc>
                  <a:txBody>
                    <a:bodyPr/>
                    <a:lstStyle/>
                    <a:p>
                      <a:pPr>
                        <a:defRPr sz="1200"/>
                      </a:pPr>
                      <a:r>
                        <a:t>Read-through</a:t>
                      </a:r>
                    </a:p>
                  </a:txBody>
                  <a:tcPr>
                    <a:solidFill>
                      <a:srgbClr val="F2F3F4"/>
                    </a:solidFill>
                  </a:tcPr>
                </a:tc>
                <a:tc>
                  <a:txBody>
                    <a:bodyPr/>
                    <a:lstStyle/>
                    <a:p>
                      <a:pPr>
                        <a:defRPr sz="1200"/>
                      </a:pPr>
                      <a:r>
                        <a:t>Cache fetches from DB on miss automatically</a:t>
                      </a:r>
                    </a:p>
                  </a:txBody>
                  <a:tcPr>
                    <a:solidFill>
                      <a:srgbClr val="F2F3F4"/>
                    </a:solidFill>
                  </a:tcPr>
                </a:tc>
                <a:tc>
                  <a:txBody>
                    <a:bodyPr/>
                    <a:lstStyle/>
                    <a:p>
                      <a:pPr>
                        <a:defRPr sz="1200"/>
                      </a:pPr>
                      <a:r>
                        <a:t>Simplified app code</a:t>
                      </a:r>
                    </a:p>
                  </a:txBody>
                  <a:tcPr>
                    <a:solidFill>
                      <a:srgbClr val="F2F3F4"/>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Redis vs. Memcached</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Redis</a:t>
                      </a:r>
                    </a:p>
                  </a:txBody>
                  <a:tcPr>
                    <a:solidFill>
                      <a:srgbClr val="232F3E"/>
                    </a:solidFill>
                  </a:tcPr>
                </a:tc>
                <a:tc>
                  <a:txBody>
                    <a:bodyPr/>
                    <a:lstStyle/>
                    <a:p>
                      <a:pPr>
                        <a:defRPr sz="1400" b="1">
                          <a:solidFill>
                            <a:srgbClr val="FFFFFF"/>
                          </a:solidFill>
                        </a:defRPr>
                      </a:pPr>
                      <a:r>
                        <a:t>Memcached</a:t>
                      </a:r>
                    </a:p>
                  </a:txBody>
                  <a:tcPr>
                    <a:solidFill>
                      <a:srgbClr val="232F3E"/>
                    </a:solidFill>
                  </a:tcPr>
                </a:tc>
              </a:tr>
              <a:tr h="365760">
                <a:tc>
                  <a:txBody>
                    <a:bodyPr/>
                    <a:lstStyle/>
                    <a:p>
                      <a:pPr>
                        <a:defRPr sz="1200"/>
                      </a:pPr>
                      <a:r>
                        <a:t>Persistence</a:t>
                      </a:r>
                    </a:p>
                  </a:txBody>
                  <a:tcPr>
                    <a:solidFill>
                      <a:srgbClr val="F2F3F4"/>
                    </a:solidFill>
                  </a:tcPr>
                </a:tc>
                <a:tc>
                  <a:txBody>
                    <a:bodyPr/>
                    <a:lstStyle/>
                    <a:p>
                      <a:pPr>
                        <a:defRPr sz="1200"/>
                      </a:pPr>
                      <a:r>
                        <a:t>Optional (snapshots, AOF)</a:t>
                      </a:r>
                    </a:p>
                  </a:txBody>
                  <a:tcPr>
                    <a:solidFill>
                      <a:srgbClr val="F2F3F4"/>
                    </a:solidFill>
                  </a:tcPr>
                </a:tc>
                <a:tc>
                  <a:txBody>
                    <a:bodyPr/>
                    <a:lstStyle/>
                    <a:p>
                      <a:pPr>
                        <a:defRPr sz="1200"/>
                      </a:pPr>
                      <a:r>
                        <a:t>None</a:t>
                      </a:r>
                    </a:p>
                  </a:txBody>
                  <a:tcPr>
                    <a:solidFill>
                      <a:srgbClr val="F2F3F4"/>
                    </a:solidFill>
                  </a:tcPr>
                </a:tc>
              </a:tr>
              <a:tr h="365760">
                <a:tc>
                  <a:txBody>
                    <a:bodyPr/>
                    <a:lstStyle/>
                    <a:p>
                      <a:pPr>
                        <a:defRPr sz="1200"/>
                      </a:pPr>
                      <a:r>
                        <a:t>Replication</a:t>
                      </a:r>
                    </a:p>
                  </a:txBody>
                  <a:tcPr/>
                </a:tc>
                <a:tc>
                  <a:txBody>
                    <a:bodyPr/>
                    <a:lstStyle/>
                    <a:p>
                      <a:pPr>
                        <a:defRPr sz="1200"/>
                      </a:pPr>
                      <a:r>
                        <a:t>Multi-AZ with automatic failover</a:t>
                      </a:r>
                    </a:p>
                  </a:txBody>
                  <a:tcPr/>
                </a:tc>
                <a:tc>
                  <a:txBody>
                    <a:bodyPr/>
                    <a:lstStyle/>
                    <a:p>
                      <a:pPr>
                        <a:defRPr sz="1200"/>
                      </a:pPr>
                      <a:r>
                        <a:t>None</a:t>
                      </a:r>
                    </a:p>
                  </a:txBody>
                  <a:tcPr/>
                </a:tc>
              </a:tr>
              <a:tr h="365760">
                <a:tc>
                  <a:txBody>
                    <a:bodyPr/>
                    <a:lstStyle/>
                    <a:p>
                      <a:pPr>
                        <a:defRPr sz="1200"/>
                      </a:pPr>
                      <a:r>
                        <a:t>Pub/sub</a:t>
                      </a:r>
                    </a:p>
                  </a:txBody>
                  <a:tcPr>
                    <a:solidFill>
                      <a:srgbClr val="F2F3F4"/>
                    </a:solidFill>
                  </a:tcPr>
                </a:tc>
                <a:tc>
                  <a:txBody>
                    <a:bodyPr/>
                    <a:lstStyle/>
                    <a:p>
                      <a:pPr>
                        <a:defRPr sz="1200"/>
                      </a:pPr>
                      <a:r>
                        <a:t>Supported</a:t>
                      </a:r>
                    </a:p>
                  </a:txBody>
                  <a:tcPr>
                    <a:solidFill>
                      <a:srgbClr val="F2F3F4"/>
                    </a:solidFill>
                  </a:tcPr>
                </a:tc>
                <a:tc>
                  <a:txBody>
                    <a:bodyPr/>
                    <a:lstStyle/>
                    <a:p>
                      <a:pPr>
                        <a:defRPr sz="1200"/>
                      </a:pPr>
                      <a:r>
                        <a:t>Not supported</a:t>
                      </a:r>
                    </a:p>
                  </a:txBody>
                  <a:tcPr>
                    <a:solidFill>
                      <a:srgbClr val="F2F3F4"/>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Redis vs. Memcached</a:t>
            </a:r>
          </a:p>
        </p:txBody>
      </p:sp>
      <p:sp>
        <p:nvSpPr>
          <p:cNvPr id="3" name="Content Placeholder 2"/>
          <p:cNvSpPr>
            <a:spLocks noGrp="1"/>
          </p:cNvSpPr>
          <p:nvPr>
            <p:ph idx="1"/>
          </p:nvPr>
        </p:nvSpPr>
        <p:spPr/>
        <p:txBody>
          <a:bodyPr/>
          <a:lstStyle/>
          <a:p>
            <a:pPr>
              <a:defRPr sz="1400" i="1">
                <a:solidFill>
                  <a:srgbClr val="555555"/>
                </a:solidFill>
              </a:defRPr>
            </a:pPr>
            <a:r>
              <a:t>Choose Redis for most use cases. Choose Memcached only for simple key-value caching with multi-threaded performance.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check: caching strategy selection</a:t>
            </a:r>
          </a:p>
        </p:txBody>
      </p:sp>
      <p:sp>
        <p:nvSpPr>
          <p:cNvPr id="3" name="Content Placeholder 2"/>
          <p:cNvSpPr>
            <a:spLocks noGrp="1"/>
          </p:cNvSpPr>
          <p:nvPr>
            <p:ph idx="1"/>
          </p:nvPr>
        </p:nvSpPr>
        <p:spPr/>
        <p:txBody>
          <a:bodyPr/>
          <a:lstStyle/>
          <a:p>
            <a:pPr>
              <a:defRPr sz="1600"/>
            </a:pPr>
            <a:r>
              <a:t>Your application reads user profiles from DynamoDB. Profiles are updated once per day but read thousands of times per hour. Stale data for up to 5 minutes is acceptable.</a:t>
            </a:r>
          </a:p>
          <a:p>
            <a:pPr>
              <a:defRPr sz="1600"/>
            </a:pPr>
            <a:r>
              <a:t>Which caching strategy would you use, and why?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Step Functions</a:t>
            </a:r>
          </a:p>
        </p:txBody>
      </p:sp>
      <p:sp>
        <p:nvSpPr>
          <p:cNvPr id="3" name="Text Placeholder 2"/>
          <p:cNvSpPr>
            <a:spLocks noGrp="1"/>
          </p:cNvSpPr>
          <p:nvPr>
            <p:ph type="body" idx="1"/>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When to use Step Functions</a:t>
            </a:r>
          </a:p>
        </p:txBody>
      </p:sp>
      <p:graphicFrame>
        <p:nvGraphicFramePr>
          <p:cNvPr id="4" name="Table 3"/>
          <p:cNvGraphicFramePr>
            <a:graphicFrameLocks noGrp="1"/>
          </p:cNvGraphicFramePr>
          <p:nvPr/>
        </p:nvGraphicFramePr>
        <p:xfrm>
          <a:off x="457200" y="1097280"/>
          <a:ext cx="8229600" cy="219456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Scenario</a:t>
                      </a:r>
                    </a:p>
                  </a:txBody>
                  <a:tcPr>
                    <a:solidFill>
                      <a:srgbClr val="232F3E"/>
                    </a:solidFill>
                  </a:tcPr>
                </a:tc>
                <a:tc>
                  <a:txBody>
                    <a:bodyPr/>
                    <a:lstStyle/>
                    <a:p>
                      <a:pPr>
                        <a:defRPr sz="1400" b="1">
                          <a:solidFill>
                            <a:srgbClr val="FFFFFF"/>
                          </a:solidFill>
                        </a:defRPr>
                      </a:pPr>
                      <a:r>
                        <a:t>Step Functions</a:t>
                      </a:r>
                    </a:p>
                  </a:txBody>
                  <a:tcPr>
                    <a:solidFill>
                      <a:srgbClr val="232F3E"/>
                    </a:solidFill>
                  </a:tcPr>
                </a:tc>
                <a:tc>
                  <a:txBody>
                    <a:bodyPr/>
                    <a:lstStyle/>
                    <a:p>
                      <a:pPr>
                        <a:defRPr sz="1400" b="1">
                          <a:solidFill>
                            <a:srgbClr val="FFFFFF"/>
                          </a:solidFill>
                        </a:defRPr>
                      </a:pPr>
                      <a:r>
                        <a:t>SQS + Lambda</a:t>
                      </a:r>
                    </a:p>
                  </a:txBody>
                  <a:tcPr>
                    <a:solidFill>
                      <a:srgbClr val="232F3E"/>
                    </a:solidFill>
                  </a:tcPr>
                </a:tc>
              </a:tr>
              <a:tr h="365760">
                <a:tc>
                  <a:txBody>
                    <a:bodyPr/>
                    <a:lstStyle/>
                    <a:p>
                      <a:pPr>
                        <a:defRPr sz="1200"/>
                      </a:pPr>
                      <a:r>
                        <a:t>Long-running (minutes to months)</a:t>
                      </a:r>
                    </a:p>
                  </a:txBody>
                  <a:tcPr>
                    <a:solidFill>
                      <a:srgbClr val="F2F3F4"/>
                    </a:solidFill>
                  </a:tcPr>
                </a:tc>
                <a:tc>
                  <a:txBody>
                    <a:bodyPr/>
                    <a:lstStyle/>
                    <a:p>
                      <a:pPr>
                        <a:defRPr sz="1200"/>
                      </a:pPr>
                      <a:r>
                        <a:t>Yes (up to 1 year)</a:t>
                      </a:r>
                    </a:p>
                  </a:txBody>
                  <a:tcPr>
                    <a:solidFill>
                      <a:srgbClr val="F2F3F4"/>
                    </a:solidFill>
                  </a:tcPr>
                </a:tc>
                <a:tc>
                  <a:txBody>
                    <a:bodyPr/>
                    <a:lstStyle/>
                    <a:p>
                      <a:pPr>
                        <a:defRPr sz="1200"/>
                      </a:pPr>
                      <a:r>
                        <a:t>Lambda timeout: 15 min</a:t>
                      </a:r>
                    </a:p>
                  </a:txBody>
                  <a:tcPr>
                    <a:solidFill>
                      <a:srgbClr val="F2F3F4"/>
                    </a:solidFill>
                  </a:tcPr>
                </a:tc>
              </a:tr>
              <a:tr h="365760">
                <a:tc>
                  <a:txBody>
                    <a:bodyPr/>
                    <a:lstStyle/>
                    <a:p>
                      <a:pPr>
                        <a:defRPr sz="1200"/>
                      </a:pPr>
                      <a:r>
                        <a:t>Human approval step</a:t>
                      </a:r>
                    </a:p>
                  </a:txBody>
                  <a:tcPr/>
                </a:tc>
                <a:tc>
                  <a:txBody>
                    <a:bodyPr/>
                    <a:lstStyle/>
                    <a:p>
                      <a:pPr>
                        <a:defRPr sz="1200"/>
                      </a:pPr>
                      <a:r>
                        <a:t>Yes (Wait for Callback)</a:t>
                      </a:r>
                    </a:p>
                  </a:txBody>
                  <a:tcPr/>
                </a:tc>
                <a:tc>
                  <a:txBody>
                    <a:bodyPr/>
                    <a:lstStyle/>
                    <a:p>
                      <a:pPr>
                        <a:defRPr sz="1200"/>
                      </a:pPr>
                      <a:r>
                        <a:t>Difficult</a:t>
                      </a:r>
                    </a:p>
                  </a:txBody>
                  <a:tcPr/>
                </a:tc>
              </a:tr>
              <a:tr h="365760">
                <a:tc>
                  <a:txBody>
                    <a:bodyPr/>
                    <a:lstStyle/>
                    <a:p>
                      <a:pPr>
                        <a:defRPr sz="1200"/>
                      </a:pPr>
                      <a:r>
                        <a:t>Configurable retry per step</a:t>
                      </a:r>
                    </a:p>
                  </a:txBody>
                  <a:tcPr>
                    <a:solidFill>
                      <a:srgbClr val="F2F3F4"/>
                    </a:solidFill>
                  </a:tcPr>
                </a:tc>
                <a:tc>
                  <a:txBody>
                    <a:bodyPr/>
                    <a:lstStyle/>
                    <a:p>
                      <a:pPr>
                        <a:defRPr sz="1200"/>
                      </a:pPr>
                      <a:r>
                        <a:t>Yes (built-in)</a:t>
                      </a:r>
                    </a:p>
                  </a:txBody>
                  <a:tcPr>
                    <a:solidFill>
                      <a:srgbClr val="F2F3F4"/>
                    </a:solidFill>
                  </a:tcPr>
                </a:tc>
                <a:tc>
                  <a:txBody>
                    <a:bodyPr/>
                    <a:lstStyle/>
                    <a:p>
                      <a:pPr>
                        <a:defRPr sz="1200"/>
                      </a:pPr>
                      <a:r>
                        <a:t>Must implement per Lambda</a:t>
                      </a:r>
                    </a:p>
                  </a:txBody>
                  <a:tcPr>
                    <a:solidFill>
                      <a:srgbClr val="F2F3F4"/>
                    </a:solidFill>
                  </a:tcPr>
                </a:tc>
              </a:tr>
              <a:tr h="365760">
                <a:tc>
                  <a:txBody>
                    <a:bodyPr/>
                    <a:lstStyle/>
                    <a:p>
                      <a:pPr>
                        <a:defRPr sz="1200"/>
                      </a:pPr>
                      <a:r>
                        <a:t>Simple event processing</a:t>
                      </a:r>
                    </a:p>
                  </a:txBody>
                  <a:tcPr/>
                </a:tc>
                <a:tc>
                  <a:txBody>
                    <a:bodyPr/>
                    <a:lstStyle/>
                    <a:p>
                      <a:pPr>
                        <a:defRPr sz="1200"/>
                      </a:pPr>
                      <a:r>
                        <a:t>No (overhead not justified)</a:t>
                      </a:r>
                    </a:p>
                  </a:txBody>
                  <a:tcPr/>
                </a:tc>
                <a:tc>
                  <a:txBody>
                    <a:bodyPr/>
                    <a:lstStyle/>
                    <a:p>
                      <a:pPr>
                        <a:defRPr sz="1200"/>
                      </a:pPr>
                      <a:r>
                        <a:t>Yes (simpler)</a:t>
                      </a:r>
                    </a:p>
                  </a:txBody>
                  <a:tcPr/>
                </a:tc>
              </a:tr>
              <a:tr h="365760">
                <a:tc>
                  <a:txBody>
                    <a:bodyPr/>
                    <a:lstStyle/>
                    <a:p>
                      <a:pPr>
                        <a:defRPr sz="1200"/>
                      </a:pPr>
                      <a:r>
                        <a:t>High-throughput, low-latency</a:t>
                      </a:r>
                    </a:p>
                  </a:txBody>
                  <a:tcPr>
                    <a:solidFill>
                      <a:srgbClr val="F2F3F4"/>
                    </a:solidFill>
                  </a:tcPr>
                </a:tc>
                <a:tc>
                  <a:txBody>
                    <a:bodyPr/>
                    <a:lstStyle/>
                    <a:p>
                      <a:pPr>
                        <a:defRPr sz="1200"/>
                      </a:pPr>
                      <a:r>
                        <a:t>No (per-transition charges)</a:t>
                      </a:r>
                    </a:p>
                  </a:txBody>
                  <a:tcPr>
                    <a:solidFill>
                      <a:srgbClr val="F2F3F4"/>
                    </a:solidFill>
                  </a:tcPr>
                </a:tc>
                <a:tc>
                  <a:txBody>
                    <a:bodyPr/>
                    <a:lstStyle/>
                    <a:p>
                      <a:pPr>
                        <a:defRPr sz="1200"/>
                      </a:pPr>
                      <a:r>
                        <a:t>Yes (more cost-effective)</a:t>
                      </a:r>
                    </a:p>
                  </a:txBody>
                  <a:tcPr>
                    <a:solidFill>
                      <a:srgbClr val="F2F3F4"/>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Workflow types</a:t>
            </a:r>
          </a:p>
        </p:txBody>
      </p:sp>
      <p:graphicFrame>
        <p:nvGraphicFramePr>
          <p:cNvPr id="4" name="Table 3"/>
          <p:cNvGraphicFramePr>
            <a:graphicFrameLocks noGrp="1"/>
          </p:cNvGraphicFramePr>
          <p:nvPr/>
        </p:nvGraphicFramePr>
        <p:xfrm>
          <a:off x="457200" y="1097280"/>
          <a:ext cx="8229600" cy="73152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400" b="1">
                          <a:solidFill>
                            <a:srgbClr val="FFFFFF"/>
                          </a:solidFill>
                        </a:defRPr>
                      </a:pPr>
                      <a:r>
                        <a:t>Type</a:t>
                      </a:r>
                    </a:p>
                  </a:txBody>
                  <a:tcPr>
                    <a:solidFill>
                      <a:srgbClr val="232F3E"/>
                    </a:solidFill>
                  </a:tcPr>
                </a:tc>
                <a:tc>
                  <a:txBody>
                    <a:bodyPr/>
                    <a:lstStyle/>
                    <a:p>
                      <a:pPr>
                        <a:defRPr sz="1400" b="1">
                          <a:solidFill>
                            <a:srgbClr val="FFFFFF"/>
                          </a:solidFill>
                        </a:defRPr>
                      </a:pPr>
                      <a:r>
                        <a:t>Duration</a:t>
                      </a:r>
                    </a:p>
                  </a:txBody>
                  <a:tcPr>
                    <a:solidFill>
                      <a:srgbClr val="232F3E"/>
                    </a:solidFill>
                  </a:tcPr>
                </a:tc>
                <a:tc>
                  <a:txBody>
                    <a:bodyPr/>
                    <a:lstStyle/>
                    <a:p>
                      <a:pPr>
                        <a:defRPr sz="1400" b="1">
                          <a:solidFill>
                            <a:srgbClr val="FFFFFF"/>
                          </a:solidFill>
                        </a:defRPr>
                      </a:pPr>
                      <a:r>
                        <a:t>Pricing</a:t>
                      </a:r>
                    </a:p>
                  </a:txBody>
                  <a:tcPr>
                    <a:solidFill>
                      <a:srgbClr val="232F3E"/>
                    </a:solidFill>
                  </a:tcPr>
                </a:tc>
                <a:tc>
                  <a:txBody>
                    <a:bodyPr/>
                    <a:lstStyle/>
                    <a:p>
                      <a:pPr>
                        <a:defRPr sz="1400" b="1">
                          <a:solidFill>
                            <a:srgbClr val="FFFFFF"/>
                          </a:solidFill>
                        </a:defRPr>
                      </a:pPr>
                      <a:r>
                        <a:t>Use Case</a:t>
                      </a:r>
                    </a:p>
                  </a:txBody>
                  <a:tcPr>
                    <a:solidFill>
                      <a:srgbClr val="232F3E"/>
                    </a:solidFill>
                  </a:tcPr>
                </a:tc>
              </a:tr>
              <a:tr h="365760">
                <a:tc>
                  <a:txBody>
                    <a:bodyPr/>
                    <a:lstStyle/>
                    <a:p>
                      <a:pPr>
                        <a:defRPr sz="1200"/>
                      </a:pPr>
                      <a:r>
                        <a:t>Express</a:t>
                      </a:r>
                    </a:p>
                  </a:txBody>
                  <a:tcPr>
                    <a:solidFill>
                      <a:srgbClr val="F2F3F4"/>
                    </a:solidFill>
                  </a:tcPr>
                </a:tc>
                <a:tc>
                  <a:txBody>
                    <a:bodyPr/>
                    <a:lstStyle/>
                    <a:p>
                      <a:pPr>
                        <a:defRPr sz="1200"/>
                      </a:pPr>
                      <a:r>
                        <a:t>Up to 5 minutes</a:t>
                      </a:r>
                    </a:p>
                  </a:txBody>
                  <a:tcPr>
                    <a:solidFill>
                      <a:srgbClr val="F2F3F4"/>
                    </a:solidFill>
                  </a:tcPr>
                </a:tc>
                <a:tc>
                  <a:txBody>
                    <a:bodyPr/>
                    <a:lstStyle/>
                    <a:p>
                      <a:pPr>
                        <a:defRPr sz="1200"/>
                      </a:pPr>
                      <a:r>
                        <a:t>Per execution + duration</a:t>
                      </a:r>
                    </a:p>
                  </a:txBody>
                  <a:tcPr>
                    <a:solidFill>
                      <a:srgbClr val="F2F3F4"/>
                    </a:solidFill>
                  </a:tcPr>
                </a:tc>
                <a:tc>
                  <a:txBody>
                    <a:bodyPr/>
                    <a:lstStyle/>
                    <a:p>
                      <a:pPr>
                        <a:defRPr sz="1200"/>
                      </a:pPr>
                      <a:r>
                        <a:t>Data transformation, IoT events</a:t>
                      </a:r>
                    </a:p>
                  </a:txBody>
                  <a:tcPr>
                    <a:solidFill>
                      <a:srgbClr val="F2F3F4"/>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Workflow types</a:t>
            </a:r>
          </a:p>
        </p:txBody>
      </p:sp>
      <p:sp>
        <p:nvSpPr>
          <p:cNvPr id="3" name="Content Placeholder 2"/>
          <p:cNvSpPr>
            <a:spLocks noGrp="1"/>
          </p:cNvSpPr>
          <p:nvPr>
            <p:ph idx="1"/>
          </p:nvPr>
        </p:nvSpPr>
        <p:spPr/>
        <p:txBody>
          <a:bodyPr/>
          <a:lstStyle/>
          <a:p>
            <a:pPr>
              <a:defRPr sz="1400" i="1">
                <a:solidFill>
                  <a:srgbClr val="555555"/>
                </a:solidFill>
              </a:defRPr>
            </a:pPr>
            <a:r>
              <a:t>Use Step Functions when orchestration logic is too complex for direct Lambda invocation or SQS.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 challenge: Step Functions vs. SQS</a:t>
            </a:r>
          </a:p>
        </p:txBody>
      </p:sp>
      <p:sp>
        <p:nvSpPr>
          <p:cNvPr id="3" name="Content Placeholder 2"/>
          <p:cNvSpPr>
            <a:spLocks noGrp="1"/>
          </p:cNvSpPr>
          <p:nvPr>
            <p:ph idx="1"/>
          </p:nvPr>
        </p:nvSpPr>
        <p:spPr/>
        <p:txBody>
          <a:bodyPr/>
          <a:lstStyle/>
          <a:p>
            <a:pPr>
              <a:defRPr sz="1600"/>
            </a:pPr>
            <a:r>
              <a:t>You need to process image uploads: (1) validate format, (2) generate three thumbnail sizes in parallel, (3) extract metadata, (4) store results in DynamoDB. If validation fails, skip all other steps.</a:t>
            </a:r>
          </a:p>
          <a:p>
            <a:pPr>
              <a:defRPr sz="1600"/>
            </a:pPr>
            <a:r>
              <a:t>Would you use Step Functions or SQS + Lambda? Defend your choice.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Athena</a:t>
            </a:r>
          </a:p>
        </p:txBody>
      </p:sp>
      <p:sp>
        <p:nvSpPr>
          <p:cNvPr id="3" name="Text Placeholder 2"/>
          <p:cNvSpPr>
            <a:spLocks noGrp="1"/>
          </p:cNvSpPr>
          <p:nvPr>
            <p:ph type="body" idx="1"/>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Serverless SQL analytics on S3</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SELECT eventName, userIdentity.arn, sourceIPAddress</a:t>
            </a:r>
            <a:br/>
            <a:r>
              <a:t>FROM cloudtrail_logs</a:t>
            </a:r>
            <a:br/>
            <a:r>
              <a:t>WHERE eventName = 'DeleteBucket'</a:t>
            </a:r>
            <a:br/>
            <a:r>
              <a:t>  AND eventTime &gt; '2026-01-01'</a:t>
            </a:r>
            <a:br/>
            <a:r>
              <a:t>ORDER BY eventTime DESC</a:t>
            </a:r>
            <a:br/>
            <a:r>
              <a:t>LIMIT 20;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Athena performance and cost optimization</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Optimization</a:t>
                      </a:r>
                    </a:p>
                  </a:txBody>
                  <a:tcPr>
                    <a:solidFill>
                      <a:srgbClr val="232F3E"/>
                    </a:solidFill>
                  </a:tcPr>
                </a:tc>
                <a:tc>
                  <a:txBody>
                    <a:bodyPr/>
                    <a:lstStyle/>
                    <a:p>
                      <a:pPr>
                        <a:defRPr sz="1400" b="1">
                          <a:solidFill>
                            <a:srgbClr val="FFFFFF"/>
                          </a:solidFill>
                        </a:defRPr>
                      </a:pPr>
                      <a:r>
                        <a:t>Impact</a:t>
                      </a:r>
                    </a:p>
                  </a:txBody>
                  <a:tcPr>
                    <a:solidFill>
                      <a:srgbClr val="232F3E"/>
                    </a:solidFill>
                  </a:tcPr>
                </a:tc>
              </a:tr>
              <a:tr h="365760">
                <a:tc>
                  <a:txBody>
                    <a:bodyPr/>
                    <a:lstStyle/>
                    <a:p>
                      <a:pPr>
                        <a:defRPr sz="1200"/>
                      </a:pPr>
                      <a:r>
                        <a:t>Partition by date, Region, or filter keys</a:t>
                      </a:r>
                    </a:p>
                  </a:txBody>
                  <a:tcPr>
                    <a:solidFill>
                      <a:srgbClr val="F2F3F4"/>
                    </a:solidFill>
                  </a:tcPr>
                </a:tc>
                <a:tc>
                  <a:txBody>
                    <a:bodyPr/>
                    <a:lstStyle/>
                    <a:p>
                      <a:pPr>
                        <a:defRPr sz="1200"/>
                      </a:pPr>
                      <a:r>
                        <a:t>Skips irrelevant partitions</a:t>
                      </a:r>
                    </a:p>
                  </a:txBody>
                  <a:tcPr>
                    <a:solidFill>
                      <a:srgbClr val="F2F3F4"/>
                    </a:solidFill>
                  </a:tcPr>
                </a:tc>
              </a:tr>
              <a:tr h="365760">
                <a:tc>
                  <a:txBody>
                    <a:bodyPr/>
                    <a:lstStyle/>
                    <a:p>
                      <a:pPr>
                        <a:defRPr sz="1200"/>
                      </a:pPr>
                      <a:r>
                        <a:t>Compress data (Snappy, GZIP)</a:t>
                      </a:r>
                    </a:p>
                  </a:txBody>
                  <a:tcPr/>
                </a:tc>
                <a:tc>
                  <a:txBody>
                    <a:bodyPr/>
                    <a:lstStyle/>
                    <a:p>
                      <a:pPr>
                        <a:defRPr sz="1200"/>
                      </a:pPr>
                      <a:r>
                        <a:t>Reduces scan volume and storage cost</a:t>
                      </a:r>
                    </a:p>
                  </a:txBody>
                  <a:tcPr/>
                </a:tc>
              </a:tr>
              <a:tr h="365760">
                <a:tc>
                  <a:txBody>
                    <a:bodyPr/>
                    <a:lstStyle/>
                    <a:p>
                      <a:pPr>
                        <a:defRPr sz="1200"/>
                      </a:pPr>
                      <a:r>
                        <a:t>AWS Glue Data Catalog</a:t>
                      </a:r>
                    </a:p>
                  </a:txBody>
                  <a:tcPr>
                    <a:solidFill>
                      <a:srgbClr val="F2F3F4"/>
                    </a:solidFill>
                  </a:tcPr>
                </a:tc>
                <a:tc>
                  <a:txBody>
                    <a:bodyPr/>
                    <a:lstStyle/>
                    <a:p>
                      <a:pPr>
                        <a:defRPr sz="1200"/>
                      </a:pPr>
                      <a:r>
                        <a:t>Centralized schema management</a:t>
                      </a:r>
                    </a:p>
                  </a:txBody>
                  <a:tcPr>
                    <a:solidFill>
                      <a:srgbClr val="F2F3F4"/>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Athena performance and cost optimization</a:t>
            </a:r>
          </a:p>
        </p:txBody>
      </p:sp>
      <p:sp>
        <p:nvSpPr>
          <p:cNvPr id="3" name="Content Placeholder 2"/>
          <p:cNvSpPr>
            <a:spLocks noGrp="1"/>
          </p:cNvSpPr>
          <p:nvPr>
            <p:ph idx="1"/>
          </p:nvPr>
        </p:nvSpPr>
        <p:spPr/>
        <p:txBody>
          <a:bodyPr/>
          <a:lstStyle/>
          <a:p>
            <a:pPr>
              <a:defRPr sz="1400" i="1">
                <a:solidFill>
                  <a:srgbClr val="555555"/>
                </a:solidFill>
              </a:defRPr>
            </a:pPr>
            <a:r>
              <a:t>Convert CSV/JSON to Parquet before querying. The cost savings from reduced scanning pay for the conversion quickly.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Emerging services</a:t>
            </a:r>
          </a:p>
        </p:txBody>
      </p:sp>
      <p:sp>
        <p:nvSpPr>
          <p:cNvPr id="3" name="Text Placeholder 2"/>
          <p:cNvSpPr>
            <a:spLocks noGrp="1"/>
          </p:cNvSpPr>
          <p:nvPr>
            <p:ph type="body" idx="1"/>
          </p:nvPr>
        </p:nvSpPr>
        <p:spPr/>
        <p:txBody>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Bedrock and AWS App Runner</a:t>
            </a:r>
          </a:p>
        </p:txBody>
      </p:sp>
      <p:sp>
        <p:nvSpPr>
          <p:cNvPr id="3" name="Content Placeholder 2"/>
          <p:cNvSpPr>
            <a:spLocks noGrp="1"/>
          </p:cNvSpPr>
          <p:nvPr>
            <p:ph idx="1"/>
          </p:nvPr>
        </p:nvSpPr>
        <p:spPr/>
        <p:txBody>
          <a:bodyPr/>
          <a:lstStyle/>
          <a:p>
            <a:pPr>
              <a:defRPr sz="1600"/>
            </a:pPr>
            <a:r>
              <a:t>Amazon Bedrock (Generative AI):</a:t>
            </a:r>
          </a:p>
          <a:p>
            <a:pPr>
              <a:defRPr sz="1800"/>
            </a:pPr>
            <a:r>
              <a:t>Managed access to foundation models (Claude, Titan, Llama)</a:t>
            </a:r>
          </a:p>
          <a:p>
            <a:pPr>
              <a:defRPr sz="1800"/>
            </a:pPr>
            <a:r>
              <a:t>Integrates with the serverless API pattern: API Gateway, Lambda, Bedrock API</a:t>
            </a:r>
          </a:p>
          <a:p>
            <a:pPr>
              <a:defRPr sz="1800"/>
            </a:pPr>
            <a:r>
              <a:t>Add text generation, summarization, conversational AI to your apps</a:t>
            </a:r>
          </a:p>
          <a:p>
            <a:pPr>
              <a:defRPr sz="1600"/>
            </a:pPr>
            <a:r>
              <a:t>AWS App Runner:</a:t>
            </a:r>
          </a:p>
          <a:p>
            <a:pPr>
              <a:defRPr sz="1800"/>
            </a:pPr>
            <a:r>
              <a:t>Fully managed container deployment (no VPC, ALB, ECS config)</a:t>
            </a:r>
          </a:p>
          <a:p>
            <a:pPr>
              <a:defRPr sz="1800"/>
            </a:pPr>
            <a:r>
              <a:t>Sits between Lambda (fully serverless) and ECS Fargate (full orchestration)</a:t>
            </a:r>
          </a:p>
          <a:p>
            <a:pPr>
              <a:defRPr sz="1800"/>
            </a:pPr>
            <a:r>
              <a:t>Good for teams wanting containers without ECS operational complexity</a:t>
            </a:r>
          </a:p>
          <a:p>
            <a:pPr>
              <a:defRPr sz="1400" i="1">
                <a:solidFill>
                  <a:srgbClr val="555555"/>
                </a:solidFill>
              </a:defRPr>
            </a:pPr>
            <a:r>
              <a:t>Evaluate new services against Well-Architected pillars. If a service does not clearly improve at least one pillar, the existing approach may be sufficient.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Decision Records</a:t>
            </a:r>
          </a:p>
        </p:txBody>
      </p:sp>
      <p:sp>
        <p:nvSpPr>
          <p:cNvPr id="3" name="Text Placeholder 2"/>
          <p:cNvSpPr>
            <a:spLocks noGrp="1"/>
          </p:cNvSpPr>
          <p:nvPr>
            <p:ph type="body" idx="1"/>
          </p:nvPr>
        </p:nvSpPr>
        <p:spPr/>
        <p:txBody>
          <a:bodyP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Consequences</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Accepted</a:t>
            </a:r>
            <a:br/>
            <a:br/>
            <a:r>
              <a:t>Sub-10ms read latency needed. Key-value access pattern.</a:t>
            </a:r>
            <a:br/>
            <a:r>
              <a:t>Lambda cannot maintain in-memory state.</a:t>
            </a:r>
            <a:br/>
            <a:br/>
            <a:r>
              <a:t>DynamoDB with TTL for automatic session expiration.</a:t>
            </a:r>
            <a:br/>
            <a:br/>
            <a:r>
              <a:t>- ElastiCache Redis: Sub-ms latency but requires VPC</a:t>
            </a:r>
            <a:br/>
            <a:r>
              <a:t>  for Lambda, adding cold start and complexity.</a:t>
            </a:r>
            <a:br/>
            <a:r>
              <a:t>- RDS: Over-engineered for key-value access pattern.</a:t>
            </a:r>
            <a:br/>
            <a:br/>
            <a:r>
              <a:t>- Single-digit ms latency meets requirements.</a:t>
            </a:r>
            <a:br/>
            <a:r>
              <a:t>- TTL handles expiration automatically.</a:t>
            </a:r>
            <a:br/>
            <a:r>
              <a:t>- Trade-off: no complex queries across sessions.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Multi-account strategy (Organizations + Control Tower) is standard for production; it provides security isolation, cost attribution, and quota separation</a:t>
            </a:r>
          </a:p>
          <a:p>
            <a:pPr>
              <a:defRPr sz="1800"/>
            </a:pPr>
            <a:r>
              <a:t>CloudFront accelerates content delivery globally; use OAC for secure S3 origins and ALB origins for dynamic API content</a:t>
            </a:r>
          </a:p>
          <a:p>
            <a:pPr>
              <a:defRPr sz="1800"/>
            </a:pPr>
            <a:r>
              <a:t>ElastiCache (Redis) reduces database load; choose caching strategy (cache-aside, write-through) based on consistency and latency needs</a:t>
            </a:r>
          </a:p>
          <a:p>
            <a:pPr>
              <a:defRPr sz="1800"/>
            </a:pPr>
            <a:r>
              <a:t>Step Functions orchestrate multi-step workflows with built-in error handling and retries; use when logic is too complex for SQS + Lambda</a:t>
            </a:r>
          </a:p>
          <a:p>
            <a:pPr>
              <a:defRPr sz="1800"/>
            </a:pPr>
            <a:r>
              <a:t>Athena provides serverless SQL on S3 data; optimize with columnar formats (Parquet) and partitioning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advanced services exercises</a:t>
            </a:r>
          </a:p>
        </p:txBody>
      </p:sp>
      <p:sp>
        <p:nvSpPr>
          <p:cNvPr id="3" name="Content Placeholder 2"/>
          <p:cNvSpPr>
            <a:spLocks noGrp="1"/>
          </p:cNvSpPr>
          <p:nvPr>
            <p:ph idx="1"/>
          </p:nvPr>
        </p:nvSpPr>
        <p:spPr/>
        <p:txBody>
          <a:bodyPr/>
          <a:lstStyle/>
          <a:p>
            <a:pPr>
              <a:defRPr sz="1600"/>
            </a:pPr>
            <a:r>
              <a:t>What you will do (choose 2 of 3):</a:t>
            </a:r>
          </a:p>
          <a:p>
            <a:pPr>
              <a:defRPr sz="1800"/>
            </a:pPr>
            <a:r>
              <a:t>Configure CloudFront with an S3 origin and OAC</a:t>
            </a:r>
          </a:p>
          <a:p>
            <a:pPr>
              <a:defRPr sz="1800"/>
            </a:pPr>
            <a:r>
              <a:t>Build a Step Functions workflow with branching and parallel states</a:t>
            </a:r>
          </a:p>
          <a:p>
            <a:pPr>
              <a:defRPr sz="1800"/>
            </a:pPr>
            <a:r>
              <a:t>Query CloudTrail logs in S3 using Athena</a:t>
            </a:r>
          </a:p>
          <a:p>
            <a:pPr>
              <a:defRPr sz="1800"/>
            </a:pPr>
            <a:r>
              <a:t>Write an Architecture Decision Record for one of your choices</a:t>
            </a:r>
          </a:p>
          <a:p>
            <a:pPr>
              <a:defRPr sz="1600"/>
            </a:pPr>
            <a:r>
              <a:t>Duration: 60 minutes (open-ended, choose your exercises)</a:t>
            </a:r>
          </a:p>
          <a:p>
            <a:pPr>
              <a:defRPr sz="1600"/>
            </a:pPr>
            <a:r>
              <a:t>Key services: CloudFront, Step Functions, Athena, S3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`modules/19-advanced-topics/resources.md`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