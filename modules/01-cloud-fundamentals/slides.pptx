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Welcome students to the first module of the AWS Bootcamp. This module covers the foundational concepts that every subsequent module builds on. Total lecture time is approximately 60 minutes: 10 min cloud computing basics, 10 min service/deployment models, 15 min AWS global infrastructure, 10 min shared responsibility, 15 min discussion and Q&amp;A.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approximately 10 minutes. Start by asking students how they think traditional IT infrastructure works, then contrast it with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Expected answer: OpEx (cloud) lets them start immediately, adjust resources as they learn what they need, and avoid the risk of buying the wrong hardware. The $30,000 CapEx investment is a sunk cost even if the product pivots.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approximately 5 minutes. Use the table on the next slide to show the spectrum from IaaS (you manage most) to SaaS (provider manages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approximately 5 minutes. Emphasize that most bootcamp labs use the public cloud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Answer: C) Hybrid cloud. The hospital uses on-premises for regulated data and public cloud for non-regulated workloads. This is a common pattern in healthcare and financial services.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approximately 15 minutes. Cover the global infrastructure, then the shared responsibility model. Use the map analogy: Regions are cities, AZs are neighborhoods, edge locations are local post offices.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Expected answer: eu-central-1 (Frankfurt) or eu-west-1 (Ireland) for the primary deployment to meet GDPR requirements. For US users, consider a second deployment in us-east-1 or use CloudFront edge locations to reduce latency. This is a multi-Region discussion that previews Module 16 (Reliability and DR).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This section takes approximately 10 minutes. This is one of the most important concepts in the entire bootcamp. Draw the dividing line on the whiteboard: AWS below, customer above.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Answers: 1) Customer, 2) AWS, 3) Customer, 4) AWS, 5) Customer. Walk through each answer and explain why. Emphasize that if you can configure it in the console, you are responsible for configuring it securely.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Take 5-10 minutes for questions. If no questions, transition to the lab. Remind students to have their MFA app ready before starting the lab.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01: Cloud Fundamentals</a:t>
            </a:r>
          </a:p>
        </p:txBody>
      </p:sp>
      <p:sp>
        <p:nvSpPr>
          <p:cNvPr id="3" name="Content Placeholder 2"/>
          <p:cNvSpPr>
            <a:spLocks noGrp="1"/>
          </p:cNvSpPr>
          <p:nvPr>
            <p:ph idx="1"/>
          </p:nvPr>
        </p:nvSpPr>
        <p:spPr/>
        <p:txBody>
          <a:bodyPr/>
          <a:lstStyle/>
          <a:p>
            <a:pPr>
              <a:defRPr sz="1600"/>
            </a:pPr>
            <a:r>
              <a:t>Phase 1: Cloud Foundations</a:t>
            </a:r>
          </a:p>
          <a:p>
            <a:pPr>
              <a:defRPr sz="1600"/>
            </a:pPr>
            <a:r>
              <a:t>Estimated lecture time: 60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Learning objectives</a:t>
            </a:r>
          </a:p>
        </p:txBody>
      </p:sp>
      <p:sp>
        <p:nvSpPr>
          <p:cNvPr id="3" name="Content Placeholder 2"/>
          <p:cNvSpPr>
            <a:spLocks noGrp="1"/>
          </p:cNvSpPr>
          <p:nvPr>
            <p:ph idx="1"/>
          </p:nvPr>
        </p:nvSpPr>
        <p:spPr/>
        <p:txBody>
          <a:bodyPr/>
          <a:lstStyle/>
          <a:p>
            <a:pPr>
              <a:defRPr sz="1600"/>
            </a:pPr>
            <a:r>
              <a:t>By the end of this module, you will be able to:</a:t>
            </a:r>
          </a:p>
          <a:p>
            <a:pPr>
              <a:defRPr sz="1800"/>
            </a:pPr>
            <a:r>
              <a:t>Define cloud computing and summarize how it differs from on-premises</a:t>
            </a:r>
          </a:p>
          <a:p>
            <a:pPr>
              <a:defRPr sz="1800"/>
            </a:pPr>
            <a:r>
              <a:t>List the five NIST characteristics of cloud computing</a:t>
            </a:r>
          </a:p>
          <a:p>
            <a:pPr>
              <a:defRPr sz="1800"/>
            </a:pPr>
            <a:r>
              <a:t>Distinguish between CapEx and OpEx</a:t>
            </a:r>
          </a:p>
          <a:p>
            <a:pPr>
              <a:defRPr sz="1800"/>
            </a:pPr>
            <a:r>
              <a:t>Describe IaaS, PaaS, and SaaS</a:t>
            </a:r>
          </a:p>
          <a:p>
            <a:pPr>
              <a:defRPr sz="1800"/>
            </a:pPr>
            <a:r>
              <a:t>Identify public, private, and hybrid cloud models</a:t>
            </a:r>
          </a:p>
          <a:p>
            <a:pPr>
              <a:defRPr sz="1800"/>
            </a:pPr>
            <a:r>
              <a:t>Explain AWS Regions, Availability Zones, and edge locations</a:t>
            </a:r>
          </a:p>
          <a:p>
            <a:pPr>
              <a:defRPr sz="1800"/>
            </a:pPr>
            <a:r>
              <a:t>Summarize the AWS Shared Responsibility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Prerequisites and agenda</a:t>
            </a:r>
          </a:p>
        </p:txBody>
      </p:sp>
      <p:sp>
        <p:nvSpPr>
          <p:cNvPr id="3" name="Content Placeholder 2"/>
          <p:cNvSpPr>
            <a:spLocks noGrp="1"/>
          </p:cNvSpPr>
          <p:nvPr>
            <p:ph idx="1"/>
          </p:nvPr>
        </p:nvSpPr>
        <p:spPr/>
        <p:txBody>
          <a:bodyPr/>
          <a:lstStyle/>
          <a:p>
            <a:pPr>
              <a:defRPr sz="1600"/>
            </a:pPr>
            <a:r>
              <a:t>Prerequisites: Basic programming knowledge, an AWS account (free tier), a modern web browser</a:t>
            </a:r>
          </a:p>
          <a:p>
            <a:pPr>
              <a:defRPr sz="1600"/>
            </a:pPr>
            <a:r>
              <a:t>Agenda:</a:t>
            </a:r>
          </a:p>
          <a:p>
            <a:pPr>
              <a:defRPr sz="1800"/>
            </a:pPr>
            <a:r>
              <a:t>What is cloud computing?</a:t>
            </a:r>
          </a:p>
          <a:p>
            <a:pPr>
              <a:defRPr sz="1800"/>
            </a:pPr>
            <a:r>
              <a:t>Cloud service models (IaaS, PaaS, SaaS)</a:t>
            </a:r>
          </a:p>
          <a:p>
            <a:pPr>
              <a:defRPr sz="1800"/>
            </a:pPr>
            <a:r>
              <a:t>Cloud deployment models</a:t>
            </a:r>
          </a:p>
          <a:p>
            <a:pPr>
              <a:defRPr sz="1800"/>
            </a:pPr>
            <a:r>
              <a:t>Why AWS?</a:t>
            </a:r>
          </a:p>
          <a:p>
            <a:pPr>
              <a:defRPr sz="1800"/>
            </a:pPr>
            <a:r>
              <a:t>AWS global infrastructure</a:t>
            </a:r>
          </a:p>
          <a:p>
            <a:pPr>
              <a:defRPr sz="1800"/>
            </a:pPr>
            <a:r>
              <a:t>Shared responsibility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cloud computing?</a:t>
            </a:r>
          </a:p>
        </p:txBody>
      </p:sp>
      <p:sp>
        <p:nvSpPr>
          <p:cNvPr id="3" name="Text Placeholder 2"/>
          <p:cNvSpPr>
            <a:spLocks noGrp="1"/>
          </p:cNvSpPr>
          <p:nvPr>
            <p:ph type="body" idx="1"/>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computing defined</a:t>
            </a:r>
          </a:p>
        </p:txBody>
      </p:sp>
      <p:sp>
        <p:nvSpPr>
          <p:cNvPr id="3" name="Content Placeholder 2"/>
          <p:cNvSpPr>
            <a:spLocks noGrp="1"/>
          </p:cNvSpPr>
          <p:nvPr>
            <p:ph idx="1"/>
          </p:nvPr>
        </p:nvSpPr>
        <p:spPr/>
        <p:txBody>
          <a:bodyPr/>
          <a:lstStyle/>
          <a:p>
            <a:pPr>
              <a:defRPr sz="1800"/>
            </a:pPr>
            <a:r>
              <a:t>On-demand delivery of IT resources over the internet</a:t>
            </a:r>
          </a:p>
          <a:p>
            <a:pPr>
              <a:defRPr sz="1800"/>
            </a:pPr>
            <a:r>
              <a:t>Pay only for what you use (pay-as-you-go)</a:t>
            </a:r>
          </a:p>
          <a:p>
            <a:pPr>
              <a:defRPr sz="1800"/>
            </a:pPr>
            <a:r>
              <a:t>No upfront hardware purchases required</a:t>
            </a:r>
          </a:p>
          <a:p>
            <a:pPr>
              <a:defRPr sz="1800"/>
            </a:pPr>
            <a:r>
              <a:t>Provider manages physical infrastructure</a:t>
            </a:r>
          </a:p>
          <a:p>
            <a:pPr>
              <a:defRPr sz="1800"/>
            </a:pPr>
            <a:r>
              <a:t>You focus on building applications, not managing servers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On-premises vs. cloud</a:t>
            </a:r>
          </a:p>
        </p:txBody>
      </p:sp>
      <p:graphicFrame>
        <p:nvGraphicFramePr>
          <p:cNvPr id="4" name="Table 3"/>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Aspect</a:t>
                      </a:r>
                    </a:p>
                  </a:txBody>
                  <a:tcPr>
                    <a:solidFill>
                      <a:srgbClr val="232F3E"/>
                    </a:solidFill>
                  </a:tcPr>
                </a:tc>
                <a:tc>
                  <a:txBody>
                    <a:bodyPr/>
                    <a:lstStyle/>
                    <a:p>
                      <a:pPr>
                        <a:defRPr sz="1400" b="1">
                          <a:solidFill>
                            <a:srgbClr val="FFFFFF"/>
                          </a:solidFill>
                        </a:defRPr>
                      </a:pPr>
                      <a:r>
                        <a:t>On-Premises</a:t>
                      </a:r>
                    </a:p>
                  </a:txBody>
                  <a:tcPr>
                    <a:solidFill>
                      <a:srgbClr val="232F3E"/>
                    </a:solidFill>
                  </a:tcPr>
                </a:tc>
                <a:tc>
                  <a:txBody>
                    <a:bodyPr/>
                    <a:lstStyle/>
                    <a:p>
                      <a:pPr>
                        <a:defRPr sz="1400" b="1">
                          <a:solidFill>
                            <a:srgbClr val="FFFFFF"/>
                          </a:solidFill>
                        </a:defRPr>
                      </a:pPr>
                      <a:r>
                        <a:t>Cloud</a:t>
                      </a:r>
                    </a:p>
                  </a:txBody>
                  <a:tcPr>
                    <a:solidFill>
                      <a:srgbClr val="232F3E"/>
                    </a:solidFill>
                  </a:tcPr>
                </a:tc>
              </a:tr>
              <a:tr h="365760">
                <a:tc>
                  <a:txBody>
                    <a:bodyPr/>
                    <a:lstStyle/>
                    <a:p>
                      <a:pPr>
                        <a:defRPr sz="1200"/>
                      </a:pPr>
                      <a:r>
                        <a:t>Scaling</a:t>
                      </a:r>
                    </a:p>
                  </a:txBody>
                  <a:tcPr>
                    <a:solidFill>
                      <a:srgbClr val="F2F3F4"/>
                    </a:solidFill>
                  </a:tcPr>
                </a:tc>
                <a:tc>
                  <a:txBody>
                    <a:bodyPr/>
                    <a:lstStyle/>
                    <a:p>
                      <a:pPr>
                        <a:defRPr sz="1200"/>
                      </a:pPr>
                      <a:r>
                        <a:t>Weeks to months</a:t>
                      </a:r>
                    </a:p>
                  </a:txBody>
                  <a:tcPr>
                    <a:solidFill>
                      <a:srgbClr val="F2F3F4"/>
                    </a:solidFill>
                  </a:tcPr>
                </a:tc>
                <a:tc>
                  <a:txBody>
                    <a:bodyPr/>
                    <a:lstStyle/>
                    <a:p>
                      <a:pPr>
                        <a:defRPr sz="1200"/>
                      </a:pPr>
                      <a:r>
                        <a:t>Minutes</a:t>
                      </a:r>
                    </a:p>
                  </a:txBody>
                  <a:tcPr>
                    <a:solidFill>
                      <a:srgbClr val="F2F3F4"/>
                    </a:solidFill>
                  </a:tcPr>
                </a:tc>
              </a:tr>
              <a:tr h="365760">
                <a:tc>
                  <a:txBody>
                    <a:bodyPr/>
                    <a:lstStyle/>
                    <a:p>
                      <a:pPr>
                        <a:defRPr sz="1200"/>
                      </a:pPr>
                      <a:r>
                        <a:t>Maintenance</a:t>
                      </a:r>
                    </a:p>
                  </a:txBody>
                  <a:tcPr/>
                </a:tc>
                <a:tc>
                  <a:txBody>
                    <a:bodyPr/>
                    <a:lstStyle/>
                    <a:p>
                      <a:pPr>
                        <a:defRPr sz="1200"/>
                      </a:pPr>
                      <a:r>
                        <a:t>Your team</a:t>
                      </a:r>
                    </a:p>
                  </a:txBody>
                  <a:tcPr/>
                </a:tc>
                <a:tc>
                  <a:txBody>
                    <a:bodyPr/>
                    <a:lstStyle/>
                    <a:p>
                      <a:pPr>
                        <a:defRPr sz="1200"/>
                      </a:pPr>
                      <a:r>
                        <a:t>Provider</a:t>
                      </a:r>
                    </a:p>
                  </a:txBody>
                  <a:tcPr/>
                </a:tc>
              </a:tr>
              <a:tr h="365760">
                <a:tc>
                  <a:txBody>
                    <a:bodyPr/>
                    <a:lstStyle/>
                    <a:p>
                      <a:pPr>
                        <a:defRPr sz="1200"/>
                      </a:pPr>
                      <a:r>
                        <a:t>Capacity planning</a:t>
                      </a:r>
                    </a:p>
                  </a:txBody>
                  <a:tcPr>
                    <a:solidFill>
                      <a:srgbClr val="F2F3F4"/>
                    </a:solidFill>
                  </a:tcPr>
                </a:tc>
                <a:tc>
                  <a:txBody>
                    <a:bodyPr/>
                    <a:lstStyle/>
                    <a:p>
                      <a:pPr>
                        <a:defRPr sz="1200"/>
                      </a:pPr>
                      <a:r>
                        <a:t>Estimate peak demand</a:t>
                      </a:r>
                    </a:p>
                  </a:txBody>
                  <a:tcPr>
                    <a:solidFill>
                      <a:srgbClr val="F2F3F4"/>
                    </a:solidFill>
                  </a:tcPr>
                </a:tc>
                <a:tc>
                  <a:txBody>
                    <a:bodyPr/>
                    <a:lstStyle/>
                    <a:p>
                      <a:pPr>
                        <a:defRPr sz="1200"/>
                      </a:pPr>
                      <a:r>
                        <a:t>Scale on actual usage</a:t>
                      </a:r>
                    </a:p>
                  </a:txBody>
                  <a:tcPr>
                    <a:solidFill>
                      <a:srgbClr val="F2F3F4"/>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NIST characteristics of cloud computing</a:t>
            </a:r>
          </a:p>
        </p:txBody>
      </p:sp>
      <p:sp>
        <p:nvSpPr>
          <p:cNvPr id="3" name="Content Placeholder 2"/>
          <p:cNvSpPr>
            <a:spLocks noGrp="1"/>
          </p:cNvSpPr>
          <p:nvPr>
            <p:ph idx="1"/>
          </p:nvPr>
        </p:nvSpPr>
        <p:spPr/>
        <p:txBody>
          <a:bodyPr/>
          <a:lstStyle/>
          <a:p>
            <a:pPr>
              <a:defRPr sz="1800"/>
            </a:pPr>
            <a:r>
              <a:t>On-demand self-service: Provision resources without human interaction</a:t>
            </a:r>
          </a:p>
          <a:p>
            <a:pPr>
              <a:defRPr sz="1800"/>
            </a:pPr>
            <a:r>
              <a:t>Broad network access: Access from any device over the network</a:t>
            </a:r>
          </a:p>
          <a:p>
            <a:pPr>
              <a:defRPr sz="1800"/>
            </a:pPr>
            <a:r>
              <a:t>Resource pooling: Provider shares resources across customers</a:t>
            </a:r>
          </a:p>
          <a:p>
            <a:pPr>
              <a:defRPr sz="1800"/>
            </a:pPr>
            <a:r>
              <a:t>Rapid elasticity: Scale up or down quickly</a:t>
            </a:r>
          </a:p>
          <a:p>
            <a:pPr>
              <a:defRPr sz="1800"/>
            </a:pPr>
            <a:r>
              <a:t>Measured service: Pay only for what you consume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CapEx vs. OpEx</a:t>
            </a:r>
          </a:p>
        </p:txBody>
      </p:sp>
      <p:graphicFrame>
        <p:nvGraphicFramePr>
          <p:cNvPr id="4" name="Table 3"/>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114800"/>
                <a:gridCol w="4114800"/>
              </a:tblGrid>
              <a:tr h="365760">
                <a:tc>
                  <a:txBody>
                    <a:bodyPr/>
                    <a:lstStyle/>
                    <a:p>
                      <a:pPr>
                        <a:defRPr sz="1400" b="1">
                          <a:solidFill>
                            <a:srgbClr val="FFFFFF"/>
                          </a:solidFill>
                        </a:defRPr>
                      </a:pPr>
                      <a:r>
                        <a:t>Capital Expenditure (CapEx)</a:t>
                      </a:r>
                    </a:p>
                  </a:txBody>
                  <a:tcPr>
                    <a:solidFill>
                      <a:srgbClr val="232F3E"/>
                    </a:solidFill>
                  </a:tcPr>
                </a:tc>
                <a:tc>
                  <a:txBody>
                    <a:bodyPr/>
                    <a:lstStyle/>
                    <a:p>
                      <a:pPr>
                        <a:defRPr sz="1400" b="1">
                          <a:solidFill>
                            <a:srgbClr val="FFFFFF"/>
                          </a:solidFill>
                        </a:defRPr>
                      </a:pPr>
                      <a:r>
                        <a:t>Operational Expenditure (OpEx)</a:t>
                      </a:r>
                    </a:p>
                  </a:txBody>
                  <a:tcPr>
                    <a:solidFill>
                      <a:srgbClr val="232F3E"/>
                    </a:solidFill>
                  </a:tcPr>
                </a:tc>
              </a:tr>
              <a:tr h="365760">
                <a:tc>
                  <a:txBody>
                    <a:bodyPr/>
                    <a:lstStyle/>
                    <a:p>
                      <a:pPr>
                        <a:defRPr sz="1200"/>
                      </a:pPr>
                      <a:r>
                        <a:t>**When**</a:t>
                      </a:r>
                    </a:p>
                  </a:txBody>
                  <a:tcPr>
                    <a:solidFill>
                      <a:srgbClr val="F2F3F4"/>
                    </a:solidFill>
                  </a:tcPr>
                </a:tc>
                <a:tc>
                  <a:txBody>
                    <a:bodyPr/>
                    <a:lstStyle/>
                    <a:p>
                      <a:pPr>
                        <a:defRPr sz="1200"/>
                      </a:pPr>
                      <a:r>
                        <a:t>Before you use it</a:t>
                      </a:r>
                    </a:p>
                  </a:txBody>
                  <a:tcPr>
                    <a:solidFill>
                      <a:srgbClr val="F2F3F4"/>
                    </a:solidFill>
                  </a:tcPr>
                </a:tc>
              </a:tr>
              <a:tr h="365760">
                <a:tc>
                  <a:txBody>
                    <a:bodyPr/>
                    <a:lstStyle/>
                    <a:p>
                      <a:pPr>
                        <a:defRPr sz="1200"/>
                      </a:pPr>
                      <a:r>
                        <a:t>**Risk**</a:t>
                      </a:r>
                    </a:p>
                  </a:txBody>
                  <a:tcPr/>
                </a:tc>
                <a:tc>
                  <a:txBody>
                    <a:bodyPr/>
                    <a:lstStyle/>
                    <a:p>
                      <a:pPr>
                        <a:defRPr sz="1200"/>
                      </a:pPr>
                      <a:r>
                        <a:t>Over/under-provisioning</a:t>
                      </a:r>
                    </a:p>
                  </a:txBody>
                  <a:tcPr/>
                </a:tc>
              </a:tr>
              <a:tr h="365760">
                <a:tc>
                  <a:txBody>
                    <a:bodyPr/>
                    <a:lstStyle/>
                    <a:p>
                      <a:pPr>
                        <a:defRPr sz="1200"/>
                      </a:pPr>
                      <a:r>
                        <a:t>**Example**</a:t>
                      </a:r>
                    </a:p>
                  </a:txBody>
                  <a:tcPr>
                    <a:solidFill>
                      <a:srgbClr val="F2F3F4"/>
                    </a:solidFill>
                  </a:tcPr>
                </a:tc>
                <a:tc>
                  <a:txBody>
                    <a:bodyPr/>
                    <a:lstStyle/>
                    <a:p>
                      <a:pPr>
                        <a:defRPr sz="1200"/>
                      </a:pPr>
                      <a:r>
                        <a:t>Buy 10 servers</a:t>
                      </a:r>
                    </a:p>
                  </a:txBody>
                  <a:tcPr>
                    <a:solidFill>
                      <a:srgbClr val="F2F3F4"/>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CapEx vs. OpEx</a:t>
            </a:r>
          </a:p>
        </p:txBody>
      </p:sp>
      <p:sp>
        <p:nvSpPr>
          <p:cNvPr id="3" name="Content Placeholder 2"/>
          <p:cNvSpPr>
            <a:spLocks noGrp="1"/>
          </p:cNvSpPr>
          <p:nvPr>
            <p:ph idx="1"/>
          </p:nvPr>
        </p:nvSpPr>
        <p:spPr/>
        <p:txBody>
          <a:bodyPr/>
          <a:lstStyle/>
          <a:p>
            <a:pPr>
              <a:defRPr sz="1400" i="1">
                <a:solidFill>
                  <a:srgbClr val="555555"/>
                </a:solidFill>
              </a:defRPr>
            </a:pPr>
            <a:r>
              <a:t>Cloud computing shifts IT spending from CapEx to OpEx.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why does the CapEx-to-OpEx shift matter?</a:t>
            </a:r>
          </a:p>
        </p:txBody>
      </p:sp>
      <p:sp>
        <p:nvSpPr>
          <p:cNvPr id="3" name="Content Placeholder 2"/>
          <p:cNvSpPr>
            <a:spLocks noGrp="1"/>
          </p:cNvSpPr>
          <p:nvPr>
            <p:ph idx="1"/>
          </p:nvPr>
        </p:nvSpPr>
        <p:spPr/>
        <p:txBody>
          <a:bodyPr/>
          <a:lstStyle/>
          <a:p>
            <a:pPr>
              <a:defRPr sz="1600"/>
            </a:pPr>
            <a:r>
              <a:t>A startup has $50,000 to build its first product. Under the CapEx model, they would spend $30,000 on servers before writing any code. Under the OpEx model, they start building immediately and pay $500/month for cloud resources.</a:t>
            </a:r>
          </a:p>
          <a:p>
            <a:pPr>
              <a:defRPr sz="1600"/>
            </a:pPr>
            <a:r>
              <a:t>Which approach lets the startup iterate faster, and why?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service models</a:t>
            </a:r>
          </a:p>
        </p:txBody>
      </p:sp>
      <p:sp>
        <p:nvSpPr>
          <p:cNvPr id="3" name="Text Placeholder 2"/>
          <p:cNvSpPr>
            <a:spLocks noGrp="1"/>
          </p:cNvSpPr>
          <p:nvPr>
            <p:ph type="body" idx="1"/>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IaaS, PaaS, and SaaS</a:t>
            </a:r>
          </a:p>
        </p:txBody>
      </p:sp>
      <p:graphicFrame>
        <p:nvGraphicFramePr>
          <p:cNvPr id="4" name="Table 3"/>
          <p:cNvGraphicFramePr>
            <a:graphicFrameLocks noGrp="1"/>
          </p:cNvGraphicFramePr>
          <p:nvPr/>
        </p:nvGraphicFramePr>
        <p:xfrm>
          <a:off x="457200" y="1097280"/>
          <a:ext cx="8229600" cy="1097280"/>
        </p:xfrm>
        <a:graphic>
          <a:graphicData uri="http://schemas.openxmlformats.org/drawingml/2006/table">
            <a:tbl>
              <a:tblPr firstRow="1" bandRow="1">
                <a:tableStyleId>{5C22544A-7EE6-4342-B048-85BDC9FD1C3A}</a:tableStyleId>
              </a:tblPr>
              <a:tblGrid>
                <a:gridCol w="2057400"/>
                <a:gridCol w="2057400"/>
                <a:gridCol w="2057400"/>
                <a:gridCol w="2057400"/>
              </a:tblGrid>
              <a:tr h="365760">
                <a:tc>
                  <a:txBody>
                    <a:bodyPr/>
                    <a:lstStyle/>
                    <a:p>
                      <a:pPr>
                        <a:defRPr sz="1400" b="1">
                          <a:solidFill>
                            <a:srgbClr val="FFFFFF"/>
                          </a:solidFill>
                        </a:defRPr>
                      </a:pPr>
                      <a:r>
                        <a:t>Model</a:t>
                      </a:r>
                    </a:p>
                  </a:txBody>
                  <a:tcPr>
                    <a:solidFill>
                      <a:srgbClr val="232F3E"/>
                    </a:solidFill>
                  </a:tcPr>
                </a:tc>
                <a:tc>
                  <a:txBody>
                    <a:bodyPr/>
                    <a:lstStyle/>
                    <a:p>
                      <a:pPr>
                        <a:defRPr sz="1400" b="1">
                          <a:solidFill>
                            <a:srgbClr val="FFFFFF"/>
                          </a:solidFill>
                        </a:defRPr>
                      </a:pPr>
                      <a:r>
                        <a:t>You Manage</a:t>
                      </a:r>
                    </a:p>
                  </a:txBody>
                  <a:tcPr>
                    <a:solidFill>
                      <a:srgbClr val="232F3E"/>
                    </a:solidFill>
                  </a:tcPr>
                </a:tc>
                <a:tc>
                  <a:txBody>
                    <a:bodyPr/>
                    <a:lstStyle/>
                    <a:p>
                      <a:pPr>
                        <a:defRPr sz="1400" b="1">
                          <a:solidFill>
                            <a:srgbClr val="FFFFFF"/>
                          </a:solidFill>
                        </a:defRPr>
                      </a:pPr>
                      <a:r>
                        <a:t>Provider Manages</a:t>
                      </a:r>
                    </a:p>
                  </a:txBody>
                  <a:tcPr>
                    <a:solidFill>
                      <a:srgbClr val="232F3E"/>
                    </a:solidFill>
                  </a:tcPr>
                </a:tc>
                <a:tc>
                  <a:txBody>
                    <a:bodyPr/>
                    <a:lstStyle/>
                    <a:p>
                      <a:pPr>
                        <a:defRPr sz="1400" b="1">
                          <a:solidFill>
                            <a:srgbClr val="FFFFFF"/>
                          </a:solidFill>
                        </a:defRPr>
                      </a:pPr>
                      <a:r>
                        <a:t>AWS Example</a:t>
                      </a:r>
                    </a:p>
                  </a:txBody>
                  <a:tcPr>
                    <a:solidFill>
                      <a:srgbClr val="232F3E"/>
                    </a:solidFill>
                  </a:tcPr>
                </a:tc>
              </a:tr>
              <a:tr h="365760">
                <a:tc>
                  <a:txBody>
                    <a:bodyPr/>
                    <a:lstStyle/>
                    <a:p>
                      <a:pPr>
                        <a:defRPr sz="1200"/>
                      </a:pPr>
                      <a:r>
                        <a:t>**PaaS**</a:t>
                      </a:r>
                    </a:p>
                  </a:txBody>
                  <a:tcPr>
                    <a:solidFill>
                      <a:srgbClr val="F2F3F4"/>
                    </a:solidFill>
                  </a:tcPr>
                </a:tc>
                <a:tc>
                  <a:txBody>
                    <a:bodyPr/>
                    <a:lstStyle/>
                    <a:p>
                      <a:pPr>
                        <a:defRPr sz="1200"/>
                      </a:pPr>
                      <a:r>
                        <a:t>App code and data</a:t>
                      </a:r>
                    </a:p>
                  </a:txBody>
                  <a:tcPr>
                    <a:solidFill>
                      <a:srgbClr val="F2F3F4"/>
                    </a:solidFill>
                  </a:tcPr>
                </a:tc>
                <a:tc>
                  <a:txBody>
                    <a:bodyPr/>
                    <a:lstStyle/>
                    <a:p>
                      <a:pPr>
                        <a:defRPr sz="1200"/>
                      </a:pPr>
                      <a:r>
                        <a:t>OS, runtime, scaling</a:t>
                      </a:r>
                    </a:p>
                  </a:txBody>
                  <a:tcPr>
                    <a:solidFill>
                      <a:srgbClr val="F2F3F4"/>
                    </a:solidFill>
                  </a:tcPr>
                </a:tc>
                <a:tc>
                  <a:txBody>
                    <a:bodyPr/>
                    <a:lstStyle/>
                    <a:p>
                      <a:pPr>
                        <a:defRPr sz="1200"/>
                      </a:pPr>
                      <a:r>
                        <a:t>AWS Elastic Beanstalk</a:t>
                      </a:r>
                    </a:p>
                  </a:txBody>
                  <a:tcPr>
                    <a:solidFill>
                      <a:srgbClr val="F2F3F4"/>
                    </a:solidFill>
                  </a:tcPr>
                </a:tc>
              </a:tr>
              <a:tr h="365760">
                <a:tc>
                  <a:txBody>
                    <a:bodyPr/>
                    <a:lstStyle/>
                    <a:p>
                      <a:pPr>
                        <a:defRPr sz="1200"/>
                      </a:pPr>
                      <a:r>
                        <a:t>**SaaS**</a:t>
                      </a:r>
                    </a:p>
                  </a:txBody>
                  <a:tcPr/>
                </a:tc>
                <a:tc>
                  <a:txBody>
                    <a:bodyPr/>
                    <a:lstStyle/>
                    <a:p>
                      <a:pPr>
                        <a:defRPr sz="1200"/>
                      </a:pPr>
                      <a:r>
                        <a:t>Configuration only</a:t>
                      </a:r>
                    </a:p>
                  </a:txBody>
                  <a:tcPr/>
                </a:tc>
                <a:tc>
                  <a:txBody>
                    <a:bodyPr/>
                    <a:lstStyle/>
                    <a:p>
                      <a:pPr>
                        <a:defRPr sz="1200"/>
                      </a:pPr>
                      <a:r>
                        <a:t>Everything</a:t>
                      </a:r>
                    </a:p>
                  </a:txBody>
                  <a:tcPr/>
                </a:tc>
                <a:tc>
                  <a:txBody>
                    <a:bodyPr/>
                    <a:lstStyle/>
                    <a:p>
                      <a:pPr>
                        <a:defRPr sz="1200"/>
                      </a:pPr>
                      <a:r>
                        <a:t>Amazon Connect</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IaaS, PaaS, and SaaS</a:t>
            </a:r>
          </a:p>
        </p:txBody>
      </p:sp>
      <p:sp>
        <p:nvSpPr>
          <p:cNvPr id="3" name="Content Placeholder 2"/>
          <p:cNvSpPr>
            <a:spLocks noGrp="1"/>
          </p:cNvSpPr>
          <p:nvPr>
            <p:ph idx="1"/>
          </p:nvPr>
        </p:nvSpPr>
        <p:spPr/>
        <p:txBody>
          <a:bodyPr/>
          <a:lstStyle/>
          <a:p>
            <a:pPr>
              <a:defRPr sz="1400" i="1">
                <a:solidFill>
                  <a:srgbClr val="555555"/>
                </a:solidFill>
              </a:defRPr>
            </a:pPr>
            <a:r>
              <a:t>As you move from IaaS to SaaS, you manage less and the provider manages more.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deployment models</a:t>
            </a:r>
          </a:p>
        </p:txBody>
      </p:sp>
      <p:sp>
        <p:nvSpPr>
          <p:cNvPr id="3" name="Text Placeholder 2"/>
          <p:cNvSpPr>
            <a:spLocks noGrp="1"/>
          </p:cNvSpPr>
          <p:nvPr>
            <p:ph type="body" idx="1"/>
          </p:nvPr>
        </p:nvSpPr>
        <p:spPr/>
        <p:txBody>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Public, private, and hybrid cloud</a:t>
            </a:r>
          </a:p>
        </p:txBody>
      </p:sp>
      <p:graphicFrame>
        <p:nvGraphicFramePr>
          <p:cNvPr id="4" name="Table 3"/>
          <p:cNvGraphicFramePr>
            <a:graphicFrameLocks noGrp="1"/>
          </p:cNvGraphicFramePr>
          <p:nvPr/>
        </p:nvGraphicFramePr>
        <p:xfrm>
          <a:off x="457200" y="1097280"/>
          <a:ext cx="8229600" cy="109728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Model</a:t>
                      </a:r>
                    </a:p>
                  </a:txBody>
                  <a:tcPr>
                    <a:solidFill>
                      <a:srgbClr val="232F3E"/>
                    </a:solidFill>
                  </a:tcPr>
                </a:tc>
                <a:tc>
                  <a:txBody>
                    <a:bodyPr/>
                    <a:lstStyle/>
                    <a:p>
                      <a:pPr>
                        <a:defRPr sz="1400" b="1">
                          <a:solidFill>
                            <a:srgbClr val="FFFFFF"/>
                          </a:solidFill>
                        </a:defRPr>
                      </a:pPr>
                      <a:r>
                        <a:t>Infrastructure Location</a:t>
                      </a:r>
                    </a:p>
                  </a:txBody>
                  <a:tcPr>
                    <a:solidFill>
                      <a:srgbClr val="232F3E"/>
                    </a:solidFill>
                  </a:tcPr>
                </a:tc>
                <a:tc>
                  <a:txBody>
                    <a:bodyPr/>
                    <a:lstStyle/>
                    <a:p>
                      <a:pPr>
                        <a:defRPr sz="1400" b="1">
                          <a:solidFill>
                            <a:srgbClr val="FFFFFF"/>
                          </a:solidFill>
                        </a:defRPr>
                      </a:pPr>
                      <a:r>
                        <a:t>Best For</a:t>
                      </a:r>
                    </a:p>
                  </a:txBody>
                  <a:tcPr>
                    <a:solidFill>
                      <a:srgbClr val="232F3E"/>
                    </a:solidFill>
                  </a:tcPr>
                </a:tc>
              </a:tr>
              <a:tr h="365760">
                <a:tc>
                  <a:txBody>
                    <a:bodyPr/>
                    <a:lstStyle/>
                    <a:p>
                      <a:pPr>
                        <a:defRPr sz="1200"/>
                      </a:pPr>
                      <a:r>
                        <a:t>**Private cloud**</a:t>
                      </a:r>
                    </a:p>
                  </a:txBody>
                  <a:tcPr>
                    <a:solidFill>
                      <a:srgbClr val="F2F3F4"/>
                    </a:solidFill>
                  </a:tcPr>
                </a:tc>
                <a:tc>
                  <a:txBody>
                    <a:bodyPr/>
                    <a:lstStyle/>
                    <a:p>
                      <a:pPr>
                        <a:defRPr sz="1200"/>
                      </a:pPr>
                      <a:r>
                        <a:t>Your data centers</a:t>
                      </a:r>
                    </a:p>
                  </a:txBody>
                  <a:tcPr>
                    <a:solidFill>
                      <a:srgbClr val="F2F3F4"/>
                    </a:solidFill>
                  </a:tcPr>
                </a:tc>
                <a:tc>
                  <a:txBody>
                    <a:bodyPr/>
                    <a:lstStyle/>
                    <a:p>
                      <a:pPr>
                        <a:defRPr sz="1200"/>
                      </a:pPr>
                      <a:r>
                        <a:t>Strict regulatory requirements</a:t>
                      </a:r>
                    </a:p>
                  </a:txBody>
                  <a:tcPr>
                    <a:solidFill>
                      <a:srgbClr val="F2F3F4"/>
                    </a:solidFill>
                  </a:tcPr>
                </a:tc>
              </a:tr>
              <a:tr h="365760">
                <a:tc>
                  <a:txBody>
                    <a:bodyPr/>
                    <a:lstStyle/>
                    <a:p>
                      <a:pPr>
                        <a:defRPr sz="1200"/>
                      </a:pPr>
                      <a:r>
                        <a:t>**Hybrid cloud**</a:t>
                      </a:r>
                    </a:p>
                  </a:txBody>
                  <a:tcPr/>
                </a:tc>
                <a:tc>
                  <a:txBody>
                    <a:bodyPr/>
                    <a:lstStyle/>
                    <a:p>
                      <a:pPr>
                        <a:defRPr sz="1200"/>
                      </a:pPr>
                      <a:r>
                        <a:t>Both</a:t>
                      </a:r>
                    </a:p>
                  </a:txBody>
                  <a:tcPr/>
                </a:tc>
                <a:tc>
                  <a:txBody>
                    <a:bodyPr/>
                    <a:lstStyle/>
                    <a:p>
                      <a:pPr>
                        <a:defRPr sz="1200"/>
                      </a:pPr>
                      <a:r>
                        <a:t>Gradual migration; data sovereignty</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private, and hybrid cloud</a:t>
            </a:r>
          </a:p>
        </p:txBody>
      </p:sp>
      <p:sp>
        <p:nvSpPr>
          <p:cNvPr id="3" name="Content Placeholder 2"/>
          <p:cNvSpPr>
            <a:spLocks noGrp="1"/>
          </p:cNvSpPr>
          <p:nvPr>
            <p:ph idx="1"/>
          </p:nvPr>
        </p:nvSpPr>
        <p:spPr/>
        <p:txBody>
          <a:bodyPr/>
          <a:lstStyle/>
          <a:p>
            <a:pPr>
              <a:defRPr sz="1800"/>
            </a:pPr>
            <a:r>
              <a:t>This bootcamp uses the public cloud (AWS)</a:t>
            </a:r>
          </a:p>
          <a:p>
            <a:pPr>
              <a:defRPr sz="1800"/>
            </a:pPr>
            <a:r>
              <a:t>Hybrid is common in enterprises migrating to the cloud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check: which deployment model?</a:t>
            </a:r>
          </a:p>
        </p:txBody>
      </p:sp>
      <p:sp>
        <p:nvSpPr>
          <p:cNvPr id="3" name="Content Placeholder 2"/>
          <p:cNvSpPr>
            <a:spLocks noGrp="1"/>
          </p:cNvSpPr>
          <p:nvPr>
            <p:ph idx="1"/>
          </p:nvPr>
        </p:nvSpPr>
        <p:spPr/>
        <p:txBody>
          <a:bodyPr/>
          <a:lstStyle/>
          <a:p>
            <a:pPr>
              <a:defRPr sz="1600"/>
            </a:pPr>
            <a:r>
              <a:t>A hospital must keep patient records on-premises due to regulations, but wants to use AWS for its public website and analytics workloads.</a:t>
            </a:r>
          </a:p>
          <a:p>
            <a:pPr>
              <a:defRPr sz="1600"/>
            </a:pPr>
            <a:r>
              <a:t>Which deployment model is this?</a:t>
            </a:r>
          </a:p>
          <a:p>
            <a:pPr>
              <a:defRPr sz="1600"/>
            </a:pPr>
            <a:r>
              <a:t>A) Public cloud</a:t>
            </a:r>
          </a:p>
          <a:p>
            <a:pPr>
              <a:defRPr sz="1600"/>
            </a:pPr>
            <a:r>
              <a:t>B) Private cloud</a:t>
            </a:r>
          </a:p>
          <a:p>
            <a:pPr>
              <a:defRPr sz="1600"/>
            </a:pPr>
            <a:r>
              <a:t>C) Hybrid cloud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AWS?</a:t>
            </a:r>
          </a:p>
        </p:txBody>
      </p:sp>
      <p:sp>
        <p:nvSpPr>
          <p:cNvPr id="3" name="Text Placeholder 2"/>
          <p:cNvSpPr>
            <a:spLocks noGrp="1"/>
          </p:cNvSpPr>
          <p:nvPr>
            <p:ph type="body" idx="1"/>
          </p:nvPr>
        </p:nvSpPr>
        <p:spPr/>
        <p:txBody>
          <a:bodyPr/>
          <a:lstStyle/>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AWS by the numbers</a:t>
            </a:r>
          </a:p>
        </p:txBody>
      </p:sp>
      <p:sp>
        <p:nvSpPr>
          <p:cNvPr id="3" name="Content Placeholder 2"/>
          <p:cNvSpPr>
            <a:spLocks noGrp="1"/>
          </p:cNvSpPr>
          <p:nvPr>
            <p:ph idx="1"/>
          </p:nvPr>
        </p:nvSpPr>
        <p:spPr/>
        <p:txBody>
          <a:bodyPr/>
          <a:lstStyle/>
          <a:p>
            <a:pPr>
              <a:defRPr sz="1800"/>
            </a:pPr>
            <a:r>
              <a:t>200+ fully featured services</a:t>
            </a:r>
          </a:p>
          <a:p>
            <a:pPr>
              <a:defRPr sz="1800"/>
            </a:pPr>
            <a:r>
              <a:t>30+ geographic Regions worldwide</a:t>
            </a:r>
          </a:p>
          <a:p>
            <a:pPr>
              <a:defRPr sz="1800"/>
            </a:pPr>
            <a:r>
              <a:t>Millions of active customers</a:t>
            </a:r>
          </a:p>
          <a:p>
            <a:pPr>
              <a:defRPr sz="1800"/>
            </a:pPr>
            <a:r>
              <a:t>Largest cloud provider by market share</a:t>
            </a:r>
          </a:p>
          <a:p>
            <a:pPr>
              <a:defRPr sz="1800"/>
            </a:pPr>
            <a:r>
              <a:t>Extensive free tier for learning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AWS global infrastructure</a:t>
            </a:r>
          </a:p>
        </p:txBody>
      </p:sp>
      <p:sp>
        <p:nvSpPr>
          <p:cNvPr id="4" name="Rounded Rectangle 3"/>
          <p:cNvSpPr/>
          <p:nvPr/>
        </p:nvSpPr>
        <p:spPr>
          <a:xfrm>
            <a:off x="457200" y="1097280"/>
            <a:ext cx="8229600" cy="45720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DD6F4"/>
                </a:solidFill>
                <a:latin typeface="Courier New"/>
              </a:defRPr>
            </a:pPr>
            <a:r>
              <a:t>AWS Global Infrastructure</a:t>
            </a:r>
            <a:br/>
            <a:r>
              <a:t>    |</a:t>
            </a:r>
            <a:br/>
            <a:r>
              <a:t>    ├── Region (e.g., us-east-1: N. Virginia)</a:t>
            </a:r>
            <a:br/>
            <a:r>
              <a:t>    |   ├── Availability Zone (us-east-1a)</a:t>
            </a:r>
            <a:br/>
            <a:r>
              <a:t>    |   ├── Availability Zone (us-east-1b)</a:t>
            </a:r>
            <a:br/>
            <a:r>
              <a:t>    |   └── Availability Zone (us-east-1c)</a:t>
            </a:r>
            <a:br/>
            <a:r>
              <a:t>    |</a:t>
            </a:r>
            <a:br/>
            <a:r>
              <a:t>    ├── Region (e.g., eu-west-1: Ireland)</a:t>
            </a:r>
            <a:br/>
            <a:r>
              <a:t>    |   ├── AZ (eu-west-1a)</a:t>
            </a:r>
            <a:br/>
            <a:r>
              <a:t>    |   ├── AZ (eu-west-1b)</a:t>
            </a:r>
            <a:br/>
            <a:r>
              <a:t>    |   └── AZ (eu-west-1c)</a:t>
            </a:r>
            <a:br/>
            <a:r>
              <a:t>    |</a:t>
            </a:r>
            <a:br/>
            <a:r>
              <a:t>    └── Edge Locations (400+ worldwide)</a:t>
            </a:r>
            <a:br/>
            <a:r>
              <a:t>        └── Cache content close to users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Regions, AZs, and edge locations</a:t>
            </a:r>
          </a:p>
        </p:txBody>
      </p:sp>
      <p:graphicFrame>
        <p:nvGraphicFramePr>
          <p:cNvPr id="4" name="Table 3"/>
          <p:cNvGraphicFramePr>
            <a:graphicFrameLocks noGrp="1"/>
          </p:cNvGraphicFramePr>
          <p:nvPr/>
        </p:nvGraphicFramePr>
        <p:xfrm>
          <a:off x="457200" y="1097280"/>
          <a:ext cx="8229600" cy="109728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Component</a:t>
                      </a:r>
                    </a:p>
                  </a:txBody>
                  <a:tcPr>
                    <a:solidFill>
                      <a:srgbClr val="232F3E"/>
                    </a:solidFill>
                  </a:tcPr>
                </a:tc>
                <a:tc>
                  <a:txBody>
                    <a:bodyPr/>
                    <a:lstStyle/>
                    <a:p>
                      <a:pPr>
                        <a:defRPr sz="1400" b="1">
                          <a:solidFill>
                            <a:srgbClr val="FFFFFF"/>
                          </a:solidFill>
                        </a:defRPr>
                      </a:pPr>
                      <a:r>
                        <a:t>What It Is</a:t>
                      </a:r>
                    </a:p>
                  </a:txBody>
                  <a:tcPr>
                    <a:solidFill>
                      <a:srgbClr val="232F3E"/>
                    </a:solidFill>
                  </a:tcPr>
                </a:tc>
                <a:tc>
                  <a:txBody>
                    <a:bodyPr/>
                    <a:lstStyle/>
                    <a:p>
                      <a:pPr>
                        <a:defRPr sz="1400" b="1">
                          <a:solidFill>
                            <a:srgbClr val="FFFFFF"/>
                          </a:solidFill>
                        </a:defRPr>
                      </a:pPr>
                      <a:r>
                        <a:t>Why It Matters</a:t>
                      </a:r>
                    </a:p>
                  </a:txBody>
                  <a:tcPr>
                    <a:solidFill>
                      <a:srgbClr val="232F3E"/>
                    </a:solidFill>
                  </a:tcPr>
                </a:tc>
              </a:tr>
              <a:tr h="365760">
                <a:tc>
                  <a:txBody>
                    <a:bodyPr/>
                    <a:lstStyle/>
                    <a:p>
                      <a:pPr>
                        <a:defRPr sz="1200"/>
                      </a:pPr>
                      <a:r>
                        <a:t>**Availability Zone**</a:t>
                      </a:r>
                    </a:p>
                  </a:txBody>
                  <a:tcPr>
                    <a:solidFill>
                      <a:srgbClr val="F2F3F4"/>
                    </a:solidFill>
                  </a:tcPr>
                </a:tc>
                <a:tc>
                  <a:txBody>
                    <a:bodyPr/>
                    <a:lstStyle/>
                    <a:p>
                      <a:pPr>
                        <a:defRPr sz="1200"/>
                      </a:pPr>
                      <a:r>
                        <a:t>One or more data centers</a:t>
                      </a:r>
                    </a:p>
                  </a:txBody>
                  <a:tcPr>
                    <a:solidFill>
                      <a:srgbClr val="F2F3F4"/>
                    </a:solidFill>
                  </a:tcPr>
                </a:tc>
                <a:tc>
                  <a:txBody>
                    <a:bodyPr/>
                    <a:lstStyle/>
                    <a:p>
                      <a:pPr>
                        <a:defRPr sz="1200"/>
                      </a:pPr>
                      <a:r>
                        <a:t>Fault isolation, high availability</a:t>
                      </a:r>
                    </a:p>
                  </a:txBody>
                  <a:tcPr>
                    <a:solidFill>
                      <a:srgbClr val="F2F3F4"/>
                    </a:solidFill>
                  </a:tcPr>
                </a:tc>
              </a:tr>
              <a:tr h="365760">
                <a:tc>
                  <a:txBody>
                    <a:bodyPr/>
                    <a:lstStyle/>
                    <a:p>
                      <a:pPr>
                        <a:defRPr sz="1200"/>
                      </a:pPr>
                      <a:r>
                        <a:t>**Edge location**</a:t>
                      </a:r>
                    </a:p>
                  </a:txBody>
                  <a:tcPr/>
                </a:tc>
                <a:tc>
                  <a:txBody>
                    <a:bodyPr/>
                    <a:lstStyle/>
                    <a:p>
                      <a:pPr>
                        <a:defRPr sz="1200"/>
                      </a:pPr>
                      <a:r>
                        <a:t>CDN cache point</a:t>
                      </a:r>
                    </a:p>
                  </a:txBody>
                  <a:tcPr/>
                </a:tc>
                <a:tc>
                  <a:txBody>
                    <a:bodyPr/>
                    <a:lstStyle/>
                    <a:p>
                      <a:pPr>
                        <a:defRPr sz="1200"/>
                      </a:pPr>
                      <a:r>
                        <a:t>Low-latency content delivery</a:t>
                      </a:r>
                    </a:p>
                  </a:txBody>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Regions, AZs, and edge locations</a:t>
            </a:r>
          </a:p>
        </p:txBody>
      </p:sp>
      <p:sp>
        <p:nvSpPr>
          <p:cNvPr id="3" name="Content Placeholder 2"/>
          <p:cNvSpPr>
            <a:spLocks noGrp="1"/>
          </p:cNvSpPr>
          <p:nvPr>
            <p:ph idx="1"/>
          </p:nvPr>
        </p:nvSpPr>
        <p:spPr/>
        <p:txBody>
          <a:bodyPr/>
          <a:lstStyle/>
          <a:p>
            <a:pPr>
              <a:defRPr sz="1400" i="1">
                <a:solidFill>
                  <a:srgbClr val="555555"/>
                </a:solidFill>
              </a:defRPr>
            </a:pPr>
            <a:r>
              <a:t>All bootcamp labs use `us-east-1` (N. Virginia).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choose a Region</a:t>
            </a:r>
          </a:p>
        </p:txBody>
      </p:sp>
      <p:sp>
        <p:nvSpPr>
          <p:cNvPr id="3" name="Content Placeholder 2"/>
          <p:cNvSpPr>
            <a:spLocks noGrp="1"/>
          </p:cNvSpPr>
          <p:nvPr>
            <p:ph idx="1"/>
          </p:nvPr>
        </p:nvSpPr>
        <p:spPr/>
        <p:txBody>
          <a:bodyPr/>
          <a:lstStyle/>
          <a:p>
            <a:pPr>
              <a:defRPr sz="1600"/>
            </a:pPr>
            <a:r>
              <a:t>Four factors to consider:</a:t>
            </a:r>
          </a:p>
          <a:p>
            <a:pPr>
              <a:defRPr sz="1800"/>
            </a:pPr>
            <a:r>
              <a:t>Compliance: Does regulation require data in a specific country?</a:t>
            </a:r>
          </a:p>
          <a:p>
            <a:pPr>
              <a:defRPr sz="1800"/>
            </a:pPr>
            <a:r>
              <a:t>Latency: Which Region is closest to your users?</a:t>
            </a:r>
          </a:p>
          <a:p>
            <a:pPr>
              <a:defRPr sz="1800"/>
            </a:pPr>
            <a:r>
              <a:t>Service availability: Not all services are in all Regions</a:t>
            </a:r>
          </a:p>
          <a:p>
            <a:pPr>
              <a:defRPr sz="1800"/>
            </a:pPr>
            <a:r>
              <a:t>Cost: Pricing varies by Region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Region selection</a:t>
            </a:r>
          </a:p>
        </p:txBody>
      </p:sp>
      <p:sp>
        <p:nvSpPr>
          <p:cNvPr id="3" name="Content Placeholder 2"/>
          <p:cNvSpPr>
            <a:spLocks noGrp="1"/>
          </p:cNvSpPr>
          <p:nvPr>
            <p:ph idx="1"/>
          </p:nvPr>
        </p:nvSpPr>
        <p:spPr/>
        <p:txBody>
          <a:bodyPr/>
          <a:lstStyle/>
          <a:p>
            <a:pPr>
              <a:defRPr sz="1600"/>
            </a:pPr>
            <a:r>
              <a:t>Your company is based in Germany and must comply with GDPR, which requires customer data to stay in the EU. Your primary users are in Europe, but you also have users in the US.</a:t>
            </a:r>
          </a:p>
          <a:p>
            <a:pPr>
              <a:defRPr sz="1600"/>
            </a:pPr>
            <a:r>
              <a:t>Which Region(s) would you choose,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Responsibility Model</a:t>
            </a:r>
          </a:p>
        </p:txBody>
      </p:sp>
      <p:sp>
        <p:nvSpPr>
          <p:cNvPr id="3" name="Text Placeholder 2"/>
          <p:cNvSpPr>
            <a:spLocks noGrp="1"/>
          </p:cNvSpPr>
          <p:nvPr>
            <p:ph type="body" idx="1"/>
          </p:nvPr>
        </p:nvSpPr>
        <p:spPr/>
        <p:txBody>
          <a:bodyPr/>
          <a:lstStyle/>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AWS responsibilities vs. your responsibilities</a:t>
            </a:r>
          </a:p>
        </p:txBody>
      </p:sp>
      <p:graphicFrame>
        <p:nvGraphicFramePr>
          <p:cNvPr id="4" name="Table 3"/>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4114800"/>
                <a:gridCol w="4114800"/>
              </a:tblGrid>
              <a:tr h="365760">
                <a:tc>
                  <a:txBody>
                    <a:bodyPr/>
                    <a:lstStyle/>
                    <a:p>
                      <a:pPr>
                        <a:defRPr sz="1400" b="1">
                          <a:solidFill>
                            <a:srgbClr val="FFFFFF"/>
                          </a:solidFill>
                        </a:defRPr>
                      </a:pPr>
                      <a:r>
                        <a:t>AWS Manages ("Security OF the Cloud")</a:t>
                      </a:r>
                    </a:p>
                  </a:txBody>
                  <a:tcPr>
                    <a:solidFill>
                      <a:srgbClr val="232F3E"/>
                    </a:solidFill>
                  </a:tcPr>
                </a:tc>
                <a:tc>
                  <a:txBody>
                    <a:bodyPr/>
                    <a:lstStyle/>
                    <a:p>
                      <a:pPr>
                        <a:defRPr sz="1400" b="1">
                          <a:solidFill>
                            <a:srgbClr val="FFFFFF"/>
                          </a:solidFill>
                        </a:defRPr>
                      </a:pPr>
                      <a:r>
                        <a:t>You Manage ("Security IN the Cloud")</a:t>
                      </a:r>
                    </a:p>
                  </a:txBody>
                  <a:tcPr>
                    <a:solidFill>
                      <a:srgbClr val="232F3E"/>
                    </a:solidFill>
                  </a:tcPr>
                </a:tc>
              </a:tr>
              <a:tr h="365760">
                <a:tc>
                  <a:txBody>
                    <a:bodyPr/>
                    <a:lstStyle/>
                    <a:p>
                      <a:pPr>
                        <a:defRPr sz="1200"/>
                      </a:pPr>
                      <a:r>
                        <a:t>Hardware and networking</a:t>
                      </a:r>
                    </a:p>
                  </a:txBody>
                  <a:tcPr>
                    <a:solidFill>
                      <a:srgbClr val="F2F3F4"/>
                    </a:solidFill>
                  </a:tcPr>
                </a:tc>
                <a:tc>
                  <a:txBody>
                    <a:bodyPr/>
                    <a:lstStyle/>
                    <a:p>
                      <a:pPr>
                        <a:defRPr sz="1200"/>
                      </a:pPr>
                      <a:r>
                        <a:t>IAM users, roles, and policies</a:t>
                      </a:r>
                    </a:p>
                  </a:txBody>
                  <a:tcPr>
                    <a:solidFill>
                      <a:srgbClr val="F2F3F4"/>
                    </a:solidFill>
                  </a:tcPr>
                </a:tc>
              </a:tr>
              <a:tr h="365760">
                <a:tc>
                  <a:txBody>
                    <a:bodyPr/>
                    <a:lstStyle/>
                    <a:p>
                      <a:pPr>
                        <a:defRPr sz="1200"/>
                      </a:pPr>
                      <a:r>
                        <a:t>Hypervisor and host OS</a:t>
                      </a:r>
                    </a:p>
                  </a:txBody>
                  <a:tcPr/>
                </a:tc>
                <a:tc>
                  <a:txBody>
                    <a:bodyPr/>
                    <a:lstStyle/>
                    <a:p>
                      <a:pPr>
                        <a:defRPr sz="1200"/>
                      </a:pPr>
                      <a:r>
                        <a:t>Operating system patches (EC2)</a:t>
                      </a:r>
                    </a:p>
                  </a:txBody>
                  <a:tcPr/>
                </a:tc>
              </a:tr>
              <a:tr h="365760">
                <a:tc>
                  <a:txBody>
                    <a:bodyPr/>
                    <a:lstStyle/>
                    <a:p>
                      <a:pPr>
                        <a:defRPr sz="1200"/>
                      </a:pPr>
                      <a:r>
                        <a:t>Managed service infrastructure</a:t>
                      </a:r>
                    </a:p>
                  </a:txBody>
                  <a:tcPr>
                    <a:solidFill>
                      <a:srgbClr val="F2F3F4"/>
                    </a:solidFill>
                  </a:tcPr>
                </a:tc>
                <a:tc>
                  <a:txBody>
                    <a:bodyPr/>
                    <a:lstStyle/>
                    <a:p>
                      <a:pPr>
                        <a:defRPr sz="1200"/>
                      </a:pPr>
                      <a:r>
                        <a:t>Security group and firewall rules</a:t>
                      </a:r>
                    </a:p>
                  </a:txBody>
                  <a:tcPr>
                    <a:solidFill>
                      <a:srgbClr val="F2F3F4"/>
                    </a:solidFill>
                  </a:tcPr>
                </a:tc>
              </a:tr>
              <a:tr h="365760">
                <a:tc>
                  <a:txBody>
                    <a:bodyPr/>
                    <a:lstStyle/>
                    <a:p>
                      <a:pPr>
                        <a:defRPr sz="1200"/>
                      </a:pPr>
                      <a:r>
                        <a:t>Global infrastructure</a:t>
                      </a:r>
                    </a:p>
                  </a:txBody>
                  <a:tcPr/>
                </a:tc>
                <a:tc>
                  <a:txBody>
                    <a:bodyPr/>
                    <a:lstStyle/>
                    <a:p>
                      <a:pPr>
                        <a:defRPr sz="1200"/>
                      </a:pPr>
                      <a:r>
                        <a:t>Application code and configuration</a:t>
                      </a:r>
                    </a:p>
                  </a:txBody>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182880"/>
            <a:ext cx="8229600" cy="731520"/>
          </a:xfrm>
          <a:prstGeom prst="rect">
            <a:avLst/>
          </a:prstGeom>
          <a:noFill/>
        </p:spPr>
        <p:txBody>
          <a:bodyPr wrap="none">
            <a:spAutoFit/>
          </a:bodyPr>
          <a:lstStyle/>
          <a:p>
            <a:pPr>
              <a:defRPr sz="2800" b="1"/>
            </a:pPr>
            <a:r>
              <a:t>Shared responsibility varies by service</a:t>
            </a:r>
          </a:p>
        </p:txBody>
      </p:sp>
      <p:graphicFrame>
        <p:nvGraphicFramePr>
          <p:cNvPr id="4" name="Table 3"/>
          <p:cNvGraphicFramePr>
            <a:graphicFrameLocks noGrp="1"/>
          </p:cNvGraphicFramePr>
          <p:nvPr/>
        </p:nvGraphicFramePr>
        <p:xfrm>
          <a:off x="457200" y="1097280"/>
          <a:ext cx="8229600" cy="1097280"/>
        </p:xfrm>
        <a:graphic>
          <a:graphicData uri="http://schemas.openxmlformats.org/drawingml/2006/table">
            <a:tbl>
              <a:tblPr firstRow="1" bandRow="1">
                <a:tableStyleId>{5C22544A-7EE6-4342-B048-85BDC9FD1C3A}</a:tableStyleId>
              </a:tblPr>
              <a:tblGrid>
                <a:gridCol w="2743200"/>
                <a:gridCol w="2743200"/>
                <a:gridCol w="2743200"/>
              </a:tblGrid>
              <a:tr h="365760">
                <a:tc>
                  <a:txBody>
                    <a:bodyPr/>
                    <a:lstStyle/>
                    <a:p>
                      <a:pPr>
                        <a:defRPr sz="1400" b="1">
                          <a:solidFill>
                            <a:srgbClr val="FFFFFF"/>
                          </a:solidFill>
                        </a:defRPr>
                      </a:pPr>
                      <a:r>
                        <a:t>Service Type</a:t>
                      </a:r>
                    </a:p>
                  </a:txBody>
                  <a:tcPr>
                    <a:solidFill>
                      <a:srgbClr val="232F3E"/>
                    </a:solidFill>
                  </a:tcPr>
                </a:tc>
                <a:tc>
                  <a:txBody>
                    <a:bodyPr/>
                    <a:lstStyle/>
                    <a:p>
                      <a:pPr>
                        <a:defRPr sz="1400" b="1">
                          <a:solidFill>
                            <a:srgbClr val="FFFFFF"/>
                          </a:solidFill>
                        </a:defRPr>
                      </a:pPr>
                      <a:r>
                        <a:t>AWS Manages</a:t>
                      </a:r>
                    </a:p>
                  </a:txBody>
                  <a:tcPr>
                    <a:solidFill>
                      <a:srgbClr val="232F3E"/>
                    </a:solidFill>
                  </a:tcPr>
                </a:tc>
                <a:tc>
                  <a:txBody>
                    <a:bodyPr/>
                    <a:lstStyle/>
                    <a:p>
                      <a:pPr>
                        <a:defRPr sz="1400" b="1">
                          <a:solidFill>
                            <a:srgbClr val="FFFFFF"/>
                          </a:solidFill>
                        </a:defRPr>
                      </a:pPr>
                      <a:r>
                        <a:t>You Manage</a:t>
                      </a:r>
                    </a:p>
                  </a:txBody>
                  <a:tcPr>
                    <a:solidFill>
                      <a:srgbClr val="232F3E"/>
                    </a:solidFill>
                  </a:tcPr>
                </a:tc>
              </a:tr>
              <a:tr h="365760">
                <a:tc>
                  <a:txBody>
                    <a:bodyPr/>
                    <a:lstStyle/>
                    <a:p>
                      <a:pPr>
                        <a:defRPr sz="1200"/>
                      </a:pPr>
                      <a:r>
                        <a:t>**Managed (RDS)**</a:t>
                      </a:r>
                    </a:p>
                  </a:txBody>
                  <a:tcPr>
                    <a:solidFill>
                      <a:srgbClr val="F2F3F4"/>
                    </a:solidFill>
                  </a:tcPr>
                </a:tc>
                <a:tc>
                  <a:txBody>
                    <a:bodyPr/>
                    <a:lstStyle/>
                    <a:p>
                      <a:pPr>
                        <a:defRPr sz="1200"/>
                      </a:pPr>
                      <a:r>
                        <a:t>Hardware, OS, patching</a:t>
                      </a:r>
                    </a:p>
                  </a:txBody>
                  <a:tcPr>
                    <a:solidFill>
                      <a:srgbClr val="F2F3F4"/>
                    </a:solidFill>
                  </a:tcPr>
                </a:tc>
                <a:tc>
                  <a:txBody>
                    <a:bodyPr/>
                    <a:lstStyle/>
                    <a:p>
                      <a:pPr>
                        <a:defRPr sz="1200"/>
                      </a:pPr>
                      <a:r>
                        <a:t>Data, access, backups config</a:t>
                      </a:r>
                    </a:p>
                  </a:txBody>
                  <a:tcPr>
                    <a:solidFill>
                      <a:srgbClr val="F2F3F4"/>
                    </a:solidFill>
                  </a:tcPr>
                </a:tc>
              </a:tr>
              <a:tr h="365760">
                <a:tc>
                  <a:txBody>
                    <a:bodyPr/>
                    <a:lstStyle/>
                    <a:p>
                      <a:pPr>
                        <a:defRPr sz="1200"/>
                      </a:pPr>
                      <a:r>
                        <a:t>**Serverless (Lambda)**</a:t>
                      </a:r>
                    </a:p>
                  </a:txBody>
                  <a:tcPr/>
                </a:tc>
                <a:tc>
                  <a:txBody>
                    <a:bodyPr/>
                    <a:lstStyle/>
                    <a:p>
                      <a:pPr>
                        <a:defRPr sz="1200"/>
                      </a:pPr>
                      <a:r>
                        <a:t>Everything below your code</a:t>
                      </a:r>
                    </a:p>
                  </a:txBody>
                  <a:tcPr/>
                </a:tc>
                <a:tc>
                  <a:txBody>
                    <a:bodyPr/>
                    <a:lstStyle/>
                    <a:p>
                      <a:pPr>
                        <a:defRPr sz="1200"/>
                      </a:pPr>
                      <a:r>
                        <a:t>Function code, IAM role</a:t>
                      </a:r>
                    </a:p>
                  </a:txBody>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responsibility varies by service</a:t>
            </a:r>
          </a:p>
        </p:txBody>
      </p:sp>
      <p:sp>
        <p:nvSpPr>
          <p:cNvPr id="3" name="Content Placeholder 2"/>
          <p:cNvSpPr>
            <a:spLocks noGrp="1"/>
          </p:cNvSpPr>
          <p:nvPr>
            <p:ph idx="1"/>
          </p:nvPr>
        </p:nvSpPr>
        <p:spPr/>
        <p:txBody>
          <a:bodyPr/>
          <a:lstStyle/>
          <a:p>
            <a:pPr>
              <a:defRPr sz="1400" i="1">
                <a:solidFill>
                  <a:srgbClr val="555555"/>
                </a:solidFill>
              </a:defRPr>
            </a:pPr>
            <a:r>
              <a:t>The more managed the service, the less you are responsible for.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check: who is responsible?</a:t>
            </a:r>
          </a:p>
        </p:txBody>
      </p:sp>
      <p:sp>
        <p:nvSpPr>
          <p:cNvPr id="3" name="Content Placeholder 2"/>
          <p:cNvSpPr>
            <a:spLocks noGrp="1"/>
          </p:cNvSpPr>
          <p:nvPr>
            <p:ph idx="1"/>
          </p:nvPr>
        </p:nvSpPr>
        <p:spPr/>
        <p:txBody>
          <a:bodyPr/>
          <a:lstStyle/>
          <a:p>
            <a:pPr>
              <a:defRPr sz="1600"/>
            </a:pPr>
            <a:r>
              <a:t>For each item, answer: AWS or Customer?</a:t>
            </a:r>
          </a:p>
          <a:p>
            <a:pPr>
              <a:defRPr sz="1800"/>
            </a:pPr>
            <a:r>
              <a:t>Patching the OS on an EC2 instance</a:t>
            </a:r>
          </a:p>
          <a:p>
            <a:pPr>
              <a:defRPr sz="1800"/>
            </a:pPr>
            <a:r>
              <a:t>Physical security of the data center</a:t>
            </a:r>
          </a:p>
          <a:p>
            <a:pPr>
              <a:defRPr sz="1800"/>
            </a:pPr>
            <a:r>
              <a:t>Configuring security group rules</a:t>
            </a:r>
          </a:p>
          <a:p>
            <a:pPr>
              <a:defRPr sz="1800"/>
            </a:pPr>
            <a:r>
              <a:t>Replacing a failed hard drive</a:t>
            </a:r>
          </a:p>
          <a:p>
            <a:pPr>
              <a:defRPr sz="1800"/>
            </a:pPr>
            <a:r>
              <a:t>Encrypting data stored in S3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Instructor notes</a:t>
            </a:r>
          </a:p>
        </p:txBody>
      </p:sp>
      <p:sp>
        <p:nvSpPr>
          <p:cNvPr id="3" name="Content Placeholder 2"/>
          <p:cNvSpPr>
            <a:spLocks noGrp="1"/>
          </p:cNvSpPr>
          <p:nvPr>
            <p:ph idx="1"/>
          </p:nvPr>
        </p:nvSpPr>
        <p:spPr/>
        <p:txBody>
          <a:bodyPr/>
          <a:lstStyle/>
          <a:p>
            <a:pPr>
              <a:defRPr sz="1600"/>
            </a:pPr>
            <a:r>
              <a:t>Common student questions:</a:t>
            </a:r>
          </a:p>
          <a:p>
            <a:pPr>
              <a:defRPr sz="1800"/>
            </a:pPr>
            <a:r>
              <a:t>"Is the cloud just someone else's computer?" (Technically yes, but with elasticity, global reach, and managed services that your own servers cannot match)</a:t>
            </a:r>
          </a:p>
          <a:p>
            <a:pPr>
              <a:defRPr sz="1800"/>
            </a:pPr>
            <a:r>
              <a:t>"Is cloud computing always cheaper?" (Not always; poorly managed cloud resources can cost more than on-premises)</a:t>
            </a:r>
          </a:p>
          <a:p>
            <a:pPr>
              <a:defRPr sz="1800"/>
            </a:pPr>
            <a:r>
              <a:t>"What happens if AWS goes down?" (AZs provide fault isolation; multi-AZ and multi-Region designs provide resilience)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pPr>
              <a:defRPr sz="1800"/>
            </a:pPr>
            <a:r>
              <a:t>Cloud computing is the on-demand delivery of IT resources over the internet with pay-as-you-go pricing, shifting spending from CapEx to OpEx</a:t>
            </a:r>
          </a:p>
          <a:p>
            <a:pPr>
              <a:defRPr sz="1800"/>
            </a:pPr>
            <a:r>
              <a:t>AWS global infrastructure is organized into Regions (geographic areas), Availability Zones (isolated data centers), and edge locations (CDN cache points)</a:t>
            </a:r>
          </a:p>
          <a:p>
            <a:pPr>
              <a:defRPr sz="1800"/>
            </a:pPr>
            <a:r>
              <a:t>The Shared Responsibility Model divides security: AWS secures the cloud infrastructure; you secure your data, access, and configurations within the cloud</a:t>
            </a:r>
          </a:p>
          <a:p>
            <a:pPr>
              <a:defRPr sz="1800"/>
            </a:pPr>
            <a:r>
              <a:t>Choose your AWS Region based on compliance, latency, service availability, and cost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preview: AWS account setup and console tour</a:t>
            </a:r>
          </a:p>
        </p:txBody>
      </p:sp>
      <p:sp>
        <p:nvSpPr>
          <p:cNvPr id="3" name="Content Placeholder 2"/>
          <p:cNvSpPr>
            <a:spLocks noGrp="1"/>
          </p:cNvSpPr>
          <p:nvPr>
            <p:ph idx="1"/>
          </p:nvPr>
        </p:nvSpPr>
        <p:spPr/>
        <p:txBody>
          <a:bodyPr/>
          <a:lstStyle/>
          <a:p>
            <a:pPr>
              <a:defRPr sz="1600"/>
            </a:pPr>
            <a:r>
              <a:t>What you will do:</a:t>
            </a:r>
          </a:p>
          <a:p>
            <a:pPr>
              <a:defRPr sz="1800"/>
            </a:pPr>
            <a:r>
              <a:t>Create and secure an AWS account with MFA</a:t>
            </a:r>
          </a:p>
          <a:p>
            <a:pPr>
              <a:defRPr sz="1800"/>
            </a:pPr>
            <a:r>
              <a:t>Create an IAM administrative user</a:t>
            </a:r>
          </a:p>
          <a:p>
            <a:pPr>
              <a:defRPr sz="1800"/>
            </a:pPr>
            <a:r>
              <a:t>Navigate the AWS Management Console</a:t>
            </a:r>
          </a:p>
          <a:p>
            <a:pPr>
              <a:defRPr sz="1800"/>
            </a:pPr>
            <a:r>
              <a:t>Set up a zero-spend budget alert</a:t>
            </a:r>
          </a:p>
          <a:p>
            <a:pPr>
              <a:defRPr sz="1600"/>
            </a:pPr>
            <a:r>
              <a:t>Duration: 45 minutes</a:t>
            </a:r>
          </a:p>
          <a:p>
            <a:pPr>
              <a:defRPr sz="1600"/>
            </a:pPr>
            <a:r>
              <a:t>Region: us-east-1 (N. Virginia)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a:t>
            </a:r>
          </a:p>
        </p:txBody>
      </p:sp>
      <p:sp>
        <p:nvSpPr>
          <p:cNvPr id="3" name="Content Placeholder 2"/>
          <p:cNvSpPr>
            <a:spLocks noGrp="1"/>
          </p:cNvSpPr>
          <p:nvPr>
            <p:ph idx="1"/>
          </p:nvPr>
        </p:nvSpPr>
        <p:spPr/>
        <p:txBody>
          <a:bodyPr/>
          <a:lstStyle/>
          <a:p>
            <a:pPr>
              <a:defRPr sz="1600"/>
            </a:pPr>
            <a:r>
              <a:t>Review `modules/01-cloud-fundamentals/resources.md` for further reading.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