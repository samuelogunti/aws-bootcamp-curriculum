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10. This module covers containers, Docker, ECR, and ECS. Breakdown: 10 min containers 101, 10 min Docker basics, 10 min Amazon ECR, 15 min ECS concepts, 10 min task definitions, 10 min Fargate vs EC2, 10 min services and deployments, 10 min ECS vs EKS vs Lambda, 5 min security.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Connect to Module 04's EC2 concepts. Draw an EC2 instance with multiple containers sharing the OS kernel.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Walk through the Dockerfile structure and build workflow.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Cover pushing images and lifecycle policies.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Use the factory analogy: cluster is the factory, task definition is the blueprint, service is the production line, tasks are the products.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The ECS service scheduler detects the stopped task and automatically launches a replacement to maintain the desired count of 3. If an ALB health check is configured, the load balancer stops sending traffic to the failed task. This self-healing behavior is one of the key benefits of using ECS services over running standalone tasks.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Walk through the JSON fields and connect to IAM roles from Module 02.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Present scenarios and ask students to choose.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Scenario A is Fargate (minimize ops burden, small team should focus on application code, not managing EC2 instances). Scenario B is EC2 launch type (Fargate does not support GPU instances; they need P or G family instances). This reinforces that the choice depends on specific requirements, not a blanket preference.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Cover rolling updates, blue/green, and service auto scaling.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Present the comparison and ask students to choose for specific scenarios.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Lambda. The traffic is very low (100 requests/day) and sporadic, each execution is short (2 seconds), and the workload is event-driven. Running an ECS service 24/7 for 100 requests per day would waste resources. Lambda scales to zero when idle and charges only for the 200 seconds of actual compute per day. This is a textbook Lambda use case.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5 minutes. Quick summary of the key practices.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a Phase 3 lab with semi-guided steps. Students will write a Dockerfile, build and push to ECR, create an ECS cluster, register a task definition, create a service with an ALB, and perform a rolling deployment with a new image version. Steps 1-4 are guided; steps 5-7 let students figure out the implementation. Remind students to delete the ECS service, ALB, and ECR repository after the lab.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involve task execution role vs task role, Fargate vs EC2 cost comparison, and when to use EKS. Transition to the lab when 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10: Containers and Amazon ECS</a:t>
            </a:r>
          </a:p>
        </p:txBody>
      </p:sp>
      <p:sp>
        <p:nvSpPr>
          <p:cNvPr id="3" name="Content Placeholder 2"/>
          <p:cNvSpPr>
            <a:spLocks noGrp="1"/>
          </p:cNvSpPr>
          <p:nvPr>
            <p:ph idx="1"/>
          </p:nvPr>
        </p:nvSpPr>
        <p:spPr/>
        <p:txBody>
          <a:bodyPr/>
          <a:lstStyle/>
          <a:p>
            <a:pPr>
              <a:defRPr sz="1600"/>
            </a:pPr>
            <a:r>
              <a:t>Phase 3: Building Applications</a:t>
            </a:r>
          </a:p>
          <a:p>
            <a:pPr>
              <a:defRPr sz="1600"/>
            </a:pPr>
            <a:r>
              <a:t>Estimated lecture time: 90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Compare containers and virtual machines</a:t>
            </a:r>
          </a:p>
          <a:p>
            <a:pPr>
              <a:defRPr sz="1800"/>
            </a:pPr>
            <a:r>
              <a:t>Build a container image from a Dockerfile</a:t>
            </a:r>
          </a:p>
          <a:p>
            <a:pPr>
              <a:defRPr sz="1800"/>
            </a:pPr>
            <a:r>
              <a:t>Construct a container workflow: build, push to ECR, deploy on ECS</a:t>
            </a:r>
          </a:p>
          <a:p>
            <a:pPr>
              <a:defRPr sz="1800"/>
            </a:pPr>
            <a:r>
              <a:t>Differentiate ECS clusters, task definitions, services, and tasks</a:t>
            </a:r>
          </a:p>
          <a:p>
            <a:pPr>
              <a:defRPr sz="1800"/>
            </a:pPr>
            <a:r>
              <a:t>Compare Fargate and EC2 launch types</a:t>
            </a:r>
          </a:p>
          <a:p>
            <a:pPr>
              <a:defRPr sz="1800"/>
            </a:pPr>
            <a:r>
              <a:t>Integrate an ALB with an ECS service for load balancing</a:t>
            </a:r>
          </a:p>
          <a:p>
            <a:pPr>
              <a:defRPr sz="1800"/>
            </a:pPr>
            <a:r>
              <a:t>Differentiate when to use ECS, EKS, and Lambda</a:t>
            </a:r>
          </a:p>
          <a:p>
            <a:pPr>
              <a:defRPr sz="1800"/>
            </a:pPr>
            <a:r>
              <a:t>Build container images following security best practices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Module 03 (VPC, subnets, security groups), Module 04 (EC2, Auto Scaling), Module 07 (ALB, target groups, health checks)</a:t>
            </a:r>
          </a:p>
          <a:p>
            <a:pPr>
              <a:defRPr sz="1600"/>
            </a:pPr>
            <a:r>
              <a:t>Agenda:</a:t>
            </a:r>
          </a:p>
          <a:p>
            <a:pPr>
              <a:defRPr sz="1800"/>
            </a:pPr>
            <a:r>
              <a:t>Containers 101</a:t>
            </a:r>
          </a:p>
          <a:p>
            <a:pPr>
              <a:defRPr sz="1800"/>
            </a:pPr>
            <a:r>
              <a:t>Docker basics: images, containers, Dockerfiles</a:t>
            </a:r>
          </a:p>
          <a:p>
            <a:pPr>
              <a:defRPr sz="1800"/>
            </a:pPr>
            <a:r>
              <a:t>Amazon ECR: storing container images</a:t>
            </a:r>
          </a:p>
          <a:p>
            <a:pPr>
              <a:defRPr sz="1800"/>
            </a:pPr>
            <a:r>
              <a:t>ECS concepts: clusters, task definitions, services, tasks</a:t>
            </a:r>
          </a:p>
          <a:p>
            <a:pPr>
              <a:defRPr sz="1800"/>
            </a:pPr>
            <a:r>
              <a:t>Task definitions in detail</a:t>
            </a:r>
          </a:p>
          <a:p>
            <a:pPr>
              <a:defRPr sz="1800"/>
            </a:pPr>
            <a:r>
              <a:t>Fargate vs. EC2 launch type</a:t>
            </a:r>
          </a:p>
          <a:p>
            <a:pPr>
              <a:defRPr sz="1800"/>
            </a:pPr>
            <a:r>
              <a:t>Services, deployments, and auto scaling</a:t>
            </a:r>
          </a:p>
          <a:p>
            <a:pPr>
              <a:defRPr sz="1800"/>
            </a:pPr>
            <a:r>
              <a:t>ECS vs. EKS vs. Lambda</a:t>
            </a:r>
          </a:p>
          <a:p>
            <a:pPr>
              <a:defRPr sz="1800"/>
            </a:pPr>
            <a:r>
              <a:t>Container security best practices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Containers 101</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Containers vs. virtual machines</a:t>
            </a:r>
          </a:p>
        </p:txBody>
      </p:sp>
      <p:graphicFrame>
        <p:nvGraphicFramePr>
          <p:cNvPr id="4" name="Table 3"/>
          <p:cNvGraphicFramePr>
            <a:graphicFrameLocks noGrp="1"/>
          </p:cNvGraphicFramePr>
          <p:nvPr/>
        </p:nvGraphicFramePr>
        <p:xfrm>
          <a:off x="457200" y="1097280"/>
          <a:ext cx="8229600" cy="219456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Characteristic</a:t>
                      </a:r>
                    </a:p>
                  </a:txBody>
                  <a:tcPr>
                    <a:solidFill>
                      <a:srgbClr val="232F3E"/>
                    </a:solidFill>
                  </a:tcPr>
                </a:tc>
                <a:tc>
                  <a:txBody>
                    <a:bodyPr/>
                    <a:lstStyle/>
                    <a:p>
                      <a:pPr>
                        <a:defRPr sz="1400" b="1">
                          <a:solidFill>
                            <a:srgbClr val="FFFFFF"/>
                          </a:solidFill>
                        </a:defRPr>
                      </a:pPr>
                      <a:r>
                        <a:t>Containers</a:t>
                      </a:r>
                    </a:p>
                  </a:txBody>
                  <a:tcPr>
                    <a:solidFill>
                      <a:srgbClr val="232F3E"/>
                    </a:solidFill>
                  </a:tcPr>
                </a:tc>
                <a:tc>
                  <a:txBody>
                    <a:bodyPr/>
                    <a:lstStyle/>
                    <a:p>
                      <a:pPr>
                        <a:defRPr sz="1400" b="1">
                          <a:solidFill>
                            <a:srgbClr val="FFFFFF"/>
                          </a:solidFill>
                        </a:defRPr>
                      </a:pPr>
                      <a:r>
                        <a:t>Virtual Machines</a:t>
                      </a:r>
                    </a:p>
                  </a:txBody>
                  <a:tcPr>
                    <a:solidFill>
                      <a:srgbClr val="232F3E"/>
                    </a:solidFill>
                  </a:tcPr>
                </a:tc>
              </a:tr>
              <a:tr h="365760">
                <a:tc>
                  <a:txBody>
                    <a:bodyPr/>
                    <a:lstStyle/>
                    <a:p>
                      <a:pPr>
                        <a:defRPr sz="1200"/>
                      </a:pPr>
                      <a:r>
                        <a:t>Startup time</a:t>
                      </a:r>
                    </a:p>
                  </a:txBody>
                  <a:tcPr>
                    <a:solidFill>
                      <a:srgbClr val="F2F3F4"/>
                    </a:solidFill>
                  </a:tcPr>
                </a:tc>
                <a:tc>
                  <a:txBody>
                    <a:bodyPr/>
                    <a:lstStyle/>
                    <a:p>
                      <a:pPr>
                        <a:defRPr sz="1200"/>
                      </a:pPr>
                      <a:r>
                        <a:t>Seconds</a:t>
                      </a:r>
                    </a:p>
                  </a:txBody>
                  <a:tcPr>
                    <a:solidFill>
                      <a:srgbClr val="F2F3F4"/>
                    </a:solidFill>
                  </a:tcPr>
                </a:tc>
                <a:tc>
                  <a:txBody>
                    <a:bodyPr/>
                    <a:lstStyle/>
                    <a:p>
                      <a:pPr>
                        <a:defRPr sz="1200"/>
                      </a:pPr>
                      <a:r>
                        <a:t>Minutes</a:t>
                      </a:r>
                    </a:p>
                  </a:txBody>
                  <a:tcPr>
                    <a:solidFill>
                      <a:srgbClr val="F2F3F4"/>
                    </a:solidFill>
                  </a:tcPr>
                </a:tc>
              </a:tr>
              <a:tr h="365760">
                <a:tc>
                  <a:txBody>
                    <a:bodyPr/>
                    <a:lstStyle/>
                    <a:p>
                      <a:pPr>
                        <a:defRPr sz="1200"/>
                      </a:pPr>
                      <a:r>
                        <a:t>Image size</a:t>
                      </a:r>
                    </a:p>
                  </a:txBody>
                  <a:tcPr/>
                </a:tc>
                <a:tc>
                  <a:txBody>
                    <a:bodyPr/>
                    <a:lstStyle/>
                    <a:p>
                      <a:pPr>
                        <a:defRPr sz="1200"/>
                      </a:pPr>
                      <a:r>
                        <a:t>Megabytes (50-500 MB)</a:t>
                      </a:r>
                    </a:p>
                  </a:txBody>
                  <a:tcPr/>
                </a:tc>
                <a:tc>
                  <a:txBody>
                    <a:bodyPr/>
                    <a:lstStyle/>
                    <a:p>
                      <a:pPr>
                        <a:defRPr sz="1200"/>
                      </a:pPr>
                      <a:r>
                        <a:t>Gigabytes (1-20 GB)</a:t>
                      </a:r>
                    </a:p>
                  </a:txBody>
                  <a:tcPr/>
                </a:tc>
              </a:tr>
              <a:tr h="365760">
                <a:tc>
                  <a:txBody>
                    <a:bodyPr/>
                    <a:lstStyle/>
                    <a:p>
                      <a:pPr>
                        <a:defRPr sz="1200"/>
                      </a:pPr>
                      <a:r>
                        <a:t>Resource overhead</a:t>
                      </a:r>
                    </a:p>
                  </a:txBody>
                  <a:tcPr>
                    <a:solidFill>
                      <a:srgbClr val="F2F3F4"/>
                    </a:solidFill>
                  </a:tcPr>
                </a:tc>
                <a:tc>
                  <a:txBody>
                    <a:bodyPr/>
                    <a:lstStyle/>
                    <a:p>
                      <a:pPr>
                        <a:defRPr sz="1200"/>
                      </a:pPr>
                      <a:r>
                        <a:t>Low (no guest OS)</a:t>
                      </a:r>
                    </a:p>
                  </a:txBody>
                  <a:tcPr>
                    <a:solidFill>
                      <a:srgbClr val="F2F3F4"/>
                    </a:solidFill>
                  </a:tcPr>
                </a:tc>
                <a:tc>
                  <a:txBody>
                    <a:bodyPr/>
                    <a:lstStyle/>
                    <a:p>
                      <a:pPr>
                        <a:defRPr sz="1200"/>
                      </a:pPr>
                      <a:r>
                        <a:t>High (full guest OS)</a:t>
                      </a:r>
                    </a:p>
                  </a:txBody>
                  <a:tcPr>
                    <a:solidFill>
                      <a:srgbClr val="F2F3F4"/>
                    </a:solidFill>
                  </a:tcPr>
                </a:tc>
              </a:tr>
              <a:tr h="365760">
                <a:tc>
                  <a:txBody>
                    <a:bodyPr/>
                    <a:lstStyle/>
                    <a:p>
                      <a:pPr>
                        <a:defRPr sz="1200"/>
                      </a:pPr>
                      <a:r>
                        <a:t>Density</a:t>
                      </a:r>
                    </a:p>
                  </a:txBody>
                  <a:tcPr/>
                </a:tc>
                <a:tc>
                  <a:txBody>
                    <a:bodyPr/>
                    <a:lstStyle/>
                    <a:p>
                      <a:pPr>
                        <a:defRPr sz="1200"/>
                      </a:pPr>
                      <a:r>
                        <a:t>Hundreds per host</a:t>
                      </a:r>
                    </a:p>
                  </a:txBody>
                  <a:tcPr/>
                </a:tc>
                <a:tc>
                  <a:txBody>
                    <a:bodyPr/>
                    <a:lstStyle/>
                    <a:p>
                      <a:pPr>
                        <a:defRPr sz="1200"/>
                      </a:pPr>
                      <a:r>
                        <a:t>Tens per host</a:t>
                      </a:r>
                    </a:p>
                  </a:txBody>
                  <a:tcPr/>
                </a:tc>
              </a:tr>
              <a:tr h="365760">
                <a:tc>
                  <a:txBody>
                    <a:bodyPr/>
                    <a:lstStyle/>
                    <a:p>
                      <a:pPr>
                        <a:defRPr sz="1200"/>
                      </a:pPr>
                      <a:r>
                        <a:t>Portability</a:t>
                      </a:r>
                    </a:p>
                  </a:txBody>
                  <a:tcPr>
                    <a:solidFill>
                      <a:srgbClr val="F2F3F4"/>
                    </a:solidFill>
                  </a:tcPr>
                </a:tc>
                <a:tc>
                  <a:txBody>
                    <a:bodyPr/>
                    <a:lstStyle/>
                    <a:p>
                      <a:pPr>
                        <a:defRPr sz="1200"/>
                      </a:pPr>
                      <a:r>
                        <a:t>Runs on any container runtime</a:t>
                      </a:r>
                    </a:p>
                  </a:txBody>
                  <a:tcPr>
                    <a:solidFill>
                      <a:srgbClr val="F2F3F4"/>
                    </a:solidFill>
                  </a:tcPr>
                </a:tc>
                <a:tc>
                  <a:txBody>
                    <a:bodyPr/>
                    <a:lstStyle/>
                    <a:p>
                      <a:pPr>
                        <a:defRPr sz="1200"/>
                      </a:pPr>
                      <a:r>
                        <a:t>Tied to hypervisor</a:t>
                      </a:r>
                    </a:p>
                  </a:txBody>
                  <a:tcPr>
                    <a:solidFill>
                      <a:srgbClr val="F2F3F4"/>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Containers vs. virtual machines</a:t>
            </a:r>
          </a:p>
        </p:txBody>
      </p:sp>
      <p:sp>
        <p:nvSpPr>
          <p:cNvPr id="3" name="Content Placeholder 2"/>
          <p:cNvSpPr>
            <a:spLocks noGrp="1"/>
          </p:cNvSpPr>
          <p:nvPr>
            <p:ph idx="1"/>
          </p:nvPr>
        </p:nvSpPr>
        <p:spPr/>
        <p:txBody>
          <a:bodyPr/>
          <a:lstStyle/>
          <a:p>
            <a:pPr>
              <a:defRPr sz="1400" i="1">
                <a:solidFill>
                  <a:srgbClr val="555555"/>
                </a:solidFill>
              </a:defRPr>
            </a:pPr>
            <a:r>
              <a:t>Containers and VMs are not mutually exclusive. In production, containers often run on top of VMs (EC2 instances).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Docker basics</a:t>
            </a:r>
          </a:p>
        </p:txBody>
      </p:sp>
      <p:sp>
        <p:nvSpPr>
          <p:cNvPr id="3" name="Text Placeholder 2"/>
          <p:cNvSpPr>
            <a:spLocks noGrp="1"/>
          </p:cNvSpPr>
          <p:nvPr>
            <p:ph type="body"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Dockerfile example</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FROM node:20-alpine</a:t>
            </a:r>
            <a:br/>
            <a:r>
              <a:t>WORKDIR /app</a:t>
            </a:r>
            <a:br/>
            <a:r>
              <a:t>COPY package.json package-lock.json ./</a:t>
            </a:r>
            <a:br/>
            <a:r>
              <a:t>RUN npm ci --production</a:t>
            </a:r>
            <a:br/>
            <a:r>
              <a:t>COPY . .</a:t>
            </a:r>
            <a:br/>
            <a:r>
              <a:t>RUN addgroup -S appgroup &amp;&amp; adduser -S appuser -G appgroup</a:t>
            </a:r>
            <a:br/>
            <a:r>
              <a:t>USER appuser</a:t>
            </a:r>
            <a:br/>
            <a:r>
              <a:t>EXPOSE 3000</a:t>
            </a:r>
            <a:br/>
            <a:r>
              <a:t>CMD ["node", "server.js"]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Verify</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docker build -t my-web-app:1.0 .</a:t>
            </a:r>
            <a:br/>
            <a:br/>
            <a:r>
              <a:t>docker run -d -p 8080:3000 my-web-app:1.0</a:t>
            </a:r>
            <a:br/>
            <a:br/>
            <a:r>
              <a:t>docker 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ECR</a:t>
            </a:r>
          </a:p>
        </p:txBody>
      </p:sp>
      <p:sp>
        <p:nvSpPr>
          <p:cNvPr id="3" name="Text Placeholder 2"/>
          <p:cNvSpPr>
            <a:spLocks noGrp="1"/>
          </p:cNvSpPr>
          <p:nvPr>
            <p:ph type="body"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Push image</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aws ecr get-login-password --region us-east-1 | \</a:t>
            </a:r>
            <a:br/>
            <a:r>
              <a:t>  docker login --username AWS --password-stdin \</a:t>
            </a:r>
            <a:br/>
            <a:r>
              <a:t>  123456789012.dkr.ecr.us-east-1.amazonaws.com</a:t>
            </a:r>
            <a:br/>
            <a:br/>
            <a:r>
              <a:t>docker push 123456789012.dkr.ecr.us-east-1.amazonaws.com/my-web-app:1.0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ECS concepts</a:t>
            </a:r>
          </a:p>
        </p:txBody>
      </p:sp>
      <p:sp>
        <p:nvSpPr>
          <p:cNvPr id="3" name="Text Placeholder 2"/>
          <p:cNvSpPr>
            <a:spLocks noGrp="1"/>
          </p:cNvSpPr>
          <p:nvPr>
            <p:ph type="body"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ECS component hierarchy</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Cluster</a:t>
            </a:r>
            <a:br/>
            <a:r>
              <a:t>├── Service A (desired count: 3)</a:t>
            </a:r>
            <a:br/>
            <a:r>
              <a:t>│   ├── Task 1 (task definition rev 5)</a:t>
            </a:r>
            <a:br/>
            <a:r>
              <a:t>│   ├── Task 2 (task definition rev 5)</a:t>
            </a:r>
            <a:br/>
            <a:r>
              <a:t>│   └── Task 3 (task definition rev 5)</a:t>
            </a:r>
            <a:br/>
            <a:r>
              <a:t>└── Service B (desired count: 2)</a:t>
            </a:r>
            <a:br/>
            <a:r>
              <a:t>    ├── Task 1 (task definition rev 12)</a:t>
            </a:r>
            <a:br/>
            <a:r>
              <a:t>    └── Task 2 (task definition rev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check: ECS components</a:t>
            </a:r>
          </a:p>
        </p:txBody>
      </p:sp>
      <p:sp>
        <p:nvSpPr>
          <p:cNvPr id="3" name="Content Placeholder 2"/>
          <p:cNvSpPr>
            <a:spLocks noGrp="1"/>
          </p:cNvSpPr>
          <p:nvPr>
            <p:ph idx="1"/>
          </p:nvPr>
        </p:nvSpPr>
        <p:spPr/>
        <p:txBody>
          <a:bodyPr/>
          <a:lstStyle/>
          <a:p>
            <a:pPr>
              <a:defRPr sz="1600"/>
            </a:pPr>
            <a:r>
              <a:t>A container in your ECS service crashes. The service has a desired count of 3.</a:t>
            </a:r>
          </a:p>
          <a:p>
            <a:pPr>
              <a:defRPr sz="1600"/>
            </a:pPr>
            <a:r>
              <a:t>What happens next?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Task definitions in detail</a:t>
            </a:r>
          </a:p>
        </p:txBody>
      </p:sp>
      <p:sp>
        <p:nvSpPr>
          <p:cNvPr id="3" name="Text Placeholder 2"/>
          <p:cNvSpPr>
            <a:spLocks noGrp="1"/>
          </p:cNvSpPr>
          <p:nvPr>
            <p:ph type="body"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task definition parameters</a:t>
            </a:r>
          </a:p>
        </p:txBody>
      </p:sp>
      <p:sp>
        <p:nvSpPr>
          <p:cNvPr id="3" name="Content Placeholder 2"/>
          <p:cNvSpPr>
            <a:spLocks noGrp="1"/>
          </p:cNvSpPr>
          <p:nvPr>
            <p:ph idx="1"/>
          </p:nvPr>
        </p:nvSpPr>
        <p:spPr/>
        <p:txBody>
          <a:bodyPr/>
          <a:lstStyle/>
          <a:p>
            <a:pPr>
              <a:defRPr sz="1800"/>
            </a:pPr>
            <a:r>
              <a:t>Container image: ECR URI with tag</a:t>
            </a:r>
          </a:p>
          <a:p>
            <a:pPr>
              <a:defRPr sz="1800"/>
            </a:pPr>
            <a:r>
              <a:t>CPU and memory: task-level and container-level allocation</a:t>
            </a:r>
          </a:p>
          <a:p>
            <a:pPr>
              <a:defRPr sz="1800"/>
            </a:pPr>
            <a:r>
              <a:t>Port mappings: container port to host port</a:t>
            </a:r>
          </a:p>
          <a:p>
            <a:pPr>
              <a:defRPr sz="1800"/>
            </a:pPr>
            <a:r>
              <a:t>Environment variables: configuration values</a:t>
            </a:r>
          </a:p>
          <a:p>
            <a:pPr>
              <a:defRPr sz="1800"/>
            </a:pPr>
            <a:r>
              <a:t>Secrets: references to Secrets Manager or Parameter Store</a:t>
            </a:r>
          </a:p>
          <a:p>
            <a:pPr>
              <a:defRPr sz="1800"/>
            </a:pPr>
            <a:r>
              <a:t>Log configuration: CloudWatch Logs driver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IAM roles for ECS tasks</a:t>
            </a:r>
          </a:p>
        </p:txBody>
      </p:sp>
      <p:graphicFrame>
        <p:nvGraphicFramePr>
          <p:cNvPr id="4" name="Table 3"/>
          <p:cNvGraphicFramePr>
            <a:graphicFrameLocks noGrp="1"/>
          </p:cNvGraphicFramePr>
          <p:nvPr/>
        </p:nvGraphicFramePr>
        <p:xfrm>
          <a:off x="457200" y="1097280"/>
          <a:ext cx="8229600" cy="73152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Role Type</a:t>
                      </a:r>
                    </a:p>
                  </a:txBody>
                  <a:tcPr>
                    <a:solidFill>
                      <a:srgbClr val="232F3E"/>
                    </a:solidFill>
                  </a:tcPr>
                </a:tc>
                <a:tc>
                  <a:txBody>
                    <a:bodyPr/>
                    <a:lstStyle/>
                    <a:p>
                      <a:pPr>
                        <a:defRPr sz="1400" b="1">
                          <a:solidFill>
                            <a:srgbClr val="FFFFFF"/>
                          </a:solidFill>
                        </a:defRPr>
                      </a:pPr>
                      <a:r>
                        <a:t>Used By</a:t>
                      </a:r>
                    </a:p>
                  </a:txBody>
                  <a:tcPr>
                    <a:solidFill>
                      <a:srgbClr val="232F3E"/>
                    </a:solidFill>
                  </a:tcPr>
                </a:tc>
                <a:tc>
                  <a:txBody>
                    <a:bodyPr/>
                    <a:lstStyle/>
                    <a:p>
                      <a:pPr>
                        <a:defRPr sz="1400" b="1">
                          <a:solidFill>
                            <a:srgbClr val="FFFFFF"/>
                          </a:solidFill>
                        </a:defRPr>
                      </a:pPr>
                      <a:r>
                        <a:t>Example Permissions</a:t>
                      </a:r>
                    </a:p>
                  </a:txBody>
                  <a:tcPr>
                    <a:solidFill>
                      <a:srgbClr val="232F3E"/>
                    </a:solidFill>
                  </a:tcPr>
                </a:tc>
              </a:tr>
              <a:tr h="365760">
                <a:tc>
                  <a:txBody>
                    <a:bodyPr/>
                    <a:lstStyle/>
                    <a:p>
                      <a:pPr>
                        <a:defRPr sz="1200"/>
                      </a:pPr>
                      <a:r>
                        <a:t>Task role</a:t>
                      </a:r>
                    </a:p>
                  </a:txBody>
                  <a:tcPr>
                    <a:solidFill>
                      <a:srgbClr val="F2F3F4"/>
                    </a:solidFill>
                  </a:tcPr>
                </a:tc>
                <a:tc>
                  <a:txBody>
                    <a:bodyPr/>
                    <a:lstStyle/>
                    <a:p>
                      <a:pPr>
                        <a:defRPr sz="1200"/>
                      </a:pPr>
                      <a:r>
                        <a:t>Your application code</a:t>
                      </a:r>
                    </a:p>
                  </a:txBody>
                  <a:tcPr>
                    <a:solidFill>
                      <a:srgbClr val="F2F3F4"/>
                    </a:solidFill>
                  </a:tcPr>
                </a:tc>
                <a:tc>
                  <a:txBody>
                    <a:bodyPr/>
                    <a:lstStyle/>
                    <a:p>
                      <a:pPr>
                        <a:defRPr sz="1200"/>
                      </a:pPr>
                      <a:r>
                        <a:t>S3, DynamoDB, SQS access</a:t>
                      </a:r>
                    </a:p>
                  </a:txBody>
                  <a:tcPr>
                    <a:solidFill>
                      <a:srgbClr val="F2F3F4"/>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IAM roles for ECS tasks</a:t>
            </a:r>
          </a:p>
        </p:txBody>
      </p:sp>
      <p:sp>
        <p:nvSpPr>
          <p:cNvPr id="3" name="Content Placeholder 2"/>
          <p:cNvSpPr>
            <a:spLocks noGrp="1"/>
          </p:cNvSpPr>
          <p:nvPr>
            <p:ph idx="1"/>
          </p:nvPr>
        </p:nvSpPr>
        <p:spPr/>
        <p:txBody>
          <a:bodyPr/>
          <a:lstStyle/>
          <a:p>
            <a:pPr>
              <a:defRPr sz="1400" i="1">
                <a:solidFill>
                  <a:srgbClr val="555555"/>
                </a:solidFill>
              </a:defRPr>
            </a:pPr>
            <a:r>
              <a:t>Never embed AWS credentials in images or environment variables. Use IAM task roles for temporary credentials.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Fargate vs. EC2 launch type</a:t>
            </a:r>
          </a:p>
        </p:txBody>
      </p:sp>
      <p:sp>
        <p:nvSpPr>
          <p:cNvPr id="3" name="Text Placeholder 2"/>
          <p:cNvSpPr>
            <a:spLocks noGrp="1"/>
          </p:cNvSpPr>
          <p:nvPr>
            <p:ph type="body" idx="1"/>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Launch type comparison</a:t>
            </a:r>
          </a:p>
        </p:txBody>
      </p:sp>
      <p:graphicFrame>
        <p:nvGraphicFramePr>
          <p:cNvPr id="4" name="Table 3"/>
          <p:cNvGraphicFramePr>
            <a:graphicFrameLocks noGrp="1"/>
          </p:cNvGraphicFramePr>
          <p:nvPr/>
        </p:nvGraphicFramePr>
        <p:xfrm>
          <a:off x="457200" y="1097280"/>
          <a:ext cx="8229600" cy="219456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Fargate</a:t>
                      </a:r>
                    </a:p>
                  </a:txBody>
                  <a:tcPr>
                    <a:solidFill>
                      <a:srgbClr val="232F3E"/>
                    </a:solidFill>
                  </a:tcPr>
                </a:tc>
                <a:tc>
                  <a:txBody>
                    <a:bodyPr/>
                    <a:lstStyle/>
                    <a:p>
                      <a:pPr>
                        <a:defRPr sz="1400" b="1">
                          <a:solidFill>
                            <a:srgbClr val="FFFFFF"/>
                          </a:solidFill>
                        </a:defRPr>
                      </a:pPr>
                      <a:r>
                        <a:t>EC2 Launch Type</a:t>
                      </a:r>
                    </a:p>
                  </a:txBody>
                  <a:tcPr>
                    <a:solidFill>
                      <a:srgbClr val="232F3E"/>
                    </a:solidFill>
                  </a:tcPr>
                </a:tc>
              </a:tr>
              <a:tr h="365760">
                <a:tc>
                  <a:txBody>
                    <a:bodyPr/>
                    <a:lstStyle/>
                    <a:p>
                      <a:pPr>
                        <a:defRPr sz="1200"/>
                      </a:pPr>
                      <a:r>
                        <a:t>Scaling</a:t>
                      </a:r>
                    </a:p>
                  </a:txBody>
                  <a:tcPr>
                    <a:solidFill>
                      <a:srgbClr val="F2F3F4"/>
                    </a:solidFill>
                  </a:tcPr>
                </a:tc>
                <a:tc>
                  <a:txBody>
                    <a:bodyPr/>
                    <a:lstStyle/>
                    <a:p>
                      <a:pPr>
                        <a:defRPr sz="1200"/>
                      </a:pPr>
                      <a:r>
                        <a:t>Per-task (automatic)</a:t>
                      </a:r>
                    </a:p>
                  </a:txBody>
                  <a:tcPr>
                    <a:solidFill>
                      <a:srgbClr val="F2F3F4"/>
                    </a:solidFill>
                  </a:tcPr>
                </a:tc>
                <a:tc>
                  <a:txBody>
                    <a:bodyPr/>
                    <a:lstStyle/>
                    <a:p>
                      <a:pPr>
                        <a:defRPr sz="1200"/>
                      </a:pPr>
                      <a:r>
                        <a:t>Instance + task scaling</a:t>
                      </a:r>
                    </a:p>
                  </a:txBody>
                  <a:tcPr>
                    <a:solidFill>
                      <a:srgbClr val="F2F3F4"/>
                    </a:solidFill>
                  </a:tcPr>
                </a:tc>
              </a:tr>
              <a:tr h="365760">
                <a:tc>
                  <a:txBody>
                    <a:bodyPr/>
                    <a:lstStyle/>
                    <a:p>
                      <a:pPr>
                        <a:defRPr sz="1200"/>
                      </a:pPr>
                      <a:r>
                        <a:t>Networking</a:t>
                      </a:r>
                    </a:p>
                  </a:txBody>
                  <a:tcPr/>
                </a:tc>
                <a:tc>
                  <a:txBody>
                    <a:bodyPr/>
                    <a:lstStyle/>
                    <a:p>
                      <a:pPr>
                        <a:defRPr sz="1200"/>
                      </a:pPr>
                      <a:r>
                        <a:t>Each task gets own ENI</a:t>
                      </a:r>
                    </a:p>
                  </a:txBody>
                  <a:tcPr/>
                </a:tc>
                <a:tc>
                  <a:txBody>
                    <a:bodyPr/>
                    <a:lstStyle/>
                    <a:p>
                      <a:pPr>
                        <a:defRPr sz="1200"/>
                      </a:pPr>
                      <a:r>
                        <a:t>Shared or awsvpc mode</a:t>
                      </a:r>
                    </a:p>
                  </a:txBody>
                  <a:tcPr/>
                </a:tc>
              </a:tr>
              <a:tr h="365760">
                <a:tc>
                  <a:txBody>
                    <a:bodyPr/>
                    <a:lstStyle/>
                    <a:p>
                      <a:pPr>
                        <a:defRPr sz="1200"/>
                      </a:pPr>
                      <a:r>
                        <a:t>Pricing</a:t>
                      </a:r>
                    </a:p>
                  </a:txBody>
                  <a:tcPr>
                    <a:solidFill>
                      <a:srgbClr val="F2F3F4"/>
                    </a:solidFill>
                  </a:tcPr>
                </a:tc>
                <a:tc>
                  <a:txBody>
                    <a:bodyPr/>
                    <a:lstStyle/>
                    <a:p>
                      <a:pPr>
                        <a:defRPr sz="1200"/>
                      </a:pPr>
                      <a:r>
                        <a:t>Per task (vCPU + memory/s)</a:t>
                      </a:r>
                    </a:p>
                  </a:txBody>
                  <a:tcPr>
                    <a:solidFill>
                      <a:srgbClr val="F2F3F4"/>
                    </a:solidFill>
                  </a:tcPr>
                </a:tc>
                <a:tc>
                  <a:txBody>
                    <a:bodyPr/>
                    <a:lstStyle/>
                    <a:p>
                      <a:pPr>
                        <a:defRPr sz="1200"/>
                      </a:pPr>
                      <a:r>
                        <a:t>Per EC2 instance</a:t>
                      </a:r>
                    </a:p>
                  </a:txBody>
                  <a:tcPr>
                    <a:solidFill>
                      <a:srgbClr val="F2F3F4"/>
                    </a:solidFill>
                  </a:tcPr>
                </a:tc>
              </a:tr>
              <a:tr h="365760">
                <a:tc>
                  <a:txBody>
                    <a:bodyPr/>
                    <a:lstStyle/>
                    <a:p>
                      <a:pPr>
                        <a:defRPr sz="1200"/>
                      </a:pPr>
                      <a:r>
                        <a:t>GPU support</a:t>
                      </a:r>
                    </a:p>
                  </a:txBody>
                  <a:tcPr/>
                </a:tc>
                <a:tc>
                  <a:txBody>
                    <a:bodyPr/>
                    <a:lstStyle/>
                    <a:p>
                      <a:pPr>
                        <a:defRPr sz="1200"/>
                      </a:pPr>
                      <a:r>
                        <a:t>Not supported</a:t>
                      </a:r>
                    </a:p>
                  </a:txBody>
                  <a:tcPr/>
                </a:tc>
                <a:tc>
                  <a:txBody>
                    <a:bodyPr/>
                    <a:lstStyle/>
                    <a:p>
                      <a:pPr>
                        <a:defRPr sz="1200"/>
                      </a:pPr>
                      <a:r>
                        <a:t>Supported</a:t>
                      </a:r>
                    </a:p>
                  </a:txBody>
                  <a:tcPr/>
                </a:tc>
              </a:tr>
              <a:tr h="365760">
                <a:tc>
                  <a:txBody>
                    <a:bodyPr/>
                    <a:lstStyle/>
                    <a:p>
                      <a:pPr>
                        <a:defRPr sz="1200"/>
                      </a:pPr>
                      <a:r>
                        <a:t>Best for</a:t>
                      </a:r>
                    </a:p>
                  </a:txBody>
                  <a:tcPr>
                    <a:solidFill>
                      <a:srgbClr val="F2F3F4"/>
                    </a:solidFill>
                  </a:tcPr>
                </a:tc>
                <a:tc>
                  <a:txBody>
                    <a:bodyPr/>
                    <a:lstStyle/>
                    <a:p>
                      <a:pPr>
                        <a:defRPr sz="1200"/>
                      </a:pPr>
                      <a:r>
                        <a:t>Most workloads</a:t>
                      </a:r>
                    </a:p>
                  </a:txBody>
                  <a:tcPr>
                    <a:solidFill>
                      <a:srgbClr val="F2F3F4"/>
                    </a:solidFill>
                  </a:tcPr>
                </a:tc>
                <a:tc>
                  <a:txBody>
                    <a:bodyPr/>
                    <a:lstStyle/>
                    <a:p>
                      <a:pPr>
                        <a:defRPr sz="1200"/>
                      </a:pPr>
                      <a:r>
                        <a:t>GPU, cost optimization at scale</a:t>
                      </a:r>
                    </a:p>
                  </a:txBody>
                  <a:tcPr>
                    <a:solidFill>
                      <a:srgbClr val="F2F3F4"/>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Launch type comparison</a:t>
            </a:r>
          </a:p>
        </p:txBody>
      </p:sp>
      <p:sp>
        <p:nvSpPr>
          <p:cNvPr id="3" name="Content Placeholder 2"/>
          <p:cNvSpPr>
            <a:spLocks noGrp="1"/>
          </p:cNvSpPr>
          <p:nvPr>
            <p:ph idx="1"/>
          </p:nvPr>
        </p:nvSpPr>
        <p:spPr/>
        <p:txBody>
          <a:bodyPr/>
          <a:lstStyle/>
          <a:p>
            <a:pPr>
              <a:defRPr sz="1400" i="1">
                <a:solidFill>
                  <a:srgbClr val="555555"/>
                </a:solidFill>
              </a:defRPr>
            </a:pPr>
            <a:r>
              <a:t>Start with Fargate for new workloads. Move to EC2 only for GPU, custom OS, or large-scale cost optimization.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Fargate vs. EC2</a:t>
            </a:r>
          </a:p>
        </p:txBody>
      </p:sp>
      <p:sp>
        <p:nvSpPr>
          <p:cNvPr id="3" name="Content Placeholder 2"/>
          <p:cNvSpPr>
            <a:spLocks noGrp="1"/>
          </p:cNvSpPr>
          <p:nvPr>
            <p:ph idx="1"/>
          </p:nvPr>
        </p:nvSpPr>
        <p:spPr/>
        <p:txBody>
          <a:bodyPr/>
          <a:lstStyle/>
          <a:p>
            <a:pPr>
              <a:defRPr sz="1600"/>
            </a:pPr>
            <a:r>
              <a:t>Scenario A: A startup with 3 developers deploying 5 microservices.</a:t>
            </a:r>
          </a:p>
          <a:p>
            <a:pPr>
              <a:defRPr sz="1600"/>
            </a:pPr>
            <a:r>
              <a:t>Scenario B: A company running ML inference that requires GPU access.</a:t>
            </a:r>
          </a:p>
          <a:p>
            <a:pPr>
              <a:defRPr sz="1600"/>
            </a:pPr>
            <a:r>
              <a:t>Which launch type for each?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Services, deployments, and auto scaling</a:t>
            </a:r>
          </a:p>
        </p:txBody>
      </p:sp>
      <p:sp>
        <p:nvSpPr>
          <p:cNvPr id="3" name="Text Placeholder 2"/>
          <p:cNvSpPr>
            <a:spLocks noGrp="1"/>
          </p:cNvSpPr>
          <p:nvPr>
            <p:ph type="body" idx="1"/>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Deployment strategies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Rolling Update</a:t>
                      </a:r>
                    </a:p>
                  </a:txBody>
                  <a:tcPr>
                    <a:solidFill>
                      <a:srgbClr val="232F3E"/>
                    </a:solidFill>
                  </a:tcPr>
                </a:tc>
                <a:tc>
                  <a:txBody>
                    <a:bodyPr/>
                    <a:lstStyle/>
                    <a:p>
                      <a:pPr>
                        <a:defRPr sz="1400" b="1">
                          <a:solidFill>
                            <a:srgbClr val="FFFFFF"/>
                          </a:solidFill>
                        </a:defRPr>
                      </a:pPr>
                      <a:r>
                        <a:t>Blue/Green</a:t>
                      </a:r>
                    </a:p>
                  </a:txBody>
                  <a:tcPr>
                    <a:solidFill>
                      <a:srgbClr val="232F3E"/>
                    </a:solidFill>
                  </a:tcPr>
                </a:tc>
              </a:tr>
              <a:tr h="365760">
                <a:tc>
                  <a:txBody>
                    <a:bodyPr/>
                    <a:lstStyle/>
                    <a:p>
                      <a:pPr>
                        <a:defRPr sz="1200"/>
                      </a:pPr>
                      <a:r>
                        <a:t>Rollback</a:t>
                      </a:r>
                    </a:p>
                  </a:txBody>
                  <a:tcPr>
                    <a:solidFill>
                      <a:srgbClr val="F2F3F4"/>
                    </a:solidFill>
                  </a:tcPr>
                </a:tc>
                <a:tc>
                  <a:txBody>
                    <a:bodyPr/>
                    <a:lstStyle/>
                    <a:p>
                      <a:pPr>
                        <a:defRPr sz="1200"/>
                      </a:pPr>
                      <a:r>
                        <a:t>Manual (redeploy previous)</a:t>
                      </a:r>
                    </a:p>
                  </a:txBody>
                  <a:tcPr>
                    <a:solidFill>
                      <a:srgbClr val="F2F3F4"/>
                    </a:solidFill>
                  </a:tcPr>
                </a:tc>
                <a:tc>
                  <a:txBody>
                    <a:bodyPr/>
                    <a:lstStyle/>
                    <a:p>
                      <a:pPr>
                        <a:defRPr sz="1200"/>
                      </a:pPr>
                      <a:r>
                        <a:t>Automatic on failure</a:t>
                      </a:r>
                    </a:p>
                  </a:txBody>
                  <a:tcPr>
                    <a:solidFill>
                      <a:srgbClr val="F2F3F4"/>
                    </a:solidFill>
                  </a:tcPr>
                </a:tc>
              </a:tr>
              <a:tr h="365760">
                <a:tc>
                  <a:txBody>
                    <a:bodyPr/>
                    <a:lstStyle/>
                    <a:p>
                      <a:pPr>
                        <a:defRPr sz="1200"/>
                      </a:pPr>
                      <a:r>
                        <a:t>Traffic shift</a:t>
                      </a:r>
                    </a:p>
                  </a:txBody>
                  <a:tcPr/>
                </a:tc>
                <a:tc>
                  <a:txBody>
                    <a:bodyPr/>
                    <a:lstStyle/>
                    <a:p>
                      <a:pPr>
                        <a:defRPr sz="1200"/>
                      </a:pPr>
                      <a:r>
                        <a:t>Task by task</a:t>
                      </a:r>
                    </a:p>
                  </a:txBody>
                  <a:tcPr/>
                </a:tc>
                <a:tc>
                  <a:txBody>
                    <a:bodyPr/>
                    <a:lstStyle/>
                    <a:p>
                      <a:pPr>
                        <a:defRPr sz="1200"/>
                      </a:pPr>
                      <a:r>
                        <a:t>All at once, linear, or canary</a:t>
                      </a:r>
                    </a:p>
                  </a:txBody>
                  <a:tcPr/>
                </a:tc>
              </a:tr>
              <a:tr h="365760">
                <a:tc>
                  <a:txBody>
                    <a:bodyPr/>
                    <a:lstStyle/>
                    <a:p>
                      <a:pPr>
                        <a:defRPr sz="1200"/>
                      </a:pPr>
                      <a:r>
                        <a:t>Cost during deploy</a:t>
                      </a:r>
                    </a:p>
                  </a:txBody>
                  <a:tcPr>
                    <a:solidFill>
                      <a:srgbClr val="F2F3F4"/>
                    </a:solidFill>
                  </a:tcPr>
                </a:tc>
                <a:tc>
                  <a:txBody>
                    <a:bodyPr/>
                    <a:lstStyle/>
                    <a:p>
                      <a:pPr>
                        <a:defRPr sz="1200"/>
                      </a:pPr>
                      <a:r>
                        <a:t>Slightly above normal</a:t>
                      </a:r>
                    </a:p>
                  </a:txBody>
                  <a:tcPr>
                    <a:solidFill>
                      <a:srgbClr val="F2F3F4"/>
                    </a:solidFill>
                  </a:tcPr>
                </a:tc>
                <a:tc>
                  <a:txBody>
                    <a:bodyPr/>
                    <a:lstStyle/>
                    <a:p>
                      <a:pPr>
                        <a:defRPr sz="1200"/>
                      </a:pPr>
                      <a:r>
                        <a:t>Double capacity</a:t>
                      </a:r>
                    </a:p>
                  </a:txBody>
                  <a:tcPr>
                    <a:solidFill>
                      <a:srgbClr val="F2F3F4"/>
                    </a:solidFill>
                  </a:tcPr>
                </a:tc>
              </a:tr>
              <a:tr h="365760">
                <a:tc>
                  <a:txBody>
                    <a:bodyPr/>
                    <a:lstStyle/>
                    <a:p>
                      <a:pPr>
                        <a:defRPr sz="1200"/>
                      </a:pPr>
                      <a:r>
                        <a:t>Best for</a:t>
                      </a:r>
                    </a:p>
                  </a:txBody>
                  <a:tcPr/>
                </a:tc>
                <a:tc>
                  <a:txBody>
                    <a:bodyPr/>
                    <a:lstStyle/>
                    <a:p>
                      <a:pPr>
                        <a:defRPr sz="1200"/>
                      </a:pPr>
                      <a:r>
                        <a:t>Most deployments</a:t>
                      </a:r>
                    </a:p>
                  </a:txBody>
                  <a:tcPr/>
                </a:tc>
                <a:tc>
                  <a:txBody>
                    <a:bodyPr/>
                    <a:lstStyle/>
                    <a:p>
                      <a:pPr>
                        <a:defRPr sz="1200"/>
                      </a:pPr>
                      <a:r>
                        <a:t>Mission-critical services</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 strategies</a:t>
            </a:r>
          </a:p>
        </p:txBody>
      </p:sp>
      <p:sp>
        <p:nvSpPr>
          <p:cNvPr id="3" name="Content Placeholder 2"/>
          <p:cNvSpPr>
            <a:spLocks noGrp="1"/>
          </p:cNvSpPr>
          <p:nvPr>
            <p:ph idx="1"/>
          </p:nvPr>
        </p:nvSpPr>
        <p:spPr/>
        <p:txBody>
          <a:bodyPr/>
          <a:lstStyle/>
          <a:p>
            <a:pPr>
              <a:defRPr sz="1800"/>
            </a:pPr>
            <a:r>
              <a:t>Deployment circuit breaker: auto-detects failing deployments and rolls back</a:t>
            </a:r>
          </a:p>
          <a:p>
            <a:pPr>
              <a:defRPr sz="1800"/>
            </a:pPr>
            <a:r>
              <a:t>Service auto scaling: target tracking on CPU/memory, step, or scheduled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ECS vs. EKS vs. Lambda</a:t>
            </a:r>
          </a:p>
        </p:txBody>
      </p:sp>
      <p:sp>
        <p:nvSpPr>
          <p:cNvPr id="3" name="Text Placeholder 2"/>
          <p:cNvSpPr>
            <a:spLocks noGrp="1"/>
          </p:cNvSpPr>
          <p:nvPr>
            <p:ph type="body" idx="1"/>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Choosing the right compute service</a:t>
            </a:r>
          </a:p>
        </p:txBody>
      </p:sp>
      <p:graphicFrame>
        <p:nvGraphicFramePr>
          <p:cNvPr id="4" name="Table 3"/>
          <p:cNvGraphicFramePr>
            <a:graphicFrameLocks noGrp="1"/>
          </p:cNvGraphicFramePr>
          <p:nvPr/>
        </p:nvGraphicFramePr>
        <p:xfrm>
          <a:off x="457200" y="1097280"/>
          <a:ext cx="8229600" cy="219456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ECS</a:t>
                      </a:r>
                    </a:p>
                  </a:txBody>
                  <a:tcPr>
                    <a:solidFill>
                      <a:srgbClr val="232F3E"/>
                    </a:solidFill>
                  </a:tcPr>
                </a:tc>
                <a:tc>
                  <a:txBody>
                    <a:bodyPr/>
                    <a:lstStyle/>
                    <a:p>
                      <a:pPr>
                        <a:defRPr sz="1400" b="1">
                          <a:solidFill>
                            <a:srgbClr val="FFFFFF"/>
                          </a:solidFill>
                        </a:defRPr>
                      </a:pPr>
                      <a:r>
                        <a:t>EKS</a:t>
                      </a:r>
                    </a:p>
                  </a:txBody>
                  <a:tcPr>
                    <a:solidFill>
                      <a:srgbClr val="232F3E"/>
                    </a:solidFill>
                  </a:tcPr>
                </a:tc>
                <a:tc>
                  <a:txBody>
                    <a:bodyPr/>
                    <a:lstStyle/>
                    <a:p>
                      <a:pPr>
                        <a:defRPr sz="1400" b="1">
                          <a:solidFill>
                            <a:srgbClr val="FFFFFF"/>
                          </a:solidFill>
                        </a:defRPr>
                      </a:pPr>
                      <a:r>
                        <a:t>Lambda</a:t>
                      </a:r>
                    </a:p>
                  </a:txBody>
                  <a:tcPr>
                    <a:solidFill>
                      <a:srgbClr val="232F3E"/>
                    </a:solidFill>
                  </a:tcPr>
                </a:tc>
              </a:tr>
              <a:tr h="365760">
                <a:tc>
                  <a:txBody>
                    <a:bodyPr/>
                    <a:lstStyle/>
                    <a:p>
                      <a:pPr>
                        <a:defRPr sz="1200"/>
                      </a:pPr>
                      <a:r>
                        <a:t>Max execution</a:t>
                      </a:r>
                    </a:p>
                  </a:txBody>
                  <a:tcPr>
                    <a:solidFill>
                      <a:srgbClr val="F2F3F4"/>
                    </a:solidFill>
                  </a:tcPr>
                </a:tc>
                <a:tc>
                  <a:txBody>
                    <a:bodyPr/>
                    <a:lstStyle/>
                    <a:p>
                      <a:pPr>
                        <a:defRPr sz="1200"/>
                      </a:pPr>
                      <a:r>
                        <a:t>No limit</a:t>
                      </a:r>
                    </a:p>
                  </a:txBody>
                  <a:tcPr>
                    <a:solidFill>
                      <a:srgbClr val="F2F3F4"/>
                    </a:solidFill>
                  </a:tcPr>
                </a:tc>
                <a:tc>
                  <a:txBody>
                    <a:bodyPr/>
                    <a:lstStyle/>
                    <a:p>
                      <a:pPr>
                        <a:defRPr sz="1200"/>
                      </a:pPr>
                      <a:r>
                        <a:t>No limit</a:t>
                      </a:r>
                    </a:p>
                  </a:txBody>
                  <a:tcPr>
                    <a:solidFill>
                      <a:srgbClr val="F2F3F4"/>
                    </a:solidFill>
                  </a:tcPr>
                </a:tc>
                <a:tc>
                  <a:txBody>
                    <a:bodyPr/>
                    <a:lstStyle/>
                    <a:p>
                      <a:pPr>
                        <a:defRPr sz="1200"/>
                      </a:pPr>
                      <a:r>
                        <a:t>15 minutes</a:t>
                      </a:r>
                    </a:p>
                  </a:txBody>
                  <a:tcPr>
                    <a:solidFill>
                      <a:srgbClr val="F2F3F4"/>
                    </a:solidFill>
                  </a:tcPr>
                </a:tc>
              </a:tr>
              <a:tr h="365760">
                <a:tc>
                  <a:txBody>
                    <a:bodyPr/>
                    <a:lstStyle/>
                    <a:p>
                      <a:pPr>
                        <a:defRPr sz="1200"/>
                      </a:pPr>
                      <a:r>
                        <a:t>Scaling</a:t>
                      </a:r>
                    </a:p>
                  </a:txBody>
                  <a:tcPr/>
                </a:tc>
                <a:tc>
                  <a:txBody>
                    <a:bodyPr/>
                    <a:lstStyle/>
                    <a:p>
                      <a:pPr>
                        <a:defRPr sz="1200"/>
                      </a:pPr>
                      <a:r>
                        <a:t>Task level</a:t>
                      </a:r>
                    </a:p>
                  </a:txBody>
                  <a:tcPr/>
                </a:tc>
                <a:tc>
                  <a:txBody>
                    <a:bodyPr/>
                    <a:lstStyle/>
                    <a:p>
                      <a:pPr>
                        <a:defRPr sz="1200"/>
                      </a:pPr>
                      <a:r>
                        <a:t>Pod level</a:t>
                      </a:r>
                    </a:p>
                  </a:txBody>
                  <a:tcPr/>
                </a:tc>
                <a:tc>
                  <a:txBody>
                    <a:bodyPr/>
                    <a:lstStyle/>
                    <a:p>
                      <a:pPr>
                        <a:defRPr sz="1200"/>
                      </a:pPr>
                      <a:r>
                        <a:t>Per invocation</a:t>
                      </a:r>
                    </a:p>
                  </a:txBody>
                  <a:tcPr/>
                </a:tc>
              </a:tr>
              <a:tr h="365760">
                <a:tc>
                  <a:txBody>
                    <a:bodyPr/>
                    <a:lstStyle/>
                    <a:p>
                      <a:pPr>
                        <a:defRPr sz="1200"/>
                      </a:pPr>
                      <a:r>
                        <a:t>Pricing</a:t>
                      </a:r>
                    </a:p>
                  </a:txBody>
                  <a:tcPr>
                    <a:solidFill>
                      <a:srgbClr val="F2F3F4"/>
                    </a:solidFill>
                  </a:tcPr>
                </a:tc>
                <a:tc>
                  <a:txBody>
                    <a:bodyPr/>
                    <a:lstStyle/>
                    <a:p>
                      <a:pPr>
                        <a:defRPr sz="1200"/>
                      </a:pPr>
                      <a:r>
                        <a:t>Per task or instance</a:t>
                      </a:r>
                    </a:p>
                  </a:txBody>
                  <a:tcPr>
                    <a:solidFill>
                      <a:srgbClr val="F2F3F4"/>
                    </a:solidFill>
                  </a:tcPr>
                </a:tc>
                <a:tc>
                  <a:txBody>
                    <a:bodyPr/>
                    <a:lstStyle/>
                    <a:p>
                      <a:pPr>
                        <a:defRPr sz="1200"/>
                      </a:pPr>
                      <a:r>
                        <a:t>Per Pod or instance</a:t>
                      </a:r>
                    </a:p>
                  </a:txBody>
                  <a:tcPr>
                    <a:solidFill>
                      <a:srgbClr val="F2F3F4"/>
                    </a:solidFill>
                  </a:tcPr>
                </a:tc>
                <a:tc>
                  <a:txBody>
                    <a:bodyPr/>
                    <a:lstStyle/>
                    <a:p>
                      <a:pPr>
                        <a:defRPr sz="1200"/>
                      </a:pPr>
                      <a:r>
                        <a:t>Per invocation</a:t>
                      </a:r>
                    </a:p>
                  </a:txBody>
                  <a:tcPr>
                    <a:solidFill>
                      <a:srgbClr val="F2F3F4"/>
                    </a:solidFill>
                  </a:tcPr>
                </a:tc>
              </a:tr>
              <a:tr h="365760">
                <a:tc>
                  <a:txBody>
                    <a:bodyPr/>
                    <a:lstStyle/>
                    <a:p>
                      <a:pPr>
                        <a:defRPr sz="1200"/>
                      </a:pPr>
                      <a:r>
                        <a:t>Portability</a:t>
                      </a:r>
                    </a:p>
                  </a:txBody>
                  <a:tcPr/>
                </a:tc>
                <a:tc>
                  <a:txBody>
                    <a:bodyPr/>
                    <a:lstStyle/>
                    <a:p>
                      <a:pPr>
                        <a:defRPr sz="1200"/>
                      </a:pPr>
                      <a:r>
                        <a:t>AWS-specific</a:t>
                      </a:r>
                    </a:p>
                  </a:txBody>
                  <a:tcPr/>
                </a:tc>
                <a:tc>
                  <a:txBody>
                    <a:bodyPr/>
                    <a:lstStyle/>
                    <a:p>
                      <a:pPr>
                        <a:defRPr sz="1200"/>
                      </a:pPr>
                      <a:r>
                        <a:t>Multi-cloud</a:t>
                      </a:r>
                    </a:p>
                  </a:txBody>
                  <a:tcPr/>
                </a:tc>
                <a:tc>
                  <a:txBody>
                    <a:bodyPr/>
                    <a:lstStyle/>
                    <a:p>
                      <a:pPr>
                        <a:defRPr sz="1200"/>
                      </a:pPr>
                      <a:r>
                        <a:t>AWS-specific</a:t>
                      </a:r>
                    </a:p>
                  </a:txBody>
                  <a:tcPr/>
                </a:tc>
              </a:tr>
              <a:tr h="365760">
                <a:tc>
                  <a:txBody>
                    <a:bodyPr/>
                    <a:lstStyle/>
                    <a:p>
                      <a:pPr>
                        <a:defRPr sz="1200"/>
                      </a:pPr>
                      <a:r>
                        <a:t>Complexity</a:t>
                      </a:r>
                    </a:p>
                  </a:txBody>
                  <a:tcPr>
                    <a:solidFill>
                      <a:srgbClr val="F2F3F4"/>
                    </a:solidFill>
                  </a:tcPr>
                </a:tc>
                <a:tc>
                  <a:txBody>
                    <a:bodyPr/>
                    <a:lstStyle/>
                    <a:p>
                      <a:pPr>
                        <a:defRPr sz="1200"/>
                      </a:pPr>
                      <a:r>
                        <a:t>Low to medium</a:t>
                      </a:r>
                    </a:p>
                  </a:txBody>
                  <a:tcPr>
                    <a:solidFill>
                      <a:srgbClr val="F2F3F4"/>
                    </a:solidFill>
                  </a:tcPr>
                </a:tc>
                <a:tc>
                  <a:txBody>
                    <a:bodyPr/>
                    <a:lstStyle/>
                    <a:p>
                      <a:pPr>
                        <a:defRPr sz="1200"/>
                      </a:pPr>
                      <a:r>
                        <a:t>High</a:t>
                      </a:r>
                    </a:p>
                  </a:txBody>
                  <a:tcPr>
                    <a:solidFill>
                      <a:srgbClr val="F2F3F4"/>
                    </a:solidFill>
                  </a:tcPr>
                </a:tc>
                <a:tc>
                  <a:txBody>
                    <a:bodyPr/>
                    <a:lstStyle/>
                    <a:p>
                      <a:pPr>
                        <a:defRPr sz="1200"/>
                      </a:pPr>
                      <a:r>
                        <a:t>Very low</a:t>
                      </a:r>
                    </a:p>
                  </a:txBody>
                  <a:tcPr>
                    <a:solidFill>
                      <a:srgbClr val="F2F3F4"/>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to use each</a:t>
            </a:r>
          </a:p>
        </p:txBody>
      </p:sp>
      <p:sp>
        <p:nvSpPr>
          <p:cNvPr id="3" name="Content Placeholder 2"/>
          <p:cNvSpPr>
            <a:spLocks noGrp="1"/>
          </p:cNvSpPr>
          <p:nvPr>
            <p:ph idx="1"/>
          </p:nvPr>
        </p:nvSpPr>
        <p:spPr/>
        <p:txBody>
          <a:bodyPr/>
          <a:lstStyle/>
          <a:p>
            <a:pPr>
              <a:defRPr sz="1800"/>
            </a:pPr>
            <a:r>
              <a:t>ECS: managed container orchestration, AWS-native, long-running services</a:t>
            </a:r>
          </a:p>
          <a:p>
            <a:pPr>
              <a:defRPr sz="1800"/>
            </a:pPr>
            <a:r>
              <a:t>EKS: existing Kubernetes expertise, multi-cloud portability, advanced scheduling</a:t>
            </a:r>
          </a:p>
          <a:p>
            <a:pPr>
              <a:defRPr sz="1800"/>
            </a:pPr>
            <a:r>
              <a:t>Lambda: event-driven, under 15 min, variable traffic, minimal ops</a:t>
            </a:r>
          </a:p>
          <a:p>
            <a:pPr>
              <a:defRPr sz="1400" i="1">
                <a:solidFill>
                  <a:srgbClr val="555555"/>
                </a:solidFill>
              </a:defRPr>
            </a:pPr>
            <a:r>
              <a:t>These are not mutually exclusive. Many architectures combine ECS for web services, Lambda for event processing, and EKS for Kubernetes workloads.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compute selection</a:t>
            </a:r>
          </a:p>
        </p:txBody>
      </p:sp>
      <p:sp>
        <p:nvSpPr>
          <p:cNvPr id="3" name="Content Placeholder 2"/>
          <p:cNvSpPr>
            <a:spLocks noGrp="1"/>
          </p:cNvSpPr>
          <p:nvPr>
            <p:ph idx="1"/>
          </p:nvPr>
        </p:nvSpPr>
        <p:spPr/>
        <p:txBody>
          <a:bodyPr/>
          <a:lstStyle/>
          <a:p>
            <a:pPr>
              <a:defRPr sz="1600"/>
            </a:pPr>
            <a:r>
              <a:t>A webhook handler processes 100 requests per day, each taking 2 seconds.</a:t>
            </a:r>
          </a:p>
          <a:p>
            <a:pPr>
              <a:defRPr sz="1600"/>
            </a:pPr>
            <a:r>
              <a:t>Which compute service would you choose, and why?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Container security best practices</a:t>
            </a:r>
          </a:p>
        </p:txBody>
      </p:sp>
      <p:sp>
        <p:nvSpPr>
          <p:cNvPr id="3" name="Text Placeholder 2"/>
          <p:cNvSpPr>
            <a:spLocks noGrp="1"/>
          </p:cNvSpPr>
          <p:nvPr>
            <p:ph type="body" idx="1"/>
          </p:nvPr>
        </p:nvSpPr>
        <p:spPr/>
        <p:txBody>
          <a:bodyPr/>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Security checklist</a:t>
            </a:r>
          </a:p>
        </p:txBody>
      </p:sp>
      <p:graphicFrame>
        <p:nvGraphicFramePr>
          <p:cNvPr id="4" name="Table 3"/>
          <p:cNvGraphicFramePr>
            <a:graphicFrameLocks noGrp="1"/>
          </p:cNvGraphicFramePr>
          <p:nvPr/>
        </p:nvGraphicFramePr>
        <p:xfrm>
          <a:off x="457200" y="1097280"/>
          <a:ext cx="8229600" cy="219456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Practice</a:t>
                      </a:r>
                    </a:p>
                  </a:txBody>
                  <a:tcPr>
                    <a:solidFill>
                      <a:srgbClr val="232F3E"/>
                    </a:solidFill>
                  </a:tcPr>
                </a:tc>
                <a:tc>
                  <a:txBody>
                    <a:bodyPr/>
                    <a:lstStyle/>
                    <a:p>
                      <a:pPr>
                        <a:defRPr sz="1400" b="1">
                          <a:solidFill>
                            <a:srgbClr val="FFFFFF"/>
                          </a:solidFill>
                        </a:defRPr>
                      </a:pPr>
                      <a:r>
                        <a:t>Implementation</a:t>
                      </a:r>
                    </a:p>
                  </a:txBody>
                  <a:tcPr>
                    <a:solidFill>
                      <a:srgbClr val="232F3E"/>
                    </a:solidFill>
                  </a:tcPr>
                </a:tc>
                <a:tc>
                  <a:txBody>
                    <a:bodyPr/>
                    <a:lstStyle/>
                    <a:p>
                      <a:pPr>
                        <a:defRPr sz="1400" b="1">
                          <a:solidFill>
                            <a:srgbClr val="FFFFFF"/>
                          </a:solidFill>
                        </a:defRPr>
                      </a:pPr>
                      <a:r>
                        <a:t>Benefit</a:t>
                      </a:r>
                    </a:p>
                  </a:txBody>
                  <a:tcPr>
                    <a:solidFill>
                      <a:srgbClr val="232F3E"/>
                    </a:solidFill>
                  </a:tcPr>
                </a:tc>
              </a:tr>
              <a:tr h="365760">
                <a:tc>
                  <a:txBody>
                    <a:bodyPr/>
                    <a:lstStyle/>
                    <a:p>
                      <a:pPr>
                        <a:defRPr sz="1200"/>
                      </a:pPr>
                      <a:r>
                        <a:t>Image scanning</a:t>
                      </a:r>
                    </a:p>
                  </a:txBody>
                  <a:tcPr>
                    <a:solidFill>
                      <a:srgbClr val="F2F3F4"/>
                    </a:solidFill>
                  </a:tcPr>
                </a:tc>
                <a:tc>
                  <a:txBody>
                    <a:bodyPr/>
                    <a:lstStyle/>
                    <a:p>
                      <a:pPr>
                        <a:defRPr sz="1200"/>
                      </a:pPr>
                      <a:r>
                        <a:t>ECR scan-on-push</a:t>
                      </a:r>
                    </a:p>
                  </a:txBody>
                  <a:tcPr>
                    <a:solidFill>
                      <a:srgbClr val="F2F3F4"/>
                    </a:solidFill>
                  </a:tcPr>
                </a:tc>
                <a:tc>
                  <a:txBody>
                    <a:bodyPr/>
                    <a:lstStyle/>
                    <a:p>
                      <a:pPr>
                        <a:defRPr sz="1200"/>
                      </a:pPr>
                      <a:r>
                        <a:t>Detects vulnerabilities</a:t>
                      </a:r>
                    </a:p>
                  </a:txBody>
                  <a:tcPr>
                    <a:solidFill>
                      <a:srgbClr val="F2F3F4"/>
                    </a:solidFill>
                  </a:tcPr>
                </a:tc>
              </a:tr>
              <a:tr h="365760">
                <a:tc>
                  <a:txBody>
                    <a:bodyPr/>
                    <a:lstStyle/>
                    <a:p>
                      <a:pPr>
                        <a:defRPr sz="1200"/>
                      </a:pPr>
                      <a:r>
                        <a:t>Secrets management</a:t>
                      </a:r>
                    </a:p>
                  </a:txBody>
                  <a:tcPr/>
                </a:tc>
                <a:tc>
                  <a:txBody>
                    <a:bodyPr/>
                    <a:lstStyle/>
                    <a:p>
                      <a:pPr>
                        <a:defRPr sz="1200"/>
                      </a:pPr>
                      <a:r>
                        <a:t>Secrets Manager references</a:t>
                      </a:r>
                    </a:p>
                  </a:txBody>
                  <a:tcPr/>
                </a:tc>
                <a:tc>
                  <a:txBody>
                    <a:bodyPr/>
                    <a:lstStyle/>
                    <a:p>
                      <a:pPr>
                        <a:defRPr sz="1200"/>
                      </a:pPr>
                      <a:r>
                        <a:t>Prevents credential exposure</a:t>
                      </a:r>
                    </a:p>
                  </a:txBody>
                  <a:tcPr/>
                </a:tc>
              </a:tr>
              <a:tr h="365760">
                <a:tc>
                  <a:txBody>
                    <a:bodyPr/>
                    <a:lstStyle/>
                    <a:p>
                      <a:pPr>
                        <a:defRPr sz="1200"/>
                      </a:pPr>
                      <a:r>
                        <a:t>Read-only filesystem</a:t>
                      </a:r>
                    </a:p>
                  </a:txBody>
                  <a:tcPr>
                    <a:solidFill>
                      <a:srgbClr val="F2F3F4"/>
                    </a:solidFill>
                  </a:tcPr>
                </a:tc>
                <a:tc>
                  <a:txBody>
                    <a:bodyPr/>
                    <a:lstStyle/>
                    <a:p>
                      <a:pPr>
                        <a:defRPr sz="1200"/>
                      </a:pPr>
                      <a:r>
                        <a:t>`readonlyRootFilesystem: true`</a:t>
                      </a:r>
                    </a:p>
                  </a:txBody>
                  <a:tcPr>
                    <a:solidFill>
                      <a:srgbClr val="F2F3F4"/>
                    </a:solidFill>
                  </a:tcPr>
                </a:tc>
                <a:tc>
                  <a:txBody>
                    <a:bodyPr/>
                    <a:lstStyle/>
                    <a:p>
                      <a:pPr>
                        <a:defRPr sz="1200"/>
                      </a:pPr>
                      <a:r>
                        <a:t>Prevents file tampering</a:t>
                      </a:r>
                    </a:p>
                  </a:txBody>
                  <a:tcPr>
                    <a:solidFill>
                      <a:srgbClr val="F2F3F4"/>
                    </a:solidFill>
                  </a:tcPr>
                </a:tc>
              </a:tr>
              <a:tr h="365760">
                <a:tc>
                  <a:txBody>
                    <a:bodyPr/>
                    <a:lstStyle/>
                    <a:p>
                      <a:pPr>
                        <a:defRPr sz="1200"/>
                      </a:pPr>
                      <a:r>
                        <a:t>Minimal base images</a:t>
                      </a:r>
                    </a:p>
                  </a:txBody>
                  <a:tcPr/>
                </a:tc>
                <a:tc>
                  <a:txBody>
                    <a:bodyPr/>
                    <a:lstStyle/>
                    <a:p>
                      <a:pPr>
                        <a:defRPr sz="1200"/>
                      </a:pPr>
                      <a:r>
                        <a:t>Alpine or distroless</a:t>
                      </a:r>
                    </a:p>
                  </a:txBody>
                  <a:tcPr/>
                </a:tc>
                <a:tc>
                  <a:txBody>
                    <a:bodyPr/>
                    <a:lstStyle/>
                    <a:p>
                      <a:pPr>
                        <a:defRPr sz="1200"/>
                      </a:pPr>
                      <a:r>
                        <a:t>Reduces attack surface</a:t>
                      </a:r>
                    </a:p>
                  </a:txBody>
                  <a:tcPr/>
                </a:tc>
              </a:tr>
              <a:tr h="365760">
                <a:tc>
                  <a:txBody>
                    <a:bodyPr/>
                    <a:lstStyle/>
                    <a:p>
                      <a:pPr>
                        <a:defRPr sz="1200"/>
                      </a:pPr>
                      <a:r>
                        <a:t>Immutable tags</a:t>
                      </a:r>
                    </a:p>
                  </a:txBody>
                  <a:tcPr>
                    <a:solidFill>
                      <a:srgbClr val="F2F3F4"/>
                    </a:solidFill>
                  </a:tcPr>
                </a:tc>
                <a:tc>
                  <a:txBody>
                    <a:bodyPr/>
                    <a:lstStyle/>
                    <a:p>
                      <a:pPr>
                        <a:defRPr sz="1200"/>
                      </a:pPr>
                      <a:r>
                        <a:t>Use digest or unique tags</a:t>
                      </a:r>
                    </a:p>
                  </a:txBody>
                  <a:tcPr>
                    <a:solidFill>
                      <a:srgbClr val="F2F3F4"/>
                    </a:solidFill>
                  </a:tcPr>
                </a:tc>
                <a:tc>
                  <a:txBody>
                    <a:bodyPr/>
                    <a:lstStyle/>
                    <a:p>
                      <a:pPr>
                        <a:defRPr sz="1200"/>
                      </a:pPr>
                      <a:r>
                        <a:t>Ensures deploy consistency</a:t>
                      </a:r>
                    </a:p>
                  </a:txBody>
                  <a:tcPr>
                    <a:solidFill>
                      <a:srgbClr val="F2F3F4"/>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Containers package applications with dependencies for consistent deployment. They are lighter and faster than VMs, sharing the host OS kernel.</a:t>
            </a:r>
          </a:p>
          <a:p>
            <a:pPr>
              <a:defRPr sz="1800"/>
            </a:pPr>
            <a:r>
              <a:t>ECS orchestrates containers using clusters, task definitions, services, and tasks. Services maintain desired count and handle deployments automatically.</a:t>
            </a:r>
          </a:p>
          <a:p>
            <a:pPr>
              <a:defRPr sz="1800"/>
            </a:pPr>
            <a:r>
              <a:t>Fargate removes EC2 management for container workloads. Start with Fargate; move to EC2 only for GPU, custom OS, or cost optimization at scale.</a:t>
            </a:r>
          </a:p>
          <a:p>
            <a:pPr>
              <a:defRPr sz="1800"/>
            </a:pPr>
            <a:r>
              <a:t>ECS integrates with ALB for load balancing, service auto scaling for demand-based capacity, and ECR for secure image storage with lifecycle policies.</a:t>
            </a:r>
          </a:p>
          <a:p>
            <a:pPr>
              <a:defRPr sz="1800"/>
            </a:pPr>
            <a:r>
              <a:t>Follow container security best practices: non-root user, image scanning, secrets via Secrets Manager, read-only filesystems, and minimal base images.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deploying containers on ECS</a:t>
            </a:r>
          </a:p>
        </p:txBody>
      </p:sp>
      <p:sp>
        <p:nvSpPr>
          <p:cNvPr id="3" name="Content Placeholder 2"/>
          <p:cNvSpPr>
            <a:spLocks noGrp="1"/>
          </p:cNvSpPr>
          <p:nvPr>
            <p:ph idx="1"/>
          </p:nvPr>
        </p:nvSpPr>
        <p:spPr/>
        <p:txBody>
          <a:bodyPr/>
          <a:lstStyle/>
          <a:p>
            <a:pPr>
              <a:defRPr sz="1600"/>
            </a:pPr>
            <a:r>
              <a:t>Objective: Build a Docker image, push to ECR, create an ECS cluster and service on Fargate, and configure a rolling deployment</a:t>
            </a:r>
          </a:p>
          <a:p>
            <a:pPr>
              <a:defRPr sz="1600"/>
            </a:pPr>
            <a:r>
              <a:t>Key services: Amazon ECS, Amazon ECR, Fargate, ALB, VPC, IAM</a:t>
            </a:r>
          </a:p>
          <a:p>
            <a:pPr>
              <a:defRPr sz="1600"/>
            </a:pPr>
            <a:r>
              <a:t>Duration: 60 minutes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`modules/10-containers-ecs/resources.md`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