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08, the last module in Phase 2. This module covers SQS, SNS, EventBridge, and Step Functions. Breakdown: 10 min loose coupling, 15 min SQS, 10 min SNS, 10 min EventBridge, 10 min fan-out pattern, 10 min DLQs, 5 min Step Functions, 5 min decision framework and Q&amp;A.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Draw a tightly coupled architecture on the whiteboard, then show what happens when the backend fails. Introduce a queue between components.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Cover the basic workflow, queue types, visibility timeout, and long polling.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After 30 seconds, the visibility timeout expires and the message becomes visible again. Another consumer can pick it up, leading to duplicate processing. The fix: set the visibility timeout to at least 60 seconds (with buffer). This is a common misconfiguration that causes duplicate processing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Cover topics, subscriptions, and message filtering.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Cover event buses, rules, and event patterns.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Draw the fan-out architecture on the whiteboard.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Configure S3 event notification to publish to an SNS topic on object creation. Subscribe three SQS queues to the topic (one for thumbnail generation, one for database update, one for email). Each queue feeds an independent consumer. If the thumbnail service is slow, it does not block the email or database update. Each queue can have its own DLQ for error handling. This is the classic fan-out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Explain why DLQs are critical and how the redrive policy works.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5 minutes. Brief overview of state machines and when to use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5 minutes. Walk through the decision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Students will create a Standard queue with long polling, send and receive messages via CLI, create an SNS topic with email subscription, subscribe an SQS queue to the topic for fan-out, configure a DLQ with maxReceiveCount of 3, and set up a CloudWatch alarm on the DLQ. Remind students to confirm the email subscription.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involve when to use SQS vs SNS and how EventBridge differs from SNS. This completes Phase 2. Transition to the lab when 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08: Messaging and Integration Services</a:t>
            </a:r>
          </a:p>
        </p:txBody>
      </p:sp>
      <p:sp>
        <p:nvSpPr>
          <p:cNvPr id="3" name="Content Placeholder 2"/>
          <p:cNvSpPr>
            <a:spLocks noGrp="1"/>
          </p:cNvSpPr>
          <p:nvPr>
            <p:ph idx="1"/>
          </p:nvPr>
        </p:nvSpPr>
        <p:spPr/>
        <p:txBody>
          <a:bodyPr/>
          <a:lstStyle/>
          <a:p>
            <a:pPr>
              <a:defRPr sz="1600"/>
            </a:pPr>
            <a:r>
              <a:t>Phase 2: Core Services</a:t>
            </a:r>
          </a:p>
          <a:p>
            <a:pPr>
              <a:defRPr sz="1600"/>
            </a:pPr>
            <a:r>
              <a:t>Estimated lecture time: 75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Demonstrate the benefits of loose coupling and asynchronous communication</a:t>
            </a:r>
          </a:p>
          <a:p>
            <a:pPr>
              <a:defRPr sz="1800"/>
            </a:pPr>
            <a:r>
              <a:t>Configure SQS queues (Standard and FIFO) with visibility timeout and retention</a:t>
            </a:r>
          </a:p>
          <a:p>
            <a:pPr>
              <a:defRPr sz="1800"/>
            </a:pPr>
            <a:r>
              <a:t>Implement SNS topics with multiple subscription types and message filtering</a:t>
            </a:r>
          </a:p>
          <a:p>
            <a:pPr>
              <a:defRPr sz="1800"/>
            </a:pPr>
            <a:r>
              <a:t>Use EventBridge to route events using event buses, rules, and patterns</a:t>
            </a:r>
          </a:p>
          <a:p>
            <a:pPr>
              <a:defRPr sz="1800"/>
            </a:pPr>
            <a:r>
              <a:t>Set up a fan-out pattern (SNS to multiple SQS queues)</a:t>
            </a:r>
          </a:p>
          <a:p>
            <a:pPr>
              <a:defRPr sz="1800"/>
            </a:pPr>
            <a:r>
              <a:t>Configure dead-letter queues (DLQs) for failed messages</a:t>
            </a:r>
          </a:p>
          <a:p>
            <a:pPr>
              <a:defRPr sz="1800"/>
            </a:pPr>
            <a:r>
              <a:t>Demonstrate how Step Functions orchestrates multi-step workflows</a:t>
            </a:r>
          </a:p>
          <a:p>
            <a:pPr>
              <a:defRPr sz="1800"/>
            </a:pPr>
            <a:r>
              <a:t>Use a decision framework to choose SQS, SNS, or EventBridge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 02 (IAM), Module 04 (EC2 as producers/consumers), Module 05 (S3 event notifications)</a:t>
            </a:r>
          </a:p>
          <a:p>
            <a:pPr>
              <a:defRPr sz="1600"/>
            </a:pPr>
            <a:r>
              <a:t>Agenda:</a:t>
            </a:r>
          </a:p>
          <a:p>
            <a:pPr>
              <a:defRPr sz="1800"/>
            </a:pPr>
            <a:r>
              <a:t>Tight coupling vs. loose coupling</a:t>
            </a:r>
          </a:p>
          <a:p>
            <a:pPr>
              <a:defRPr sz="1800"/>
            </a:pPr>
            <a:r>
              <a:t>Amazon SQS: message queues</a:t>
            </a:r>
          </a:p>
          <a:p>
            <a:pPr>
              <a:defRPr sz="1800"/>
            </a:pPr>
            <a:r>
              <a:t>Amazon SNS: publish/subscribe</a:t>
            </a:r>
          </a:p>
          <a:p>
            <a:pPr>
              <a:defRPr sz="1800"/>
            </a:pPr>
            <a:r>
              <a:t>Amazon EventBridge: event routing</a:t>
            </a:r>
          </a:p>
          <a:p>
            <a:pPr>
              <a:defRPr sz="1800"/>
            </a:pPr>
            <a:r>
              <a:t>Fan-out pattern (SNS + SQS)</a:t>
            </a:r>
          </a:p>
          <a:p>
            <a:pPr>
              <a:defRPr sz="1800"/>
            </a:pPr>
            <a:r>
              <a:t>Dead-letter queues</a:t>
            </a:r>
          </a:p>
          <a:p>
            <a:pPr>
              <a:defRPr sz="1800"/>
            </a:pPr>
            <a:r>
              <a:t>AWS Step Functions</a:t>
            </a:r>
          </a:p>
          <a:p>
            <a:pPr>
              <a:defRPr sz="1800"/>
            </a:pPr>
            <a:r>
              <a:t>Choosing the right integration service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decouple?</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Tight coupling vs. loose coupling</a:t>
            </a:r>
          </a:p>
        </p:txBody>
      </p:sp>
      <p:sp>
        <p:nvSpPr>
          <p:cNvPr id="3" name="Content Placeholder 2"/>
          <p:cNvSpPr>
            <a:spLocks noGrp="1"/>
          </p:cNvSpPr>
          <p:nvPr>
            <p:ph idx="1"/>
          </p:nvPr>
        </p:nvSpPr>
        <p:spPr/>
        <p:txBody>
          <a:bodyPr/>
          <a:lstStyle/>
          <a:p>
            <a:pPr>
              <a:defRPr sz="1600"/>
            </a:pPr>
            <a:r>
              <a:t>Tight coupling: components call each other directly</a:t>
            </a:r>
          </a:p>
          <a:p>
            <a:pPr>
              <a:defRPr sz="1800"/>
            </a:pPr>
            <a:r>
              <a:t>If one fails, the failure cascades</a:t>
            </a:r>
          </a:p>
          <a:p>
            <a:pPr>
              <a:defRPr sz="1800"/>
            </a:pPr>
            <a:r>
              <a:t>Changes require coordinated deployments</a:t>
            </a:r>
          </a:p>
          <a:p>
            <a:pPr>
              <a:defRPr sz="1800"/>
            </a:pPr>
            <a:r>
              <a:t>Scaling one component does not help if the other is the bottleneck</a:t>
            </a:r>
          </a:p>
          <a:p>
            <a:pPr>
              <a:defRPr sz="1600"/>
            </a:pPr>
            <a:r>
              <a:t>Loose coupling: components communicate through a messaging layer</a:t>
            </a:r>
          </a:p>
          <a:p>
            <a:pPr>
              <a:defRPr sz="1800"/>
            </a:pPr>
            <a:r>
              <a:t>Fault isolation: messages wait in the queue until the consumer recovers</a:t>
            </a:r>
          </a:p>
          <a:p>
            <a:pPr>
              <a:defRPr sz="1800"/>
            </a:pPr>
            <a:r>
              <a:t>Independent scaling: scale producers and consumers separately</a:t>
            </a:r>
          </a:p>
          <a:p>
            <a:pPr>
              <a:defRPr sz="1800"/>
            </a:pPr>
            <a:r>
              <a:t>Async processing: producer sends and moves on immediately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SQS</a:t>
            </a:r>
          </a:p>
        </p:txBody>
      </p:sp>
      <p:sp>
        <p:nvSpPr>
          <p:cNvPr id="3" name="Text Placeholder 2"/>
          <p:cNvSpPr>
            <a:spLocks noGrp="1"/>
          </p:cNvSpPr>
          <p:nvPr>
            <p:ph type="body"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How SQS works</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aws sqs send-message \</a:t>
            </a:r>
            <a:br/>
            <a:r>
              <a:t>    --queue-url https://sqs.us-east-1.amazonaws.com/123456789012/my-queue \</a:t>
            </a:r>
            <a:br/>
            <a:r>
              <a:t>    --message-body "Order 12345 placed"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Standard vs. FIFO queues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Standard Queue</a:t>
                      </a:r>
                    </a:p>
                  </a:txBody>
                  <a:tcPr>
                    <a:solidFill>
                      <a:srgbClr val="232F3E"/>
                    </a:solidFill>
                  </a:tcPr>
                </a:tc>
                <a:tc>
                  <a:txBody>
                    <a:bodyPr/>
                    <a:lstStyle/>
                    <a:p>
                      <a:pPr>
                        <a:defRPr sz="1400" b="1">
                          <a:solidFill>
                            <a:srgbClr val="FFFFFF"/>
                          </a:solidFill>
                        </a:defRPr>
                      </a:pPr>
                      <a:r>
                        <a:t>FIFO Queue</a:t>
                      </a:r>
                    </a:p>
                  </a:txBody>
                  <a:tcPr>
                    <a:solidFill>
                      <a:srgbClr val="232F3E"/>
                    </a:solidFill>
                  </a:tcPr>
                </a:tc>
              </a:tr>
              <a:tr h="365760">
                <a:tc>
                  <a:txBody>
                    <a:bodyPr/>
                    <a:lstStyle/>
                    <a:p>
                      <a:pPr>
                        <a:defRPr sz="1200"/>
                      </a:pPr>
                      <a:r>
                        <a:t>Delivery</a:t>
                      </a:r>
                    </a:p>
                  </a:txBody>
                  <a:tcPr>
                    <a:solidFill>
                      <a:srgbClr val="F2F3F4"/>
                    </a:solidFill>
                  </a:tcPr>
                </a:tc>
                <a:tc>
                  <a:txBody>
                    <a:bodyPr/>
                    <a:lstStyle/>
                    <a:p>
                      <a:pPr>
                        <a:defRPr sz="1200"/>
                      </a:pPr>
                      <a:r>
                        <a:t>At-least-once</a:t>
                      </a:r>
                    </a:p>
                  </a:txBody>
                  <a:tcPr>
                    <a:solidFill>
                      <a:srgbClr val="F2F3F4"/>
                    </a:solidFill>
                  </a:tcPr>
                </a:tc>
                <a:tc>
                  <a:txBody>
                    <a:bodyPr/>
                    <a:lstStyle/>
                    <a:p>
                      <a:pPr>
                        <a:defRPr sz="1200"/>
                      </a:pPr>
                      <a:r>
                        <a:t>Exactly-once</a:t>
                      </a:r>
                    </a:p>
                  </a:txBody>
                  <a:tcPr>
                    <a:solidFill>
                      <a:srgbClr val="F2F3F4"/>
                    </a:solidFill>
                  </a:tcPr>
                </a:tc>
              </a:tr>
              <a:tr h="365760">
                <a:tc>
                  <a:txBody>
                    <a:bodyPr/>
                    <a:lstStyle/>
                    <a:p>
                      <a:pPr>
                        <a:defRPr sz="1200"/>
                      </a:pPr>
                      <a:r>
                        <a:t>Throughput</a:t>
                      </a:r>
                    </a:p>
                  </a:txBody>
                  <a:tcPr/>
                </a:tc>
                <a:tc>
                  <a:txBody>
                    <a:bodyPr/>
                    <a:lstStyle/>
                    <a:p>
                      <a:pPr>
                        <a:defRPr sz="1200"/>
                      </a:pPr>
                      <a:r>
                        <a:t>Nearly unlimited</a:t>
                      </a:r>
                    </a:p>
                  </a:txBody>
                  <a:tcPr/>
                </a:tc>
                <a:tc>
                  <a:txBody>
                    <a:bodyPr/>
                    <a:lstStyle/>
                    <a:p>
                      <a:pPr>
                        <a:defRPr sz="1200"/>
                      </a:pPr>
                      <a:r>
                        <a:t>Up to 3,000 msg/s with batching</a:t>
                      </a:r>
                    </a:p>
                  </a:txBody>
                  <a:tcPr/>
                </a:tc>
              </a:tr>
              <a:tr h="365760">
                <a:tc>
                  <a:txBody>
                    <a:bodyPr/>
                    <a:lstStyle/>
                    <a:p>
                      <a:pPr>
                        <a:defRPr sz="1200"/>
                      </a:pPr>
                      <a:r>
                        <a:t>Deduplication</a:t>
                      </a:r>
                    </a:p>
                  </a:txBody>
                  <a:tcPr>
                    <a:solidFill>
                      <a:srgbClr val="F2F3F4"/>
                    </a:solidFill>
                  </a:tcPr>
                </a:tc>
                <a:tc>
                  <a:txBody>
                    <a:bodyPr/>
                    <a:lstStyle/>
                    <a:p>
                      <a:pPr>
                        <a:defRPr sz="1200"/>
                      </a:pPr>
                      <a:r>
                        <a:t>None</a:t>
                      </a:r>
                    </a:p>
                  </a:txBody>
                  <a:tcPr>
                    <a:solidFill>
                      <a:srgbClr val="F2F3F4"/>
                    </a:solidFill>
                  </a:tcPr>
                </a:tc>
                <a:tc>
                  <a:txBody>
                    <a:bodyPr/>
                    <a:lstStyle/>
                    <a:p>
                      <a:pPr>
                        <a:defRPr sz="1200"/>
                      </a:pPr>
                      <a:r>
                        <a:t>Built-in</a:t>
                      </a:r>
                    </a:p>
                  </a:txBody>
                  <a:tcPr>
                    <a:solidFill>
                      <a:srgbClr val="F2F3F4"/>
                    </a:solidFill>
                  </a:tcPr>
                </a:tc>
              </a:tr>
              <a:tr h="365760">
                <a:tc>
                  <a:txBody>
                    <a:bodyPr/>
                    <a:lstStyle/>
                    <a:p>
                      <a:pPr>
                        <a:defRPr sz="1200"/>
                      </a:pPr>
                      <a:r>
                        <a:t>Queue name</a:t>
                      </a:r>
                    </a:p>
                  </a:txBody>
                  <a:tcPr/>
                </a:tc>
                <a:tc>
                  <a:txBody>
                    <a:bodyPr/>
                    <a:lstStyle/>
                    <a:p>
                      <a:pPr>
                        <a:defRPr sz="1200"/>
                      </a:pPr>
                      <a:r>
                        <a:t>Any valid name</a:t>
                      </a:r>
                    </a:p>
                  </a:txBody>
                  <a:tcPr/>
                </a:tc>
                <a:tc>
                  <a:txBody>
                    <a:bodyPr/>
                    <a:lstStyle/>
                    <a:p>
                      <a:pPr>
                        <a:defRPr sz="1200"/>
                      </a:pPr>
                      <a:r>
                        <a:t>Must end with `.fifo`</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Standard vs. FIFO queues</a:t>
            </a:r>
          </a:p>
        </p:txBody>
      </p:sp>
      <p:sp>
        <p:nvSpPr>
          <p:cNvPr id="3" name="Content Placeholder 2"/>
          <p:cNvSpPr>
            <a:spLocks noGrp="1"/>
          </p:cNvSpPr>
          <p:nvPr>
            <p:ph idx="1"/>
          </p:nvPr>
        </p:nvSpPr>
        <p:spPr/>
        <p:txBody>
          <a:bodyPr/>
          <a:lstStyle/>
          <a:p>
            <a:pPr>
              <a:defRPr sz="1400" i="1">
                <a:solidFill>
                  <a:srgbClr val="555555"/>
                </a:solidFill>
              </a:defRPr>
            </a:pPr>
            <a:r>
              <a:t>Start with Standard unless you need strict ordering or exactly-once processing.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Visibility timeout and long polling</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Polling Type</a:t>
                      </a:r>
                    </a:p>
                  </a:txBody>
                  <a:tcPr>
                    <a:solidFill>
                      <a:srgbClr val="232F3E"/>
                    </a:solidFill>
                  </a:tcPr>
                </a:tc>
                <a:tc>
                  <a:txBody>
                    <a:bodyPr/>
                    <a:lstStyle/>
                    <a:p>
                      <a:pPr>
                        <a:defRPr sz="1400" b="1">
                          <a:solidFill>
                            <a:srgbClr val="FFFFFF"/>
                          </a:solidFill>
                        </a:defRPr>
                      </a:pPr>
                      <a:r>
                        <a:t>Wait Time</a:t>
                      </a:r>
                    </a:p>
                  </a:txBody>
                  <a:tcPr>
                    <a:solidFill>
                      <a:srgbClr val="232F3E"/>
                    </a:solidFill>
                  </a:tcPr>
                </a:tc>
                <a:tc>
                  <a:txBody>
                    <a:bodyPr/>
                    <a:lstStyle/>
                    <a:p>
                      <a:pPr>
                        <a:defRPr sz="1400" b="1">
                          <a:solidFill>
                            <a:srgbClr val="FFFFFF"/>
                          </a:solidFill>
                        </a:defRPr>
                      </a:pPr>
                      <a:r>
                        <a:t>Empty Responses</a:t>
                      </a:r>
                    </a:p>
                  </a:txBody>
                  <a:tcPr>
                    <a:solidFill>
                      <a:srgbClr val="232F3E"/>
                    </a:solidFill>
                  </a:tcPr>
                </a:tc>
                <a:tc>
                  <a:txBody>
                    <a:bodyPr/>
                    <a:lstStyle/>
                    <a:p>
                      <a:pPr>
                        <a:defRPr sz="1400" b="1">
                          <a:solidFill>
                            <a:srgbClr val="FFFFFF"/>
                          </a:solidFill>
                        </a:defRPr>
                      </a:pPr>
                      <a:r>
                        <a:t>Cost</a:t>
                      </a:r>
                    </a:p>
                  </a:txBody>
                  <a:tcPr>
                    <a:solidFill>
                      <a:srgbClr val="232F3E"/>
                    </a:solidFill>
                  </a:tcPr>
                </a:tc>
              </a:tr>
              <a:tr h="365760">
                <a:tc>
                  <a:txBody>
                    <a:bodyPr/>
                    <a:lstStyle/>
                    <a:p>
                      <a:pPr>
                        <a:defRPr sz="1200"/>
                      </a:pPr>
                      <a:r>
                        <a:t>Long</a:t>
                      </a:r>
                    </a:p>
                  </a:txBody>
                  <a:tcPr>
                    <a:solidFill>
                      <a:srgbClr val="F2F3F4"/>
                    </a:solidFill>
                  </a:tcPr>
                </a:tc>
                <a:tc>
                  <a:txBody>
                    <a:bodyPr/>
                    <a:lstStyle/>
                    <a:p>
                      <a:pPr>
                        <a:defRPr sz="1200"/>
                      </a:pPr>
                      <a:r>
                        <a:t>1-20 seconds</a:t>
                      </a:r>
                    </a:p>
                  </a:txBody>
                  <a:tcPr>
                    <a:solidFill>
                      <a:srgbClr val="F2F3F4"/>
                    </a:solidFill>
                  </a:tcPr>
                </a:tc>
                <a:tc>
                  <a:txBody>
                    <a:bodyPr/>
                    <a:lstStyle/>
                    <a:p>
                      <a:pPr>
                        <a:defRPr sz="1200"/>
                      </a:pPr>
                      <a:r>
                        <a:t>Rare</a:t>
                      </a:r>
                    </a:p>
                  </a:txBody>
                  <a:tcPr>
                    <a:solidFill>
                      <a:srgbClr val="F2F3F4"/>
                    </a:solidFill>
                  </a:tcPr>
                </a:tc>
                <a:tc>
                  <a:txBody>
                    <a:bodyPr/>
                    <a:lstStyle/>
                    <a:p>
                      <a:pPr>
                        <a:defRPr sz="1200"/>
                      </a:pPr>
                      <a:r>
                        <a:t>Lower</a:t>
                      </a:r>
                    </a:p>
                  </a:txBody>
                  <a:tcPr>
                    <a:solidFill>
                      <a:srgbClr val="F2F3F4"/>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Visibility timeout and long polling</a:t>
            </a:r>
          </a:p>
        </p:txBody>
      </p:sp>
      <p:sp>
        <p:nvSpPr>
          <p:cNvPr id="3" name="Content Placeholder 2"/>
          <p:cNvSpPr>
            <a:spLocks noGrp="1"/>
          </p:cNvSpPr>
          <p:nvPr>
            <p:ph idx="1"/>
          </p:nvPr>
        </p:nvSpPr>
        <p:spPr/>
        <p:txBody>
          <a:bodyPr/>
          <a:lstStyle/>
          <a:p>
            <a:pPr>
              <a:defRPr sz="1800"/>
            </a:pPr>
            <a:r>
              <a:t>Visibility timeout: hides a message from other consumers while one processes it (default 30s, max 12h)</a:t>
            </a:r>
          </a:p>
          <a:p>
            <a:pPr>
              <a:defRPr sz="1800"/>
            </a:pPr>
            <a:r>
              <a:t>Set it longer than your expected processing time</a:t>
            </a:r>
          </a:p>
          <a:p>
            <a:pPr>
              <a:defRPr sz="1800"/>
            </a:pPr>
            <a:r>
              <a:t>Long polling: waits up to 20s for messages before returning empty (reduces costs)</a:t>
            </a:r>
          </a:p>
          <a:p>
            <a:pPr>
              <a:defRPr sz="1800"/>
            </a:pPr>
            <a:r>
              <a:t>Short polling: returns immediately, may miss messages</a:t>
            </a:r>
          </a:p>
          <a:p>
            <a:pPr>
              <a:defRPr sz="1400" i="1">
                <a:solidFill>
                  <a:srgbClr val="555555"/>
                </a:solidFill>
              </a:defRPr>
            </a:pPr>
            <a:r>
              <a:t>Always use long polling unless you have a specific reason not 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SQS visibility timeout</a:t>
            </a:r>
          </a:p>
        </p:txBody>
      </p:sp>
      <p:sp>
        <p:nvSpPr>
          <p:cNvPr id="3" name="Content Placeholder 2"/>
          <p:cNvSpPr>
            <a:spLocks noGrp="1"/>
          </p:cNvSpPr>
          <p:nvPr>
            <p:ph idx="1"/>
          </p:nvPr>
        </p:nvSpPr>
        <p:spPr/>
        <p:txBody>
          <a:bodyPr/>
          <a:lstStyle/>
          <a:p>
            <a:pPr>
              <a:defRPr sz="1600"/>
            </a:pPr>
            <a:r>
              <a:t>A consumer receives a message and begins processing. The visibility timeout is 30 seconds, but processing takes 60 seconds.</a:t>
            </a:r>
          </a:p>
          <a:p>
            <a:pPr>
              <a:defRPr sz="1600"/>
            </a:pPr>
            <a:r>
              <a:t>What happens?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SNS</a:t>
            </a:r>
          </a:p>
        </p:txBody>
      </p:sp>
      <p:sp>
        <p:nvSpPr>
          <p:cNvPr id="3" name="Text Placeholder 2"/>
          <p:cNvSpPr>
            <a:spLocks noGrp="1"/>
          </p:cNvSpPr>
          <p:nvPr>
            <p:ph type="body"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SNS: publish/subscribe messaging</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aws sns create-topic --name my-topic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SNS message filtering</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t>
            </a:r>
            <a:br/>
            <a:r>
              <a:t>    "order_priority": ["high"]</a:t>
            </a:r>
            <a:br/>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SQS vs. SNS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Amazon SQS</a:t>
                      </a:r>
                    </a:p>
                  </a:txBody>
                  <a:tcPr>
                    <a:solidFill>
                      <a:srgbClr val="232F3E"/>
                    </a:solidFill>
                  </a:tcPr>
                </a:tc>
                <a:tc>
                  <a:txBody>
                    <a:bodyPr/>
                    <a:lstStyle/>
                    <a:p>
                      <a:pPr>
                        <a:defRPr sz="1400" b="1">
                          <a:solidFill>
                            <a:srgbClr val="FFFFFF"/>
                          </a:solidFill>
                        </a:defRPr>
                      </a:pPr>
                      <a:r>
                        <a:t>Amazon SNS</a:t>
                      </a:r>
                    </a:p>
                  </a:txBody>
                  <a:tcPr>
                    <a:solidFill>
                      <a:srgbClr val="232F3E"/>
                    </a:solidFill>
                  </a:tcPr>
                </a:tc>
              </a:tr>
              <a:tr h="365760">
                <a:tc>
                  <a:txBody>
                    <a:bodyPr/>
                    <a:lstStyle/>
                    <a:p>
                      <a:pPr>
                        <a:defRPr sz="1200"/>
                      </a:pPr>
                      <a:r>
                        <a:t>Consumers</a:t>
                      </a:r>
                    </a:p>
                  </a:txBody>
                  <a:tcPr>
                    <a:solidFill>
                      <a:srgbClr val="F2F3F4"/>
                    </a:solidFill>
                  </a:tcPr>
                </a:tc>
                <a:tc>
                  <a:txBody>
                    <a:bodyPr/>
                    <a:lstStyle/>
                    <a:p>
                      <a:pPr>
                        <a:defRPr sz="1200"/>
                      </a:pPr>
                      <a:r>
                        <a:t>One per message</a:t>
                      </a:r>
                    </a:p>
                  </a:txBody>
                  <a:tcPr>
                    <a:solidFill>
                      <a:srgbClr val="F2F3F4"/>
                    </a:solidFill>
                  </a:tcPr>
                </a:tc>
                <a:tc>
                  <a:txBody>
                    <a:bodyPr/>
                    <a:lstStyle/>
                    <a:p>
                      <a:pPr>
                        <a:defRPr sz="1200"/>
                      </a:pPr>
                      <a:r>
                        <a:t>Multiple subscribers</a:t>
                      </a:r>
                    </a:p>
                  </a:txBody>
                  <a:tcPr>
                    <a:solidFill>
                      <a:srgbClr val="F2F3F4"/>
                    </a:solidFill>
                  </a:tcPr>
                </a:tc>
              </a:tr>
              <a:tr h="365760">
                <a:tc>
                  <a:txBody>
                    <a:bodyPr/>
                    <a:lstStyle/>
                    <a:p>
                      <a:pPr>
                        <a:defRPr sz="1200"/>
                      </a:pPr>
                      <a:r>
                        <a:t>Persistence</a:t>
                      </a:r>
                    </a:p>
                  </a:txBody>
                  <a:tcPr/>
                </a:tc>
                <a:tc>
                  <a:txBody>
                    <a:bodyPr/>
                    <a:lstStyle/>
                    <a:p>
                      <a:pPr>
                        <a:defRPr sz="1200"/>
                      </a:pPr>
                      <a:r>
                        <a:t>Yes (up to 14 days)</a:t>
                      </a:r>
                    </a:p>
                  </a:txBody>
                  <a:tcPr/>
                </a:tc>
                <a:tc>
                  <a:txBody>
                    <a:bodyPr/>
                    <a:lstStyle/>
                    <a:p>
                      <a:pPr>
                        <a:defRPr sz="1200"/>
                      </a:pPr>
                      <a:r>
                        <a:t>No (immediate delivery)</a:t>
                      </a:r>
                    </a:p>
                  </a:txBody>
                  <a:tcPr/>
                </a:tc>
              </a:tr>
              <a:tr h="365760">
                <a:tc>
                  <a:txBody>
                    <a:bodyPr/>
                    <a:lstStyle/>
                    <a:p>
                      <a:pPr>
                        <a:defRPr sz="1200"/>
                      </a:pPr>
                      <a:r>
                        <a:t>Use case</a:t>
                      </a:r>
                    </a:p>
                  </a:txBody>
                  <a:tcPr>
                    <a:solidFill>
                      <a:srgbClr val="F2F3F4"/>
                    </a:solidFill>
                  </a:tcPr>
                </a:tc>
                <a:tc>
                  <a:txBody>
                    <a:bodyPr/>
                    <a:lstStyle/>
                    <a:p>
                      <a:pPr>
                        <a:defRPr sz="1200"/>
                      </a:pPr>
                      <a:r>
                        <a:t>Point-to-point, work queues</a:t>
                      </a:r>
                    </a:p>
                  </a:txBody>
                  <a:tcPr>
                    <a:solidFill>
                      <a:srgbClr val="F2F3F4"/>
                    </a:solidFill>
                  </a:tcPr>
                </a:tc>
                <a:tc>
                  <a:txBody>
                    <a:bodyPr/>
                    <a:lstStyle/>
                    <a:p>
                      <a:pPr>
                        <a:defRPr sz="1200"/>
                      </a:pPr>
                      <a:r>
                        <a:t>Fan-out, notifications</a:t>
                      </a:r>
                    </a:p>
                  </a:txBody>
                  <a:tcPr>
                    <a:solidFill>
                      <a:srgbClr val="F2F3F4"/>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SQS vs. SNS</a:t>
            </a:r>
          </a:p>
        </p:txBody>
      </p:sp>
      <p:sp>
        <p:nvSpPr>
          <p:cNvPr id="3" name="Content Placeholder 2"/>
          <p:cNvSpPr>
            <a:spLocks noGrp="1"/>
          </p:cNvSpPr>
          <p:nvPr>
            <p:ph idx="1"/>
          </p:nvPr>
        </p:nvSpPr>
        <p:spPr/>
        <p:txBody>
          <a:bodyPr/>
          <a:lstStyle/>
          <a:p>
            <a:pPr>
              <a:defRPr sz="1400" i="1">
                <a:solidFill>
                  <a:srgbClr val="555555"/>
                </a:solidFill>
              </a:defRPr>
            </a:pPr>
            <a:r>
              <a:t>SQS and SNS are complementary. A common pattern combines both for buffered fan-out.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EventBridge</a:t>
            </a:r>
          </a:p>
        </p:txBody>
      </p:sp>
      <p:sp>
        <p:nvSpPr>
          <p:cNvPr id="3" name="Text Placeholder 2"/>
          <p:cNvSpPr>
            <a:spLocks noGrp="1"/>
          </p:cNvSpPr>
          <p:nvPr>
            <p:ph type="body"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EventBridge: event-driven routing</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t>
            </a:r>
            <a:br/>
            <a:r>
              <a:t>    "source": ["aws.ec2"],</a:t>
            </a:r>
            <a:br/>
            <a:r>
              <a:t>    "detail-type": ["EC2 Instance State-change Notification"],</a:t>
            </a:r>
            <a:br/>
            <a:r>
              <a:t>    "detail": {</a:t>
            </a:r>
            <a:br/>
            <a:r>
              <a:t>        "state": ["stopped", "terminated"]</a:t>
            </a:r>
            <a:br/>
            <a:r>
              <a:t>    }</a:t>
            </a:r>
            <a:b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EventBridge vs. SNS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Amazon SNS</a:t>
                      </a:r>
                    </a:p>
                  </a:txBody>
                  <a:tcPr>
                    <a:solidFill>
                      <a:srgbClr val="232F3E"/>
                    </a:solidFill>
                  </a:tcPr>
                </a:tc>
                <a:tc>
                  <a:txBody>
                    <a:bodyPr/>
                    <a:lstStyle/>
                    <a:p>
                      <a:pPr>
                        <a:defRPr sz="1400" b="1">
                          <a:solidFill>
                            <a:srgbClr val="FFFFFF"/>
                          </a:solidFill>
                        </a:defRPr>
                      </a:pPr>
                      <a:r>
                        <a:t>Amazon EventBridge</a:t>
                      </a:r>
                    </a:p>
                  </a:txBody>
                  <a:tcPr>
                    <a:solidFill>
                      <a:srgbClr val="232F3E"/>
                    </a:solidFill>
                  </a:tcPr>
                </a:tc>
              </a:tr>
              <a:tr h="365760">
                <a:tc>
                  <a:txBody>
                    <a:bodyPr/>
                    <a:lstStyle/>
                    <a:p>
                      <a:pPr>
                        <a:defRPr sz="1200"/>
                      </a:pPr>
                      <a:r>
                        <a:t>Filtering</a:t>
                      </a:r>
                    </a:p>
                  </a:txBody>
                  <a:tcPr>
                    <a:solidFill>
                      <a:srgbClr val="F2F3F4"/>
                    </a:solidFill>
                  </a:tcPr>
                </a:tc>
                <a:tc>
                  <a:txBody>
                    <a:bodyPr/>
                    <a:lstStyle/>
                    <a:p>
                      <a:pPr>
                        <a:defRPr sz="1200"/>
                      </a:pPr>
                      <a:r>
                        <a:t>Basic attribute filtering</a:t>
                      </a:r>
                    </a:p>
                  </a:txBody>
                  <a:tcPr>
                    <a:solidFill>
                      <a:srgbClr val="F2F3F4"/>
                    </a:solidFill>
                  </a:tcPr>
                </a:tc>
                <a:tc>
                  <a:txBody>
                    <a:bodyPr/>
                    <a:lstStyle/>
                    <a:p>
                      <a:pPr>
                        <a:defRPr sz="1200"/>
                      </a:pPr>
                      <a:r>
                        <a:t>Rich pattern matching</a:t>
                      </a:r>
                    </a:p>
                  </a:txBody>
                  <a:tcPr>
                    <a:solidFill>
                      <a:srgbClr val="F2F3F4"/>
                    </a:solidFill>
                  </a:tcPr>
                </a:tc>
              </a:tr>
              <a:tr h="365760">
                <a:tc>
                  <a:txBody>
                    <a:bodyPr/>
                    <a:lstStyle/>
                    <a:p>
                      <a:pPr>
                        <a:defRPr sz="1200"/>
                      </a:pPr>
                      <a:r>
                        <a:t>AWS service events</a:t>
                      </a:r>
                    </a:p>
                  </a:txBody>
                  <a:tcPr/>
                </a:tc>
                <a:tc>
                  <a:txBody>
                    <a:bodyPr/>
                    <a:lstStyle/>
                    <a:p>
                      <a:pPr>
                        <a:defRPr sz="1200"/>
                      </a:pPr>
                      <a:r>
                        <a:t>Must publish explicitly</a:t>
                      </a:r>
                    </a:p>
                  </a:txBody>
                  <a:tcPr/>
                </a:tc>
                <a:tc>
                  <a:txBody>
                    <a:bodyPr/>
                    <a:lstStyle/>
                    <a:p>
                      <a:pPr>
                        <a:defRPr sz="1200"/>
                      </a:pPr>
                      <a:r>
                        <a:t>Automatic from 100+ services</a:t>
                      </a:r>
                    </a:p>
                  </a:txBody>
                  <a:tcPr/>
                </a:tc>
              </a:tr>
              <a:tr h="365760">
                <a:tc>
                  <a:txBody>
                    <a:bodyPr/>
                    <a:lstStyle/>
                    <a:p>
                      <a:pPr>
                        <a:defRPr sz="1200"/>
                      </a:pPr>
                      <a:r>
                        <a:t>Schema support</a:t>
                      </a:r>
                    </a:p>
                  </a:txBody>
                  <a:tcPr>
                    <a:solidFill>
                      <a:srgbClr val="F2F3F4"/>
                    </a:solidFill>
                  </a:tcPr>
                </a:tc>
                <a:tc>
                  <a:txBody>
                    <a:bodyPr/>
                    <a:lstStyle/>
                    <a:p>
                      <a:pPr>
                        <a:defRPr sz="1200"/>
                      </a:pPr>
                      <a:r>
                        <a:t>No</a:t>
                      </a:r>
                    </a:p>
                  </a:txBody>
                  <a:tcPr>
                    <a:solidFill>
                      <a:srgbClr val="F2F3F4"/>
                    </a:solidFill>
                  </a:tcPr>
                </a:tc>
                <a:tc>
                  <a:txBody>
                    <a:bodyPr/>
                    <a:lstStyle/>
                    <a:p>
                      <a:pPr>
                        <a:defRPr sz="1200"/>
                      </a:pPr>
                      <a:r>
                        <a:t>Yes (schema registry)</a:t>
                      </a:r>
                    </a:p>
                  </a:txBody>
                  <a:tcPr>
                    <a:solidFill>
                      <a:srgbClr val="F2F3F4"/>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EventBridge vs. SNS</a:t>
            </a:r>
          </a:p>
        </p:txBody>
      </p:sp>
      <p:sp>
        <p:nvSpPr>
          <p:cNvPr id="3" name="Content Placeholder 2"/>
          <p:cNvSpPr>
            <a:spLocks noGrp="1"/>
          </p:cNvSpPr>
          <p:nvPr>
            <p:ph idx="1"/>
          </p:nvPr>
        </p:nvSpPr>
        <p:spPr/>
        <p:txBody>
          <a:bodyPr/>
          <a:lstStyle/>
          <a:p>
            <a:pPr>
              <a:defRPr sz="1400" i="1">
                <a:solidFill>
                  <a:srgbClr val="555555"/>
                </a:solidFill>
              </a:defRPr>
            </a:pPr>
            <a:r>
              <a:t>Use SNS for simple fan-out. Use EventBridge for complex routing and AWS service events.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Fan-out pattern</a:t>
            </a:r>
          </a:p>
        </p:txBody>
      </p:sp>
      <p:sp>
        <p:nvSpPr>
          <p:cNvPr id="3" name="Text Placeholder 2"/>
          <p:cNvSpPr>
            <a:spLocks noGrp="1"/>
          </p:cNvSpPr>
          <p:nvPr>
            <p:ph type="body"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SNS + SQS fan-out</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Producer --&gt; SNS Topic --&gt; SQS Queue A --&gt; Consumer A (fulfillment)</a:t>
            </a:r>
            <a:br/>
            <a:r>
              <a:t>                       --&gt; SQS Queue B --&gt; Consumer B (analytics)</a:t>
            </a:r>
            <a:br/>
            <a:r>
              <a:t>                       --&gt; SQS Queue C --&gt; Consumer C (notifications)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designing an event-driven architecture</a:t>
            </a:r>
          </a:p>
        </p:txBody>
      </p:sp>
      <p:sp>
        <p:nvSpPr>
          <p:cNvPr id="3" name="Content Placeholder 2"/>
          <p:cNvSpPr>
            <a:spLocks noGrp="1"/>
          </p:cNvSpPr>
          <p:nvPr>
            <p:ph idx="1"/>
          </p:nvPr>
        </p:nvSpPr>
        <p:spPr/>
        <p:txBody>
          <a:bodyPr/>
          <a:lstStyle/>
          <a:p>
            <a:pPr>
              <a:defRPr sz="1600"/>
            </a:pPr>
            <a:r>
              <a:t>When a customer uploads a profile photo to S3, three things must happen: generate a thumbnail, update the user database, and send a confirmation email.</a:t>
            </a:r>
          </a:p>
          <a:p>
            <a:pPr>
              <a:defRPr sz="1600"/>
            </a:pPr>
            <a:r>
              <a:t>How would you design this using SNS and SQS?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Dead-letter queues</a:t>
            </a:r>
          </a:p>
        </p:txBody>
      </p:sp>
      <p:sp>
        <p:nvSpPr>
          <p:cNvPr id="3" name="Text Placeholder 2"/>
          <p:cNvSpPr>
            <a:spLocks noGrp="1"/>
          </p:cNvSpPr>
          <p:nvPr>
            <p:ph type="body"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Why DLQs matter</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aws sqs set-queue-attributes \</a:t>
            </a:r>
            <a:br/>
            <a:r>
              <a:t>    --queue-url https://sqs.../my-queue \</a:t>
            </a:r>
            <a:br/>
            <a:r>
              <a:t>    --attributes '{</a:t>
            </a:r>
            <a:br/>
            <a:r>
              <a:t>      "RedrivePolicy": "{\"deadLetterTargetArn\":\"arn:aws:sqs:...:my-dlq\",\"maxReceiveCount\":\"3\"}"</a:t>
            </a:r>
            <a:br/>
            <a:r>
              <a: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Step Functions</a:t>
            </a:r>
          </a:p>
        </p:txBody>
      </p:sp>
      <p:sp>
        <p:nvSpPr>
          <p:cNvPr id="3" name="Text Placeholder 2"/>
          <p:cNvSpPr>
            <a:spLocks noGrp="1"/>
          </p:cNvSpPr>
          <p:nvPr>
            <p:ph type="body" idx="1"/>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Orchestrating multi-step workflows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State Type</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Choice</a:t>
                      </a:r>
                    </a:p>
                  </a:txBody>
                  <a:tcPr>
                    <a:solidFill>
                      <a:srgbClr val="F2F3F4"/>
                    </a:solidFill>
                  </a:tcPr>
                </a:tc>
                <a:tc>
                  <a:txBody>
                    <a:bodyPr/>
                    <a:lstStyle/>
                    <a:p>
                      <a:pPr>
                        <a:defRPr sz="1200"/>
                      </a:pPr>
                      <a:r>
                        <a:t>Branch based on input values</a:t>
                      </a:r>
                    </a:p>
                  </a:txBody>
                  <a:tcPr>
                    <a:solidFill>
                      <a:srgbClr val="F2F3F4"/>
                    </a:solidFill>
                  </a:tcPr>
                </a:tc>
              </a:tr>
              <a:tr h="365760">
                <a:tc>
                  <a:txBody>
                    <a:bodyPr/>
                    <a:lstStyle/>
                    <a:p>
                      <a:pPr>
                        <a:defRPr sz="1200"/>
                      </a:pPr>
                      <a:r>
                        <a:t>Parallel</a:t>
                      </a:r>
                    </a:p>
                  </a:txBody>
                  <a:tcPr/>
                </a:tc>
                <a:tc>
                  <a:txBody>
                    <a:bodyPr/>
                    <a:lstStyle/>
                    <a:p>
                      <a:pPr>
                        <a:defRPr sz="1200"/>
                      </a:pPr>
                      <a:r>
                        <a:t>Run multiple branches simultaneously</a:t>
                      </a:r>
                    </a:p>
                  </a:txBody>
                  <a:tcPr/>
                </a:tc>
              </a:tr>
              <a:tr h="365760">
                <a:tc>
                  <a:txBody>
                    <a:bodyPr/>
                    <a:lstStyle/>
                    <a:p>
                      <a:pPr>
                        <a:defRPr sz="1200"/>
                      </a:pPr>
                      <a:r>
                        <a:t>Wait</a:t>
                      </a:r>
                    </a:p>
                  </a:txBody>
                  <a:tcPr>
                    <a:solidFill>
                      <a:srgbClr val="F2F3F4"/>
                    </a:solidFill>
                  </a:tcPr>
                </a:tc>
                <a:tc>
                  <a:txBody>
                    <a:bodyPr/>
                    <a:lstStyle/>
                    <a:p>
                      <a:pPr>
                        <a:defRPr sz="1200"/>
                      </a:pPr>
                      <a:r>
                        <a:t>Pause for a specified time</a:t>
                      </a:r>
                    </a:p>
                  </a:txBody>
                  <a:tcPr>
                    <a:solidFill>
                      <a:srgbClr val="F2F3F4"/>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Orchestrating multi-step workflows</a:t>
            </a:r>
          </a:p>
        </p:txBody>
      </p:sp>
      <p:sp>
        <p:nvSpPr>
          <p:cNvPr id="3" name="Content Placeholder 2"/>
          <p:cNvSpPr>
            <a:spLocks noGrp="1"/>
          </p:cNvSpPr>
          <p:nvPr>
            <p:ph idx="1"/>
          </p:nvPr>
        </p:nvSpPr>
        <p:spPr/>
        <p:txBody>
          <a:bodyPr/>
          <a:lstStyle/>
          <a:p>
            <a:pPr>
              <a:defRPr sz="1800"/>
            </a:pPr>
            <a:r>
              <a:t>Coordinates multiple AWS services into workflows</a:t>
            </a:r>
          </a:p>
          <a:p>
            <a:pPr>
              <a:defRPr sz="1800"/>
            </a:pPr>
            <a:r>
              <a:t>Defined as a state machine with states and transitions</a:t>
            </a:r>
          </a:p>
          <a:p>
            <a:pPr>
              <a:defRPr sz="1800"/>
            </a:pPr>
            <a:r>
              <a:t>Built-in retry, error handling, and branching logic</a:t>
            </a:r>
          </a:p>
          <a:p>
            <a:pPr>
              <a:defRPr sz="1400" i="1">
                <a:solidFill>
                  <a:srgbClr val="555555"/>
                </a:solidFill>
              </a:defRPr>
            </a:pPr>
            <a:r>
              <a:t>Think of Step Functions as the conductor of an orchestra, ensuring each service plays its part in the right order.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the right service</a:t>
            </a:r>
          </a:p>
        </p:txBody>
      </p:sp>
      <p:sp>
        <p:nvSpPr>
          <p:cNvPr id="3" name="Text Placeholder 2"/>
          <p:cNvSpPr>
            <a:spLocks noGrp="1"/>
          </p:cNvSpPr>
          <p:nvPr>
            <p:ph type="body" idx="1"/>
          </p:nvPr>
        </p:nvSpPr>
        <p:spPr/>
        <p:txBody>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Integration service decision framework</a:t>
            </a:r>
          </a:p>
        </p:txBody>
      </p:sp>
      <p:graphicFrame>
        <p:nvGraphicFramePr>
          <p:cNvPr id="4" name="Table 3"/>
          <p:cNvGraphicFramePr>
            <a:graphicFrameLocks noGrp="1"/>
          </p:cNvGraphicFramePr>
          <p:nvPr/>
        </p:nvGraphicFramePr>
        <p:xfrm>
          <a:off x="457200" y="1097280"/>
          <a:ext cx="8229600" cy="256032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Requirement</a:t>
                      </a:r>
                    </a:p>
                  </a:txBody>
                  <a:tcPr>
                    <a:solidFill>
                      <a:srgbClr val="232F3E"/>
                    </a:solidFill>
                  </a:tcPr>
                </a:tc>
                <a:tc>
                  <a:txBody>
                    <a:bodyPr/>
                    <a:lstStyle/>
                    <a:p>
                      <a:pPr>
                        <a:defRPr sz="1400" b="1">
                          <a:solidFill>
                            <a:srgbClr val="FFFFFF"/>
                          </a:solidFill>
                        </a:defRPr>
                      </a:pPr>
                      <a:r>
                        <a:t>Service</a:t>
                      </a:r>
                    </a:p>
                  </a:txBody>
                  <a:tcPr>
                    <a:solidFill>
                      <a:srgbClr val="232F3E"/>
                    </a:solidFill>
                  </a:tcPr>
                </a:tc>
              </a:tr>
              <a:tr h="365760">
                <a:tc>
                  <a:txBody>
                    <a:bodyPr/>
                    <a:lstStyle/>
                    <a:p>
                      <a:pPr>
                        <a:defRPr sz="1200"/>
                      </a:pPr>
                      <a:r>
                        <a:t>One event, multiple consumers</a:t>
                      </a:r>
                    </a:p>
                  </a:txBody>
                  <a:tcPr>
                    <a:solidFill>
                      <a:srgbClr val="F2F3F4"/>
                    </a:solidFill>
                  </a:tcPr>
                </a:tc>
                <a:tc>
                  <a:txBody>
                    <a:bodyPr/>
                    <a:lstStyle/>
                    <a:p>
                      <a:pPr>
                        <a:defRPr sz="1200"/>
                      </a:pPr>
                      <a:r>
                        <a:t>SNS (+ SQS)</a:t>
                      </a:r>
                    </a:p>
                  </a:txBody>
                  <a:tcPr>
                    <a:solidFill>
                      <a:srgbClr val="F2F3F4"/>
                    </a:solidFill>
                  </a:tcPr>
                </a:tc>
              </a:tr>
              <a:tr h="365760">
                <a:tc>
                  <a:txBody>
                    <a:bodyPr/>
                    <a:lstStyle/>
                    <a:p>
                      <a:pPr>
                        <a:defRPr sz="1200"/>
                      </a:pPr>
                      <a:r>
                        <a:t>Route events by content</a:t>
                      </a:r>
                    </a:p>
                  </a:txBody>
                  <a:tcPr/>
                </a:tc>
                <a:tc>
                  <a:txBody>
                    <a:bodyPr/>
                    <a:lstStyle/>
                    <a:p>
                      <a:pPr>
                        <a:defRPr sz="1200"/>
                      </a:pPr>
                      <a:r>
                        <a:t>EventBridge</a:t>
                      </a:r>
                    </a:p>
                  </a:txBody>
                  <a:tcPr/>
                </a:tc>
              </a:tr>
              <a:tr h="365760">
                <a:tc>
                  <a:txBody>
                    <a:bodyPr/>
                    <a:lstStyle/>
                    <a:p>
                      <a:pPr>
                        <a:defRPr sz="1200"/>
                      </a:pPr>
                      <a:r>
                        <a:t>React to AWS service events</a:t>
                      </a:r>
                    </a:p>
                  </a:txBody>
                  <a:tcPr>
                    <a:solidFill>
                      <a:srgbClr val="F2F3F4"/>
                    </a:solidFill>
                  </a:tcPr>
                </a:tc>
                <a:tc>
                  <a:txBody>
                    <a:bodyPr/>
                    <a:lstStyle/>
                    <a:p>
                      <a:pPr>
                        <a:defRPr sz="1200"/>
                      </a:pPr>
                      <a:r>
                        <a:t>EventBridge</a:t>
                      </a:r>
                    </a:p>
                  </a:txBody>
                  <a:tcPr>
                    <a:solidFill>
                      <a:srgbClr val="F2F3F4"/>
                    </a:solidFill>
                  </a:tcPr>
                </a:tc>
              </a:tr>
              <a:tr h="365760">
                <a:tc>
                  <a:txBody>
                    <a:bodyPr/>
                    <a:lstStyle/>
                    <a:p>
                      <a:pPr>
                        <a:defRPr sz="1200"/>
                      </a:pPr>
                      <a:r>
                        <a:t>Strict message ordering</a:t>
                      </a:r>
                    </a:p>
                  </a:txBody>
                  <a:tcPr/>
                </a:tc>
                <a:tc>
                  <a:txBody>
                    <a:bodyPr/>
                    <a:lstStyle/>
                    <a:p>
                      <a:pPr>
                        <a:defRPr sz="1200"/>
                      </a:pPr>
                      <a:r>
                        <a:t>SQS FIFO</a:t>
                      </a:r>
                    </a:p>
                  </a:txBody>
                  <a:tcPr/>
                </a:tc>
              </a:tr>
              <a:tr h="365760">
                <a:tc>
                  <a:txBody>
                    <a:bodyPr/>
                    <a:lstStyle/>
                    <a:p>
                      <a:pPr>
                        <a:defRPr sz="1200"/>
                      </a:pPr>
                      <a:r>
                        <a:t>Coordinate multi-step workflows</a:t>
                      </a:r>
                    </a:p>
                  </a:txBody>
                  <a:tcPr>
                    <a:solidFill>
                      <a:srgbClr val="F2F3F4"/>
                    </a:solidFill>
                  </a:tcPr>
                </a:tc>
                <a:tc>
                  <a:txBody>
                    <a:bodyPr/>
                    <a:lstStyle/>
                    <a:p>
                      <a:pPr>
                        <a:defRPr sz="1200"/>
                      </a:pPr>
                      <a:r>
                        <a:t>Step Functions</a:t>
                      </a:r>
                    </a:p>
                  </a:txBody>
                  <a:tcPr>
                    <a:solidFill>
                      <a:srgbClr val="F2F3F4"/>
                    </a:solidFill>
                  </a:tcPr>
                </a:tc>
              </a:tr>
              <a:tr h="365760">
                <a:tc>
                  <a:txBody>
                    <a:bodyPr/>
                    <a:lstStyle/>
                    <a:p>
                      <a:pPr>
                        <a:defRPr sz="1200"/>
                      </a:pPr>
                      <a:r>
                        <a:t>Notifications to humans</a:t>
                      </a:r>
                    </a:p>
                  </a:txBody>
                  <a:tcPr/>
                </a:tc>
                <a:tc>
                  <a:txBody>
                    <a:bodyPr/>
                    <a:lstStyle/>
                    <a:p>
                      <a:pPr>
                        <a:defRPr sz="1200"/>
                      </a:pPr>
                      <a:r>
                        <a:t>SNS</a:t>
                      </a:r>
                    </a:p>
                  </a:txBody>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Integration service decision framework</a:t>
            </a:r>
          </a:p>
        </p:txBody>
      </p:sp>
      <p:sp>
        <p:nvSpPr>
          <p:cNvPr id="3" name="Content Placeholder 2"/>
          <p:cNvSpPr>
            <a:spLocks noGrp="1"/>
          </p:cNvSpPr>
          <p:nvPr>
            <p:ph idx="1"/>
          </p:nvPr>
        </p:nvSpPr>
        <p:spPr/>
        <p:txBody>
          <a:bodyPr/>
          <a:lstStyle/>
          <a:p>
            <a:pPr>
              <a:defRPr sz="1400" i="1">
                <a:solidFill>
                  <a:srgbClr val="555555"/>
                </a:solidFill>
              </a:defRPr>
            </a:pPr>
            <a:r>
              <a:t>Many architectures combine multiple services. Choose the combination that fits your requirements.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Loose coupling through messaging (SQS, SNS, EventBridge) improves fault isolation, independent scaling, and deployment flexibility.</a:t>
            </a:r>
          </a:p>
          <a:p>
            <a:pPr>
              <a:defRPr sz="1800"/>
            </a:pPr>
            <a:r>
              <a:t>Use SQS for point-to-point buffering; choose Standard for throughput or FIFO for strict ordering and exactly-once processing.</a:t>
            </a:r>
          </a:p>
          <a:p>
            <a:pPr>
              <a:defRPr sz="1800"/>
            </a:pPr>
            <a:r>
              <a:t>Use SNS for fan-out where one event reaches multiple subscribers. Combine SNS with SQS for buffered, independent error handling per consumer.</a:t>
            </a:r>
          </a:p>
          <a:p>
            <a:pPr>
              <a:defRPr sz="1800"/>
            </a:pPr>
            <a:r>
              <a:t>Use EventBridge for content-based event routing, AWS service events, and SaaS integrations with richer pattern matching than SNS.</a:t>
            </a:r>
          </a:p>
          <a:p>
            <a:pPr>
              <a:defRPr sz="1800"/>
            </a:pPr>
            <a:r>
              <a:t>Always configure dead-letter queues for production messaging to capture failed messages and prevent poison messages from blocking processing.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messaging with SQS and SNS</a:t>
            </a:r>
          </a:p>
        </p:txBody>
      </p:sp>
      <p:sp>
        <p:nvSpPr>
          <p:cNvPr id="3" name="Content Placeholder 2"/>
          <p:cNvSpPr>
            <a:spLocks noGrp="1"/>
          </p:cNvSpPr>
          <p:nvPr>
            <p:ph idx="1"/>
          </p:nvPr>
        </p:nvSpPr>
        <p:spPr/>
        <p:txBody>
          <a:bodyPr/>
          <a:lstStyle/>
          <a:p>
            <a:pPr>
              <a:defRPr sz="1600"/>
            </a:pPr>
            <a:r>
              <a:t>Objective: Create an SQS queue with long polling, set up an SNS topic with email subscription, build a fan-out pattern, and configure a DLQ</a:t>
            </a:r>
          </a:p>
          <a:p>
            <a:pPr>
              <a:defRPr sz="1600"/>
            </a:pPr>
            <a:r>
              <a:t>Key services: Amazon SQS, Amazon SNS, CloudWatch, IAM</a:t>
            </a:r>
          </a:p>
          <a:p>
            <a:pPr>
              <a:defRPr sz="1600"/>
            </a:pPr>
            <a:r>
              <a:t>Duration: 45 minutes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`modules/08-messaging-and-integration/resources.md`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