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Welcome to Module 16, the final module in Phase 4. Start by asking: "Your production database goes down at 3 AM. What happens next?" Walk through the scenario to motivate RTO/RPO, automated recovery, and tested DR procedures. Breakdown: 10 min availability/nines, 10 min RTO/RPO, 20 min DR strategies, 10 min multi-AZ/multi-Region, 15 min resilience patterns, 10 min AWS Backup, 10 min chaos engineering, 5 min wrap-up.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Emphasize that each additional nine roughly increases cost and complexity by an order of magnitude.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Draw the timeline on the board: last backup, disaster, service restored.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20 minutes. Draw the four strategies as a spectrum from low cost/high RTO to high cost/low RTO. Use an e-commerce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 Marketing blog: backup and restore (low business impact, hours of downtime acceptable). E-commerce storefront: warm standby (revenue loss during downtime, need recovery in minutes). Payment processing: multi-site active-active or warm standby (financial transactions, near-zero tolerance for downtime). The key insight is that different workloads within the same organization can use different DR strategies based on business criticality.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Multi-AZ is the minimum for production. Multi-Region adds complexity; justify it with RTO/RPO or geographic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15 minutes. Present a microservices diagram and ask teams to identify where to apply each pattern.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Answer: Circuit breaker. The API is consistently failing, not experiencing a transient blip. Retrying adds load to an already struggling service and wastes Lambda execution time. The circuit breaker should open after detecting sustained failures, fail fast for subsequent calls, and periodically test if the API has recovered. Retries are for transient failures; circuit breakers are for sustained failures.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each. Cover AWS Backup plans and FIS experiment workflow.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 Run a planned DR drill. Use Route 53 to failover a small percentage of traffic (weighted routing) to the secondary Region. Verify that the standby environment handles requests correctly. Test database promotion from read replica to primary. Use AWS FIS to simulate a Region-level failure in a staging environment. Document the results and fix any issues found. A DR plan that has never been tested is a plan that may not work. Schedule DR drills quarterly.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is an open-ended lab. Students receive goals and constraints, then design the solution. Deliverables include a DR strategy document, AWS Backup configuration, and restore validation. Remind students to clean up backup vaults and Route 53 records after the lab.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Take 5-10 minutes for questions. Common questions: "HA vs. DR?" (HA minimizes downtime during normal operations; DR recovers from major disruptions.) "Do I always need multi-Region?" (No. Multi-AZ is sufficient for most workloads. Multi-Region adds significant complexity and cost.)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16: Reliability and Disaster Recovery</a:t>
            </a:r>
          </a:p>
        </p:txBody>
      </p:sp>
      <p:sp>
        <p:nvSpPr>
          <p:cNvPr id="3" name="Content Placeholder 2"/>
          <p:cNvSpPr>
            <a:spLocks noGrp="1"/>
          </p:cNvSpPr>
          <p:nvPr>
            <p:ph idx="1"/>
          </p:nvPr>
        </p:nvSpPr>
        <p:spPr/>
        <p:txBody>
          <a:bodyPr/>
          <a:lstStyle/>
          <a:p>
            <a:pPr>
              <a:defRPr sz="1600"/>
            </a:pPr>
            <a:r>
              <a:t>Phase 4: Production Readiness</a:t>
            </a:r>
          </a:p>
          <a:p>
            <a:pPr>
              <a:defRPr sz="1600"/>
            </a:pPr>
            <a:r>
              <a:t>Estimated lecture time: 90 to 105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a:defRPr sz="1600"/>
            </a:pPr>
            <a:r>
              <a:t>By the end of this module, you will be able to:</a:t>
            </a:r>
          </a:p>
          <a:p>
            <a:pPr>
              <a:defRPr sz="1800"/>
            </a:pPr>
            <a:r>
              <a:t>Analyze availability requirements by calculating target uptime (nines)</a:t>
            </a:r>
          </a:p>
          <a:p>
            <a:pPr>
              <a:defRPr sz="1800"/>
            </a:pPr>
            <a:r>
              <a:t>Assess RTO and RPO requirements and recommend a DR strategy</a:t>
            </a:r>
          </a:p>
          <a:p>
            <a:pPr>
              <a:defRPr sz="1800"/>
            </a:pPr>
            <a:r>
              <a:t>Evaluate the four DR strategies and justify which fits a given workload</a:t>
            </a:r>
          </a:p>
          <a:p>
            <a:pPr>
              <a:defRPr sz="1800"/>
            </a:pPr>
            <a:r>
              <a:t>Recommend multi-AZ and multi-Region architectures for high availability</a:t>
            </a:r>
          </a:p>
          <a:p>
            <a:pPr>
              <a:defRPr sz="1800"/>
            </a:pPr>
            <a:r>
              <a:t>Analyze resilience patterns (retry, circuit breaker, bulkhead, timeout, fallback)</a:t>
            </a:r>
          </a:p>
          <a:p>
            <a:pPr>
              <a:defRPr sz="1800"/>
            </a:pPr>
            <a:r>
              <a:t>Assess AWS Backup configurations for data protection</a:t>
            </a:r>
          </a:p>
          <a:p>
            <a:pPr>
              <a:defRPr sz="1800"/>
            </a:pPr>
            <a:r>
              <a:t>Evaluate Route 53 failover routing for DNS-based DR</a:t>
            </a:r>
          </a:p>
          <a:p>
            <a:pPr>
              <a:defRPr sz="1800"/>
            </a:pPr>
            <a:r>
              <a:t>Justify chaos engineering practices to validate reliability assumptions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Prerequisites and agenda</a:t>
            </a:r>
          </a:p>
        </p:txBody>
      </p:sp>
      <p:sp>
        <p:nvSpPr>
          <p:cNvPr id="3" name="Content Placeholder 2"/>
          <p:cNvSpPr>
            <a:spLocks noGrp="1"/>
          </p:cNvSpPr>
          <p:nvPr>
            <p:ph idx="1"/>
          </p:nvPr>
        </p:nvSpPr>
        <p:spPr/>
        <p:txBody>
          <a:bodyPr/>
          <a:lstStyle/>
          <a:p>
            <a:pPr>
              <a:defRPr sz="1600"/>
            </a:pPr>
            <a:r>
              <a:t>Prerequisites: Modules 03 (VPC), 04 (EC2/ASG), 06 (RDS), 07 (ALB/Route 53), 14 (Monitoring)</a:t>
            </a:r>
          </a:p>
          <a:p>
            <a:pPr>
              <a:defRPr sz="1600"/>
            </a:pPr>
            <a:r>
              <a:t>Agenda:</a:t>
            </a:r>
          </a:p>
          <a:p>
            <a:pPr>
              <a:defRPr sz="1800"/>
            </a:pPr>
            <a:r>
              <a:t>Availability: uptime, SLAs, and the cost of nines</a:t>
            </a:r>
          </a:p>
          <a:p>
            <a:pPr>
              <a:defRPr sz="1800"/>
            </a:pPr>
            <a:r>
              <a:t>RTO and RPO: defining recovery objectives</a:t>
            </a:r>
          </a:p>
          <a:p>
            <a:pPr>
              <a:defRPr sz="1800"/>
            </a:pPr>
            <a:r>
              <a:t>Four disaster recovery strategies</a:t>
            </a:r>
          </a:p>
          <a:p>
            <a:pPr>
              <a:defRPr sz="1800"/>
            </a:pPr>
            <a:r>
              <a:t>Multi-AZ and multi-Region architectures</a:t>
            </a:r>
          </a:p>
          <a:p>
            <a:pPr>
              <a:defRPr sz="1800"/>
            </a:pPr>
            <a:r>
              <a:t>Resilience patterns for distributed applications</a:t>
            </a:r>
          </a:p>
          <a:p>
            <a:pPr>
              <a:defRPr sz="1800"/>
            </a:pPr>
            <a:r>
              <a:t>AWS Backup: centralized backup management</a:t>
            </a:r>
          </a:p>
          <a:p>
            <a:pPr>
              <a:defRPr sz="1800"/>
            </a:pPr>
            <a:r>
              <a:t>Chaos engineering with AWS FIS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Availability and the cost of nines</a:t>
            </a:r>
          </a:p>
        </p:txBody>
      </p:sp>
      <p:sp>
        <p:nvSpPr>
          <p:cNvPr id="3" name="Text Placeholder 2"/>
          <p:cNvSpPr>
            <a:spLocks noGrp="1"/>
          </p:cNvSpPr>
          <p:nvPr>
            <p:ph type="body"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Availability levels</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pPr>
                        <a:defRPr sz="1400" b="1">
                          <a:solidFill>
                            <a:srgbClr val="FFFFFF"/>
                          </a:solidFill>
                        </a:defRPr>
                      </a:pPr>
                      <a:r>
                        <a:t>Availability</a:t>
                      </a:r>
                    </a:p>
                  </a:txBody>
                  <a:tcPr>
                    <a:solidFill>
                      <a:srgbClr val="232F3E"/>
                    </a:solidFill>
                  </a:tcPr>
                </a:tc>
                <a:tc>
                  <a:txBody>
                    <a:bodyPr/>
                    <a:lstStyle/>
                    <a:p>
                      <a:pPr>
                        <a:defRPr sz="1400" b="1">
                          <a:solidFill>
                            <a:srgbClr val="FFFFFF"/>
                          </a:solidFill>
                        </a:defRPr>
                      </a:pPr>
                      <a:r>
                        <a:t>Nines</a:t>
                      </a:r>
                    </a:p>
                  </a:txBody>
                  <a:tcPr>
                    <a:solidFill>
                      <a:srgbClr val="232F3E"/>
                    </a:solidFill>
                  </a:tcPr>
                </a:tc>
                <a:tc>
                  <a:txBody>
                    <a:bodyPr/>
                    <a:lstStyle/>
                    <a:p>
                      <a:pPr>
                        <a:defRPr sz="1400" b="1">
                          <a:solidFill>
                            <a:srgbClr val="FFFFFF"/>
                          </a:solidFill>
                        </a:defRPr>
                      </a:pPr>
                      <a:r>
                        <a:t>Downtime per Year</a:t>
                      </a:r>
                    </a:p>
                  </a:txBody>
                  <a:tcPr>
                    <a:solidFill>
                      <a:srgbClr val="232F3E"/>
                    </a:solidFill>
                  </a:tcPr>
                </a:tc>
                <a:tc>
                  <a:txBody>
                    <a:bodyPr/>
                    <a:lstStyle/>
                    <a:p>
                      <a:pPr>
                        <a:defRPr sz="1400" b="1">
                          <a:solidFill>
                            <a:srgbClr val="FFFFFF"/>
                          </a:solidFill>
                        </a:defRPr>
                      </a:pPr>
                      <a:r>
                        <a:t>Downtime per Month</a:t>
                      </a:r>
                    </a:p>
                  </a:txBody>
                  <a:tcPr>
                    <a:solidFill>
                      <a:srgbClr val="232F3E"/>
                    </a:solidFill>
                  </a:tcPr>
                </a:tc>
              </a:tr>
              <a:tr h="365760">
                <a:tc>
                  <a:txBody>
                    <a:bodyPr/>
                    <a:lstStyle/>
                    <a:p>
                      <a:pPr>
                        <a:defRPr sz="1200"/>
                      </a:pPr>
                      <a:r>
                        <a:t>99.9%</a:t>
                      </a:r>
                    </a:p>
                  </a:txBody>
                  <a:tcPr>
                    <a:solidFill>
                      <a:srgbClr val="F2F3F4"/>
                    </a:solidFill>
                  </a:tcPr>
                </a:tc>
                <a:tc>
                  <a:txBody>
                    <a:bodyPr/>
                    <a:lstStyle/>
                    <a:p>
                      <a:pPr>
                        <a:defRPr sz="1200"/>
                      </a:pPr>
                      <a:r>
                        <a:t>Three nines</a:t>
                      </a:r>
                    </a:p>
                  </a:txBody>
                  <a:tcPr>
                    <a:solidFill>
                      <a:srgbClr val="F2F3F4"/>
                    </a:solidFill>
                  </a:tcPr>
                </a:tc>
                <a:tc>
                  <a:txBody>
                    <a:bodyPr/>
                    <a:lstStyle/>
                    <a:p>
                      <a:pPr>
                        <a:defRPr sz="1200"/>
                      </a:pPr>
                      <a:r>
                        <a:t>8.77 hours</a:t>
                      </a:r>
                    </a:p>
                  </a:txBody>
                  <a:tcPr>
                    <a:solidFill>
                      <a:srgbClr val="F2F3F4"/>
                    </a:solidFill>
                  </a:tcPr>
                </a:tc>
                <a:tc>
                  <a:txBody>
                    <a:bodyPr/>
                    <a:lstStyle/>
                    <a:p>
                      <a:pPr>
                        <a:defRPr sz="1200"/>
                      </a:pPr>
                      <a:r>
                        <a:t>43.8 minutes</a:t>
                      </a:r>
                    </a:p>
                  </a:txBody>
                  <a:tcPr>
                    <a:solidFill>
                      <a:srgbClr val="F2F3F4"/>
                    </a:solidFill>
                  </a:tcPr>
                </a:tc>
              </a:tr>
              <a:tr h="365760">
                <a:tc>
                  <a:txBody>
                    <a:bodyPr/>
                    <a:lstStyle/>
                    <a:p>
                      <a:pPr>
                        <a:defRPr sz="1200"/>
                      </a:pPr>
                      <a:r>
                        <a:t>99.95%</a:t>
                      </a:r>
                    </a:p>
                  </a:txBody>
                  <a:tcPr/>
                </a:tc>
                <a:tc>
                  <a:txBody>
                    <a:bodyPr/>
                    <a:lstStyle/>
                    <a:p>
                      <a:pPr>
                        <a:defRPr sz="1200"/>
                      </a:pPr>
                      <a:r>
                        <a:t>Three and a half</a:t>
                      </a:r>
                    </a:p>
                  </a:txBody>
                  <a:tcPr/>
                </a:tc>
                <a:tc>
                  <a:txBody>
                    <a:bodyPr/>
                    <a:lstStyle/>
                    <a:p>
                      <a:pPr>
                        <a:defRPr sz="1200"/>
                      </a:pPr>
                      <a:r>
                        <a:t>4.38 hours</a:t>
                      </a:r>
                    </a:p>
                  </a:txBody>
                  <a:tcPr/>
                </a:tc>
                <a:tc>
                  <a:txBody>
                    <a:bodyPr/>
                    <a:lstStyle/>
                    <a:p>
                      <a:pPr>
                        <a:defRPr sz="1200"/>
                      </a:pPr>
                      <a:r>
                        <a:t>21.9 minutes</a:t>
                      </a:r>
                    </a:p>
                  </a:txBody>
                  <a:tcPr/>
                </a:tc>
              </a:tr>
              <a:tr h="365760">
                <a:tc>
                  <a:txBody>
                    <a:bodyPr/>
                    <a:lstStyle/>
                    <a:p>
                      <a:pPr>
                        <a:defRPr sz="1200"/>
                      </a:pPr>
                      <a:r>
                        <a:t>99.99%</a:t>
                      </a:r>
                    </a:p>
                  </a:txBody>
                  <a:tcPr>
                    <a:solidFill>
                      <a:srgbClr val="F2F3F4"/>
                    </a:solidFill>
                  </a:tcPr>
                </a:tc>
                <a:tc>
                  <a:txBody>
                    <a:bodyPr/>
                    <a:lstStyle/>
                    <a:p>
                      <a:pPr>
                        <a:defRPr sz="1200"/>
                      </a:pPr>
                      <a:r>
                        <a:t>Four nines</a:t>
                      </a:r>
                    </a:p>
                  </a:txBody>
                  <a:tcPr>
                    <a:solidFill>
                      <a:srgbClr val="F2F3F4"/>
                    </a:solidFill>
                  </a:tcPr>
                </a:tc>
                <a:tc>
                  <a:txBody>
                    <a:bodyPr/>
                    <a:lstStyle/>
                    <a:p>
                      <a:pPr>
                        <a:defRPr sz="1200"/>
                      </a:pPr>
                      <a:r>
                        <a:t>52.6 minutes</a:t>
                      </a:r>
                    </a:p>
                  </a:txBody>
                  <a:tcPr>
                    <a:solidFill>
                      <a:srgbClr val="F2F3F4"/>
                    </a:solidFill>
                  </a:tcPr>
                </a:tc>
                <a:tc>
                  <a:txBody>
                    <a:bodyPr/>
                    <a:lstStyle/>
                    <a:p>
                      <a:pPr>
                        <a:defRPr sz="1200"/>
                      </a:pPr>
                      <a:r>
                        <a:t>4.38 minutes</a:t>
                      </a:r>
                    </a:p>
                  </a:txBody>
                  <a:tcPr>
                    <a:solidFill>
                      <a:srgbClr val="F2F3F4"/>
                    </a:solidFill>
                  </a:tcPr>
                </a:tc>
              </a:tr>
              <a:tr h="365760">
                <a:tc>
                  <a:txBody>
                    <a:bodyPr/>
                    <a:lstStyle/>
                    <a:p>
                      <a:pPr>
                        <a:defRPr sz="1200"/>
                      </a:pPr>
                      <a:r>
                        <a:t>99.999%</a:t>
                      </a:r>
                    </a:p>
                  </a:txBody>
                  <a:tcPr/>
                </a:tc>
                <a:tc>
                  <a:txBody>
                    <a:bodyPr/>
                    <a:lstStyle/>
                    <a:p>
                      <a:pPr>
                        <a:defRPr sz="1200"/>
                      </a:pPr>
                      <a:r>
                        <a:t>Five nines</a:t>
                      </a:r>
                    </a:p>
                  </a:txBody>
                  <a:tcPr/>
                </a:tc>
                <a:tc>
                  <a:txBody>
                    <a:bodyPr/>
                    <a:lstStyle/>
                    <a:p>
                      <a:pPr>
                        <a:defRPr sz="1200"/>
                      </a:pPr>
                      <a:r>
                        <a:t>5.26 minutes</a:t>
                      </a:r>
                    </a:p>
                  </a:txBody>
                  <a:tcPr/>
                </a:tc>
                <a:tc>
                  <a:txBody>
                    <a:bodyPr/>
                    <a:lstStyle/>
                    <a:p>
                      <a:pPr>
                        <a:defRPr sz="1200"/>
                      </a:pPr>
                      <a:r>
                        <a:t>26.3 seconds</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Availability levels</a:t>
            </a:r>
          </a:p>
        </p:txBody>
      </p:sp>
      <p:sp>
        <p:nvSpPr>
          <p:cNvPr id="3" name="Content Placeholder 2"/>
          <p:cNvSpPr>
            <a:spLocks noGrp="1"/>
          </p:cNvSpPr>
          <p:nvPr>
            <p:ph idx="1"/>
          </p:nvPr>
        </p:nvSpPr>
        <p:spPr/>
        <p:txBody>
          <a:bodyPr/>
          <a:lstStyle/>
          <a:p>
            <a:pPr>
              <a:defRPr sz="1400" i="1">
                <a:solidFill>
                  <a:srgbClr val="555555"/>
                </a:solidFill>
              </a:defRPr>
            </a:pPr>
            <a:r>
              <a:t>Availability is a business decision. Higher availability costs more. Define the target based on business impact of downtime.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RTO and RPO</a:t>
            </a:r>
          </a:p>
        </p:txBody>
      </p:sp>
      <p:sp>
        <p:nvSpPr>
          <p:cNvPr id="3" name="Text Placeholder 2"/>
          <p:cNvSpPr>
            <a:spLocks noGrp="1"/>
          </p:cNvSpPr>
          <p:nvPr>
            <p:ph type="body" idx="1"/>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Recovery Time Objective and Recovery Point Objective</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RTO/RPO</a:t>
                      </a:r>
                    </a:p>
                  </a:txBody>
                  <a:tcPr>
                    <a:solidFill>
                      <a:srgbClr val="232F3E"/>
                    </a:solidFill>
                  </a:tcPr>
                </a:tc>
                <a:tc>
                  <a:txBody>
                    <a:bodyPr/>
                    <a:lstStyle/>
                    <a:p>
                      <a:pPr>
                        <a:defRPr sz="1400" b="1">
                          <a:solidFill>
                            <a:srgbClr val="FFFFFF"/>
                          </a:solidFill>
                        </a:defRPr>
                      </a:pPr>
                      <a:r>
                        <a:t>Appropriate DR Strategy</a:t>
                      </a:r>
                    </a:p>
                  </a:txBody>
                  <a:tcPr>
                    <a:solidFill>
                      <a:srgbClr val="232F3E"/>
                    </a:solidFill>
                  </a:tcPr>
                </a:tc>
                <a:tc>
                  <a:txBody>
                    <a:bodyPr/>
                    <a:lstStyle/>
                    <a:p>
                      <a:pPr>
                        <a:defRPr sz="1400" b="1">
                          <a:solidFill>
                            <a:srgbClr val="FFFFFF"/>
                          </a:solidFill>
                        </a:defRPr>
                      </a:pPr>
                      <a:r>
                        <a:t>Cost</a:t>
                      </a:r>
                    </a:p>
                  </a:txBody>
                  <a:tcPr>
                    <a:solidFill>
                      <a:srgbClr val="232F3E"/>
                    </a:solidFill>
                  </a:tcPr>
                </a:tc>
              </a:tr>
              <a:tr h="365760">
                <a:tc>
                  <a:txBody>
                    <a:bodyPr/>
                    <a:lstStyle/>
                    <a:p>
                      <a:pPr>
                        <a:defRPr sz="1200"/>
                      </a:pPr>
                      <a:r>
                        <a:t>Minutes to hours / Minutes</a:t>
                      </a:r>
                    </a:p>
                  </a:txBody>
                  <a:tcPr>
                    <a:solidFill>
                      <a:srgbClr val="F2F3F4"/>
                    </a:solidFill>
                  </a:tcPr>
                </a:tc>
                <a:tc>
                  <a:txBody>
                    <a:bodyPr/>
                    <a:lstStyle/>
                    <a:p>
                      <a:pPr>
                        <a:defRPr sz="1200"/>
                      </a:pPr>
                      <a:r>
                        <a:t>Pilot light</a:t>
                      </a:r>
                    </a:p>
                  </a:txBody>
                  <a:tcPr>
                    <a:solidFill>
                      <a:srgbClr val="F2F3F4"/>
                    </a:solidFill>
                  </a:tcPr>
                </a:tc>
                <a:tc>
                  <a:txBody>
                    <a:bodyPr/>
                    <a:lstStyle/>
                    <a:p>
                      <a:pPr>
                        <a:defRPr sz="1200"/>
                      </a:pPr>
                      <a:r>
                        <a:t>Low to moderate</a:t>
                      </a:r>
                    </a:p>
                  </a:txBody>
                  <a:tcPr>
                    <a:solidFill>
                      <a:srgbClr val="F2F3F4"/>
                    </a:solidFill>
                  </a:tcPr>
                </a:tc>
              </a:tr>
              <a:tr h="365760">
                <a:tc>
                  <a:txBody>
                    <a:bodyPr/>
                    <a:lstStyle/>
                    <a:p>
                      <a:pPr>
                        <a:defRPr sz="1200"/>
                      </a:pPr>
                      <a:r>
                        <a:t>Minutes / Seconds to minutes</a:t>
                      </a:r>
                    </a:p>
                  </a:txBody>
                  <a:tcPr/>
                </a:tc>
                <a:tc>
                  <a:txBody>
                    <a:bodyPr/>
                    <a:lstStyle/>
                    <a:p>
                      <a:pPr>
                        <a:defRPr sz="1200"/>
                      </a:pPr>
                      <a:r>
                        <a:t>Warm standby</a:t>
                      </a:r>
                    </a:p>
                  </a:txBody>
                  <a:tcPr/>
                </a:tc>
                <a:tc>
                  <a:txBody>
                    <a:bodyPr/>
                    <a:lstStyle/>
                    <a:p>
                      <a:pPr>
                        <a:defRPr sz="1200"/>
                      </a:pPr>
                      <a:r>
                        <a:t>Moderate to high</a:t>
                      </a:r>
                    </a:p>
                  </a:txBody>
                  <a:tcPr/>
                </a:tc>
              </a:tr>
              <a:tr h="365760">
                <a:tc>
                  <a:txBody>
                    <a:bodyPr/>
                    <a:lstStyle/>
                    <a:p>
                      <a:pPr>
                        <a:defRPr sz="1200"/>
                      </a:pPr>
                      <a:r>
                        <a:t>Near-zero / Near-zero</a:t>
                      </a:r>
                    </a:p>
                  </a:txBody>
                  <a:tcPr>
                    <a:solidFill>
                      <a:srgbClr val="F2F3F4"/>
                    </a:solidFill>
                  </a:tcPr>
                </a:tc>
                <a:tc>
                  <a:txBody>
                    <a:bodyPr/>
                    <a:lstStyle/>
                    <a:p>
                      <a:pPr>
                        <a:defRPr sz="1200"/>
                      </a:pPr>
                      <a:r>
                        <a:t>Multi-site active-active</a:t>
                      </a:r>
                    </a:p>
                  </a:txBody>
                  <a:tcPr>
                    <a:solidFill>
                      <a:srgbClr val="F2F3F4"/>
                    </a:solidFill>
                  </a:tcPr>
                </a:tc>
                <a:tc>
                  <a:txBody>
                    <a:bodyPr/>
                    <a:lstStyle/>
                    <a:p>
                      <a:pPr>
                        <a:defRPr sz="1200"/>
                      </a:pPr>
                      <a:r>
                        <a:t>Highest</a:t>
                      </a:r>
                    </a:p>
                  </a:txBody>
                  <a:tcPr>
                    <a:solidFill>
                      <a:srgbClr val="F2F3F4"/>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Recovery Time Objective and Recovery Point Objective</a:t>
            </a:r>
          </a:p>
        </p:txBody>
      </p:sp>
      <p:sp>
        <p:nvSpPr>
          <p:cNvPr id="3" name="Content Placeholder 2"/>
          <p:cNvSpPr>
            <a:spLocks noGrp="1"/>
          </p:cNvSpPr>
          <p:nvPr>
            <p:ph idx="1"/>
          </p:nvPr>
        </p:nvSpPr>
        <p:spPr/>
        <p:txBody>
          <a:bodyPr/>
          <a:lstStyle/>
          <a:p>
            <a:pPr>
              <a:defRPr sz="1800"/>
            </a:pPr>
            <a:r>
              <a:t>RTO: Maximum acceptable time to restore service after a disruption</a:t>
            </a:r>
          </a:p>
          <a:p>
            <a:pPr>
              <a:defRPr sz="1800"/>
            </a:pPr>
            <a:r>
              <a:t>RPO: Maximum acceptable data loss, measured in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Disaster recovery strategies</a:t>
            </a:r>
          </a:p>
        </p:txBody>
      </p:sp>
      <p:sp>
        <p:nvSpPr>
          <p:cNvPr id="3" name="Text Placeholder 2"/>
          <p:cNvSpPr>
            <a:spLocks noGrp="1"/>
          </p:cNvSpPr>
          <p:nvPr>
            <p:ph type="body" idx="1"/>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and restore</a:t>
            </a:r>
          </a:p>
        </p:txBody>
      </p:sp>
      <p:sp>
        <p:nvSpPr>
          <p:cNvPr id="3" name="Content Placeholder 2"/>
          <p:cNvSpPr>
            <a:spLocks noGrp="1"/>
          </p:cNvSpPr>
          <p:nvPr>
            <p:ph idx="1"/>
          </p:nvPr>
        </p:nvSpPr>
        <p:spPr/>
        <p:txBody>
          <a:bodyPr/>
          <a:lstStyle/>
          <a:p>
            <a:pPr>
              <a:defRPr sz="1800"/>
            </a:pPr>
            <a:r>
              <a:t>Back up data to another Region (AWS Backup, S3 cross-Region replication)</a:t>
            </a:r>
          </a:p>
          <a:p>
            <a:pPr>
              <a:defRPr sz="1800"/>
            </a:pPr>
            <a:r>
              <a:t>No infrastructure runs in the recovery Region during normal operation</a:t>
            </a:r>
          </a:p>
          <a:p>
            <a:pPr>
              <a:defRPr sz="1800"/>
            </a:pPr>
            <a:r>
              <a:t>On disaster: provision infrastructure and restore from backups</a:t>
            </a:r>
          </a:p>
          <a:p>
            <a:pPr>
              <a:defRPr sz="1800"/>
            </a:pPr>
            <a:r>
              <a:t>RTO: Hours. RPO: Hours. Cost: Lowest.</a:t>
            </a:r>
          </a:p>
          <a:p>
            <a:pPr>
              <a:defRPr sz="1800"/>
            </a:pPr>
            <a:r>
              <a:t>Best for non-critical workloads where hours of downtime are acceptable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Pilot light</a:t>
            </a:r>
          </a:p>
        </p:txBody>
      </p:sp>
      <p:sp>
        <p:nvSpPr>
          <p:cNvPr id="3" name="Content Placeholder 2"/>
          <p:cNvSpPr>
            <a:spLocks noGrp="1"/>
          </p:cNvSpPr>
          <p:nvPr>
            <p:ph idx="1"/>
          </p:nvPr>
        </p:nvSpPr>
        <p:spPr/>
        <p:txBody>
          <a:bodyPr/>
          <a:lstStyle/>
          <a:p>
            <a:pPr>
              <a:defRPr sz="1800"/>
            </a:pPr>
            <a:r>
              <a:t>Minimal infrastructure in recovery Region (database replicas, AMIs, network config)</a:t>
            </a:r>
          </a:p>
          <a:p>
            <a:pPr>
              <a:defRPr sz="1800"/>
            </a:pPr>
            <a:r>
              <a:t>Compute resources are not running during normal operation</a:t>
            </a:r>
          </a:p>
          <a:p>
            <a:pPr>
              <a:defRPr sz="1800"/>
            </a:pPr>
            <a:r>
              <a:t>On disaster: scale up compute and switch traffic</a:t>
            </a:r>
          </a:p>
          <a:p>
            <a:pPr>
              <a:defRPr sz="1800"/>
            </a:pPr>
            <a:r>
              <a:t>RTO: Minutes to hours. RPO: Minutes. Cost: Low to moderate.</a:t>
            </a:r>
          </a:p>
          <a:p>
            <a:pPr>
              <a:defRPr sz="1800"/>
            </a:pPr>
            <a:r>
              <a:t>Best for workloads needing faster recovery than backup/restore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Warm standby</a:t>
            </a:r>
          </a:p>
        </p:txBody>
      </p:sp>
      <p:sp>
        <p:nvSpPr>
          <p:cNvPr id="3" name="Content Placeholder 2"/>
          <p:cNvSpPr>
            <a:spLocks noGrp="1"/>
          </p:cNvSpPr>
          <p:nvPr>
            <p:ph idx="1"/>
          </p:nvPr>
        </p:nvSpPr>
        <p:spPr/>
        <p:txBody>
          <a:bodyPr/>
          <a:lstStyle/>
          <a:p>
            <a:pPr>
              <a:defRPr sz="1800"/>
            </a:pPr>
            <a:r>
              <a:t>Scaled-down but fully functional copy runs in recovery Region</a:t>
            </a:r>
          </a:p>
          <a:p>
            <a:pPr>
              <a:defRPr sz="1800"/>
            </a:pPr>
            <a:r>
              <a:t>On disaster: scale to full capacity and redirect all traffic</a:t>
            </a:r>
          </a:p>
          <a:p>
            <a:pPr>
              <a:defRPr sz="1800"/>
            </a:pPr>
            <a:r>
              <a:t>RTO: Minutes. RPO: Seconds to minutes. Cost: Moderate to high.</a:t>
            </a:r>
          </a:p>
          <a:p>
            <a:pPr>
              <a:defRPr sz="1800"/>
            </a:pPr>
            <a:r>
              <a:t>Best for business-critical workloads requiring recovery within minutes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Multi-site active-active</a:t>
            </a:r>
          </a:p>
        </p:txBody>
      </p:sp>
      <p:sp>
        <p:nvSpPr>
          <p:cNvPr id="3" name="Content Placeholder 2"/>
          <p:cNvSpPr>
            <a:spLocks noGrp="1"/>
          </p:cNvSpPr>
          <p:nvPr>
            <p:ph idx="1"/>
          </p:nvPr>
        </p:nvSpPr>
        <p:spPr/>
        <p:txBody>
          <a:bodyPr/>
          <a:lstStyle/>
          <a:p>
            <a:pPr>
              <a:defRPr sz="1800"/>
            </a:pPr>
            <a:r>
              <a:t>Full production runs simultaneously in two or more Regions</a:t>
            </a:r>
          </a:p>
          <a:p>
            <a:pPr>
              <a:defRPr sz="1800"/>
            </a:pPr>
            <a:r>
              <a:t>Each Region handles a portion of traffic</a:t>
            </a:r>
          </a:p>
          <a:p>
            <a:pPr>
              <a:defRPr sz="1800"/>
            </a:pPr>
            <a:r>
              <a:t>On disaster: failed Region removed from rotation; others absorb traffic</a:t>
            </a:r>
          </a:p>
          <a:p>
            <a:pPr>
              <a:defRPr sz="1800"/>
            </a:pPr>
            <a:r>
              <a:t>RTO: Near-zero. RPO: Near-zero. Cost: Highest.</a:t>
            </a:r>
          </a:p>
          <a:p>
            <a:pPr>
              <a:defRPr sz="1800"/>
            </a:pPr>
            <a:r>
              <a:t>Best for mission-critical workloads where any downtime is unacceptable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Strategy comparison</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65760">
                <a:tc>
                  <a:txBody>
                    <a:bodyPr/>
                    <a:lstStyle/>
                    <a:p>
                      <a:pPr>
                        <a:defRPr sz="1400" b="1">
                          <a:solidFill>
                            <a:srgbClr val="FFFFFF"/>
                          </a:solidFill>
                        </a:defRPr>
                      </a:pPr>
                      <a:r>
                        <a:t>Strategy</a:t>
                      </a:r>
                    </a:p>
                  </a:txBody>
                  <a:tcPr>
                    <a:solidFill>
                      <a:srgbClr val="232F3E"/>
                    </a:solidFill>
                  </a:tcPr>
                </a:tc>
                <a:tc>
                  <a:txBody>
                    <a:bodyPr/>
                    <a:lstStyle/>
                    <a:p>
                      <a:pPr>
                        <a:defRPr sz="1400" b="1">
                          <a:solidFill>
                            <a:srgbClr val="FFFFFF"/>
                          </a:solidFill>
                        </a:defRPr>
                      </a:pPr>
                      <a:r>
                        <a:t>RTO</a:t>
                      </a:r>
                    </a:p>
                  </a:txBody>
                  <a:tcPr>
                    <a:solidFill>
                      <a:srgbClr val="232F3E"/>
                    </a:solidFill>
                  </a:tcPr>
                </a:tc>
                <a:tc>
                  <a:txBody>
                    <a:bodyPr/>
                    <a:lstStyle/>
                    <a:p>
                      <a:pPr>
                        <a:defRPr sz="1400" b="1">
                          <a:solidFill>
                            <a:srgbClr val="FFFFFF"/>
                          </a:solidFill>
                        </a:defRPr>
                      </a:pPr>
                      <a:r>
                        <a:t>RPO</a:t>
                      </a:r>
                    </a:p>
                  </a:txBody>
                  <a:tcPr>
                    <a:solidFill>
                      <a:srgbClr val="232F3E"/>
                    </a:solidFill>
                  </a:tcPr>
                </a:tc>
                <a:tc>
                  <a:txBody>
                    <a:bodyPr/>
                    <a:lstStyle/>
                    <a:p>
                      <a:pPr>
                        <a:defRPr sz="1400" b="1">
                          <a:solidFill>
                            <a:srgbClr val="FFFFFF"/>
                          </a:solidFill>
                        </a:defRPr>
                      </a:pPr>
                      <a:r>
                        <a:t>Cost</a:t>
                      </a:r>
                    </a:p>
                  </a:txBody>
                  <a:tcPr>
                    <a:solidFill>
                      <a:srgbClr val="232F3E"/>
                    </a:solidFill>
                  </a:tcPr>
                </a:tc>
                <a:tc>
                  <a:txBody>
                    <a:bodyPr/>
                    <a:lstStyle/>
                    <a:p>
                      <a:pPr>
                        <a:defRPr sz="1400" b="1">
                          <a:solidFill>
                            <a:srgbClr val="FFFFFF"/>
                          </a:solidFill>
                        </a:defRPr>
                      </a:pPr>
                      <a:r>
                        <a:t>Complexity</a:t>
                      </a:r>
                    </a:p>
                  </a:txBody>
                  <a:tcPr>
                    <a:solidFill>
                      <a:srgbClr val="232F3E"/>
                    </a:solidFill>
                  </a:tcPr>
                </a:tc>
              </a:tr>
              <a:tr h="365760">
                <a:tc>
                  <a:txBody>
                    <a:bodyPr/>
                    <a:lstStyle/>
                    <a:p>
                      <a:pPr>
                        <a:defRPr sz="1200"/>
                      </a:pPr>
                      <a:r>
                        <a:t>Pilot light</a:t>
                      </a:r>
                    </a:p>
                  </a:txBody>
                  <a:tcPr>
                    <a:solidFill>
                      <a:srgbClr val="F2F3F4"/>
                    </a:solidFill>
                  </a:tcPr>
                </a:tc>
                <a:tc>
                  <a:txBody>
                    <a:bodyPr/>
                    <a:lstStyle/>
                    <a:p>
                      <a:pPr>
                        <a:defRPr sz="1200"/>
                      </a:pPr>
                      <a:r>
                        <a:t>Min to hours</a:t>
                      </a:r>
                    </a:p>
                  </a:txBody>
                  <a:tcPr>
                    <a:solidFill>
                      <a:srgbClr val="F2F3F4"/>
                    </a:solidFill>
                  </a:tcPr>
                </a:tc>
                <a:tc>
                  <a:txBody>
                    <a:bodyPr/>
                    <a:lstStyle/>
                    <a:p>
                      <a:pPr>
                        <a:defRPr sz="1200"/>
                      </a:pPr>
                      <a:r>
                        <a:t>Minutes</a:t>
                      </a:r>
                    </a:p>
                  </a:txBody>
                  <a:tcPr>
                    <a:solidFill>
                      <a:srgbClr val="F2F3F4"/>
                    </a:solidFill>
                  </a:tcPr>
                </a:tc>
                <a:tc>
                  <a:txBody>
                    <a:bodyPr/>
                    <a:lstStyle/>
                    <a:p>
                      <a:pPr>
                        <a:defRPr sz="1200"/>
                      </a:pPr>
                      <a:r>
                        <a:t>$$</a:t>
                      </a:r>
                    </a:p>
                  </a:txBody>
                  <a:tcPr>
                    <a:solidFill>
                      <a:srgbClr val="F2F3F4"/>
                    </a:solidFill>
                  </a:tcPr>
                </a:tc>
                <a:tc>
                  <a:txBody>
                    <a:bodyPr/>
                    <a:lstStyle/>
                    <a:p>
                      <a:pPr>
                        <a:defRPr sz="1200"/>
                      </a:pPr>
                      <a:r>
                        <a:t>Moderate</a:t>
                      </a:r>
                    </a:p>
                  </a:txBody>
                  <a:tcPr>
                    <a:solidFill>
                      <a:srgbClr val="F2F3F4"/>
                    </a:solidFill>
                  </a:tcPr>
                </a:tc>
              </a:tr>
              <a:tr h="365760">
                <a:tc>
                  <a:txBody>
                    <a:bodyPr/>
                    <a:lstStyle/>
                    <a:p>
                      <a:pPr>
                        <a:defRPr sz="1200"/>
                      </a:pPr>
                      <a:r>
                        <a:t>Warm standby</a:t>
                      </a:r>
                    </a:p>
                  </a:txBody>
                  <a:tcPr/>
                </a:tc>
                <a:tc>
                  <a:txBody>
                    <a:bodyPr/>
                    <a:lstStyle/>
                    <a:p>
                      <a:pPr>
                        <a:defRPr sz="1200"/>
                      </a:pPr>
                      <a:r>
                        <a:t>Minutes</a:t>
                      </a:r>
                    </a:p>
                  </a:txBody>
                  <a:tcPr/>
                </a:tc>
                <a:tc>
                  <a:txBody>
                    <a:bodyPr/>
                    <a:lstStyle/>
                    <a:p>
                      <a:pPr>
                        <a:defRPr sz="1200"/>
                      </a:pPr>
                      <a:r>
                        <a:t>Seconds</a:t>
                      </a:r>
                    </a:p>
                  </a:txBody>
                  <a:tcPr/>
                </a:tc>
                <a:tc>
                  <a:txBody>
                    <a:bodyPr/>
                    <a:lstStyle/>
                    <a:p>
                      <a:pPr>
                        <a:defRPr sz="1200"/>
                      </a:pPr>
                      <a:r>
                        <a:t>$$$</a:t>
                      </a:r>
                    </a:p>
                  </a:txBody>
                  <a:tcPr/>
                </a:tc>
                <a:tc>
                  <a:txBody>
                    <a:bodyPr/>
                    <a:lstStyle/>
                    <a:p>
                      <a:pPr>
                        <a:defRPr sz="1200"/>
                      </a:pPr>
                      <a:r>
                        <a:t>High</a:t>
                      </a:r>
                    </a:p>
                  </a:txBody>
                  <a:tcPr/>
                </a:tc>
              </a:tr>
              <a:tr h="365760">
                <a:tc>
                  <a:txBody>
                    <a:bodyPr/>
                    <a:lstStyle/>
                    <a:p>
                      <a:pPr>
                        <a:defRPr sz="1200"/>
                      </a:pPr>
                      <a:r>
                        <a:t>Active-active</a:t>
                      </a:r>
                    </a:p>
                  </a:txBody>
                  <a:tcPr>
                    <a:solidFill>
                      <a:srgbClr val="F2F3F4"/>
                    </a:solidFill>
                  </a:tcPr>
                </a:tc>
                <a:tc>
                  <a:txBody>
                    <a:bodyPr/>
                    <a:lstStyle/>
                    <a:p>
                      <a:pPr>
                        <a:defRPr sz="1200"/>
                      </a:pPr>
                      <a:r>
                        <a:t>Near-zero</a:t>
                      </a:r>
                    </a:p>
                  </a:txBody>
                  <a:tcPr>
                    <a:solidFill>
                      <a:srgbClr val="F2F3F4"/>
                    </a:solidFill>
                  </a:tcPr>
                </a:tc>
                <a:tc>
                  <a:txBody>
                    <a:bodyPr/>
                    <a:lstStyle/>
                    <a:p>
                      <a:pPr>
                        <a:defRPr sz="1200"/>
                      </a:pPr>
                      <a:r>
                        <a:t>Near-zero</a:t>
                      </a:r>
                    </a:p>
                  </a:txBody>
                  <a:tcPr>
                    <a:solidFill>
                      <a:srgbClr val="F2F3F4"/>
                    </a:solidFill>
                  </a:tcPr>
                </a:tc>
                <a:tc>
                  <a:txBody>
                    <a:bodyPr/>
                    <a:lstStyle/>
                    <a:p>
                      <a:pPr>
                        <a:defRPr sz="1200"/>
                      </a:pPr>
                      <a:r>
                        <a:t>$$$$</a:t>
                      </a:r>
                    </a:p>
                  </a:txBody>
                  <a:tcPr>
                    <a:solidFill>
                      <a:srgbClr val="F2F3F4"/>
                    </a:solidFill>
                  </a:tcPr>
                </a:tc>
                <a:tc>
                  <a:txBody>
                    <a:bodyPr/>
                    <a:lstStyle/>
                    <a:p>
                      <a:pPr>
                        <a:defRPr sz="1200"/>
                      </a:pPr>
                      <a:r>
                        <a:t>Very high</a:t>
                      </a:r>
                    </a:p>
                  </a:txBody>
                  <a:tcPr>
                    <a:solidFill>
                      <a:srgbClr val="F2F3F4"/>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Discussion: choosing a DR strategy</a:t>
            </a:r>
          </a:p>
        </p:txBody>
      </p:sp>
      <p:sp>
        <p:nvSpPr>
          <p:cNvPr id="3" name="Content Placeholder 2"/>
          <p:cNvSpPr>
            <a:spLocks noGrp="1"/>
          </p:cNvSpPr>
          <p:nvPr>
            <p:ph idx="1"/>
          </p:nvPr>
        </p:nvSpPr>
        <p:spPr/>
        <p:txBody>
          <a:bodyPr/>
          <a:lstStyle/>
          <a:p>
            <a:pPr>
              <a:defRPr sz="1600"/>
            </a:pPr>
            <a:r>
              <a:t>Your company runs three workloads: (1) a marketing blog, (2) an e-commerce storefront, (3) a payment processing system. Budget is limited.</a:t>
            </a:r>
          </a:p>
          <a:p>
            <a:pPr>
              <a:defRPr sz="1600"/>
            </a:pPr>
            <a:r>
              <a:t>Which DR strategy would you recommend for each, and why?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Multi-AZ and multi-Region</a:t>
            </a:r>
          </a:p>
        </p:txBody>
      </p:sp>
      <p:sp>
        <p:nvSpPr>
          <p:cNvPr id="3" name="Text Placeholder 2"/>
          <p:cNvSpPr>
            <a:spLocks noGrp="1"/>
          </p:cNvSpPr>
          <p:nvPr>
            <p:ph type="body" idx="1"/>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Multi-AZ: the minimum for production</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Service</a:t>
                      </a:r>
                    </a:p>
                  </a:txBody>
                  <a:tcPr>
                    <a:solidFill>
                      <a:srgbClr val="232F3E"/>
                    </a:solidFill>
                  </a:tcPr>
                </a:tc>
                <a:tc>
                  <a:txBody>
                    <a:bodyPr/>
                    <a:lstStyle/>
                    <a:p>
                      <a:pPr>
                        <a:defRPr sz="1400" b="1">
                          <a:solidFill>
                            <a:srgbClr val="FFFFFF"/>
                          </a:solidFill>
                        </a:defRPr>
                      </a:pPr>
                      <a:r>
                        <a:t>Multi-AZ Mechanism</a:t>
                      </a:r>
                    </a:p>
                  </a:txBody>
                  <a:tcPr>
                    <a:solidFill>
                      <a:srgbClr val="232F3E"/>
                    </a:solidFill>
                  </a:tcPr>
                </a:tc>
              </a:tr>
              <a:tr h="365760">
                <a:tc>
                  <a:txBody>
                    <a:bodyPr/>
                    <a:lstStyle/>
                    <a:p>
                      <a:pPr>
                        <a:defRPr sz="1200"/>
                      </a:pPr>
                      <a:r>
                        <a:t>RDS Multi-AZ</a:t>
                      </a:r>
                    </a:p>
                  </a:txBody>
                  <a:tcPr>
                    <a:solidFill>
                      <a:srgbClr val="F2F3F4"/>
                    </a:solidFill>
                  </a:tcPr>
                </a:tc>
                <a:tc>
                  <a:txBody>
                    <a:bodyPr/>
                    <a:lstStyle/>
                    <a:p>
                      <a:pPr>
                        <a:defRPr sz="1200"/>
                      </a:pPr>
                      <a:r>
                        <a:t>Synchronous standby with automatic failover</a:t>
                      </a:r>
                    </a:p>
                  </a:txBody>
                  <a:tcPr>
                    <a:solidFill>
                      <a:srgbClr val="F2F3F4"/>
                    </a:solidFill>
                  </a:tcPr>
                </a:tc>
              </a:tr>
              <a:tr h="365760">
                <a:tc>
                  <a:txBody>
                    <a:bodyPr/>
                    <a:lstStyle/>
                    <a:p>
                      <a:pPr>
                        <a:defRPr sz="1200"/>
                      </a:pPr>
                      <a:r>
                        <a:t>ALB</a:t>
                      </a:r>
                    </a:p>
                  </a:txBody>
                  <a:tcPr/>
                </a:tc>
                <a:tc>
                  <a:txBody>
                    <a:bodyPr/>
                    <a:lstStyle/>
                    <a:p>
                      <a:pPr>
                        <a:defRPr sz="1200"/>
                      </a:pPr>
                      <a:r>
                        <a:t>Distributes traffic across targets in multiple AZs</a:t>
                      </a:r>
                    </a:p>
                  </a:txBody>
                  <a:tcPr/>
                </a:tc>
              </a:tr>
              <a:tr h="365760">
                <a:tc>
                  <a:txBody>
                    <a:bodyPr/>
                    <a:lstStyle/>
                    <a:p>
                      <a:pPr>
                        <a:defRPr sz="1200"/>
                      </a:pPr>
                      <a:r>
                        <a:t>ECS/Fargate</a:t>
                      </a:r>
                    </a:p>
                  </a:txBody>
                  <a:tcPr>
                    <a:solidFill>
                      <a:srgbClr val="F2F3F4"/>
                    </a:solidFill>
                  </a:tcPr>
                </a:tc>
                <a:tc>
                  <a:txBody>
                    <a:bodyPr/>
                    <a:lstStyle/>
                    <a:p>
                      <a:pPr>
                        <a:defRPr sz="1200"/>
                      </a:pPr>
                      <a:r>
                        <a:t>Tasks distributed across AZs by scheduler</a:t>
                      </a:r>
                    </a:p>
                  </a:txBody>
                  <a:tcPr>
                    <a:solidFill>
                      <a:srgbClr val="F2F3F4"/>
                    </a:solidFill>
                  </a:tcPr>
                </a:tc>
              </a:tr>
              <a:tr h="365760">
                <a:tc>
                  <a:txBody>
                    <a:bodyPr/>
                    <a:lstStyle/>
                    <a:p>
                      <a:pPr>
                        <a:defRPr sz="1200"/>
                      </a:pPr>
                      <a:r>
                        <a:t>NAT Gateway</a:t>
                      </a:r>
                    </a:p>
                  </a:txBody>
                  <a:tcPr/>
                </a:tc>
                <a:tc>
                  <a:txBody>
                    <a:bodyPr/>
                    <a:lstStyle/>
                    <a:p>
                      <a:pPr>
                        <a:defRPr sz="1200"/>
                      </a:pPr>
                      <a:r>
                        <a:t>Deploy one per AZ for AZ-independent access</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Multi-Region capabilities</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Service</a:t>
                      </a:r>
                    </a:p>
                  </a:txBody>
                  <a:tcPr>
                    <a:solidFill>
                      <a:srgbClr val="232F3E"/>
                    </a:solidFill>
                  </a:tcPr>
                </a:tc>
                <a:tc>
                  <a:txBody>
                    <a:bodyPr/>
                    <a:lstStyle/>
                    <a:p>
                      <a:pPr>
                        <a:defRPr sz="1400" b="1">
                          <a:solidFill>
                            <a:srgbClr val="FFFFFF"/>
                          </a:solidFill>
                        </a:defRPr>
                      </a:pPr>
                      <a:r>
                        <a:t>Multi-Region Capability</a:t>
                      </a:r>
                    </a:p>
                  </a:txBody>
                  <a:tcPr>
                    <a:solidFill>
                      <a:srgbClr val="232F3E"/>
                    </a:solidFill>
                  </a:tcPr>
                </a:tc>
              </a:tr>
              <a:tr h="365760">
                <a:tc>
                  <a:txBody>
                    <a:bodyPr/>
                    <a:lstStyle/>
                    <a:p>
                      <a:pPr>
                        <a:defRPr sz="1200"/>
                      </a:pPr>
                      <a:r>
                        <a:t>S3 Cross-Region Replication</a:t>
                      </a:r>
                    </a:p>
                  </a:txBody>
                  <a:tcPr>
                    <a:solidFill>
                      <a:srgbClr val="F2F3F4"/>
                    </a:solidFill>
                  </a:tcPr>
                </a:tc>
                <a:tc>
                  <a:txBody>
                    <a:bodyPr/>
                    <a:lstStyle/>
                    <a:p>
                      <a:pPr>
                        <a:defRPr sz="1200"/>
                      </a:pPr>
                      <a:r>
                        <a:t>Automatic object replication to another Region</a:t>
                      </a:r>
                    </a:p>
                  </a:txBody>
                  <a:tcPr>
                    <a:solidFill>
                      <a:srgbClr val="F2F3F4"/>
                    </a:solidFill>
                  </a:tcPr>
                </a:tc>
              </a:tr>
              <a:tr h="365760">
                <a:tc>
                  <a:txBody>
                    <a:bodyPr/>
                    <a:lstStyle/>
                    <a:p>
                      <a:pPr>
                        <a:defRPr sz="1200"/>
                      </a:pPr>
                      <a:r>
                        <a:t>RDS Cross-Region Read Replicas</a:t>
                      </a:r>
                    </a:p>
                  </a:txBody>
                  <a:tcPr/>
                </a:tc>
                <a:tc>
                  <a:txBody>
                    <a:bodyPr/>
                    <a:lstStyle/>
                    <a:p>
                      <a:pPr>
                        <a:defRPr sz="1200"/>
                      </a:pPr>
                      <a:r>
                        <a:t>Async replication; can be promoted to primary</a:t>
                      </a:r>
                    </a:p>
                  </a:txBody>
                  <a:tcPr/>
                </a:tc>
              </a:tr>
              <a:tr h="365760">
                <a:tc>
                  <a:txBody>
                    <a:bodyPr/>
                    <a:lstStyle/>
                    <a:p>
                      <a:pPr>
                        <a:defRPr sz="1200"/>
                      </a:pPr>
                      <a:r>
                        <a:t>DynamoDB Global Tables</a:t>
                      </a:r>
                    </a:p>
                  </a:txBody>
                  <a:tcPr>
                    <a:solidFill>
                      <a:srgbClr val="F2F3F4"/>
                    </a:solidFill>
                  </a:tcPr>
                </a:tc>
                <a:tc>
                  <a:txBody>
                    <a:bodyPr/>
                    <a:lstStyle/>
                    <a:p>
                      <a:pPr>
                        <a:defRPr sz="1200"/>
                      </a:pPr>
                      <a:r>
                        <a:t>Multi-Region, multi-active replication</a:t>
                      </a:r>
                    </a:p>
                  </a:txBody>
                  <a:tcPr>
                    <a:solidFill>
                      <a:srgbClr val="F2F3F4"/>
                    </a:solidFill>
                  </a:tcPr>
                </a:tc>
              </a:tr>
              <a:tr h="365760">
                <a:tc>
                  <a:txBody>
                    <a:bodyPr/>
                    <a:lstStyle/>
                    <a:p>
                      <a:pPr>
                        <a:defRPr sz="1200"/>
                      </a:pPr>
                      <a:r>
                        <a:t>Aurora Global Database</a:t>
                      </a:r>
                    </a:p>
                  </a:txBody>
                  <a:tcPr/>
                </a:tc>
                <a:tc>
                  <a:txBody>
                    <a:bodyPr/>
                    <a:lstStyle/>
                    <a:p>
                      <a:pPr>
                        <a:defRPr sz="1200"/>
                      </a:pPr>
                      <a:r>
                        <a:t>Sub-second replication, fast failover</a:t>
                      </a:r>
                    </a:p>
                  </a:txBody>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Multi-Region capabilities</a:t>
            </a:r>
          </a:p>
        </p:txBody>
      </p:sp>
      <p:sp>
        <p:nvSpPr>
          <p:cNvPr id="3" name="Content Placeholder 2"/>
          <p:cNvSpPr>
            <a:spLocks noGrp="1"/>
          </p:cNvSpPr>
          <p:nvPr>
            <p:ph idx="1"/>
          </p:nvPr>
        </p:nvSpPr>
        <p:spPr/>
        <p:txBody>
          <a:bodyPr/>
          <a:lstStyle/>
          <a:p>
            <a:pPr>
              <a:defRPr sz="1400" i="1">
                <a:solidFill>
                  <a:srgbClr val="555555"/>
                </a:solidFill>
              </a:defRPr>
            </a:pPr>
            <a:r>
              <a:t>Start with multi-AZ. Add multi-Region only when RTO/RPO or geographic needs justify the complexity.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Resilience patterns</a:t>
            </a:r>
          </a:p>
        </p:txBody>
      </p:sp>
      <p:sp>
        <p:nvSpPr>
          <p:cNvPr id="3" name="Text Placeholder 2"/>
          <p:cNvSpPr>
            <a:spLocks noGrp="1"/>
          </p:cNvSpPr>
          <p:nvPr>
            <p:ph type="body" idx="1"/>
          </p:nvPr>
        </p:nvSpPr>
        <p:spPr/>
        <p:txBody>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Retry with exponential backoff and jitter</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Attempt 1: immediate</a:t>
            </a:r>
            <a:br/>
            <a:r>
              <a:t>Attempt 2: wait 1s + random(0-500ms)</a:t>
            </a:r>
            <a:br/>
            <a:r>
              <a:t>Attempt 3: wait 2s + random(0-500ms)</a:t>
            </a:r>
            <a:br/>
            <a:r>
              <a:t>Attempt 4: wait 4s + random(0-500ms)</a:t>
            </a:r>
            <a:br/>
            <a:r>
              <a:t>(give up after max retries)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Circuit breaker pattern</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Closed (normal) --&gt; failure rate exceeds threshold --&gt; Open (fail fast)</a:t>
            </a:r>
            <a:br/>
            <a:r>
              <a:t>Open --&gt; timeout expires --&gt; Half-Open (test calls)</a:t>
            </a:r>
            <a:br/>
            <a:r>
              <a:t>Half-Open --&gt; succeed --&gt; Closed</a:t>
            </a:r>
            <a:br/>
            <a:r>
              <a:t>Half-Open --&gt; fail --&gt; Open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Bulkhead, timeout, and fallback</a:t>
            </a:r>
          </a:p>
        </p:txBody>
      </p:sp>
      <p:sp>
        <p:nvSpPr>
          <p:cNvPr id="3" name="Content Placeholder 2"/>
          <p:cNvSpPr>
            <a:spLocks noGrp="1"/>
          </p:cNvSpPr>
          <p:nvPr>
            <p:ph idx="1"/>
          </p:nvPr>
        </p:nvSpPr>
        <p:spPr/>
        <p:txBody>
          <a:bodyPr/>
          <a:lstStyle/>
          <a:p>
            <a:pPr>
              <a:defRPr sz="1800"/>
            </a:pPr>
            <a:r>
              <a:t>Bulkhead: Isolate components so one failure does not affect others (separate SQS queues, separate Lambda concurrency limits)</a:t>
            </a:r>
          </a:p>
          <a:p>
            <a:pPr>
              <a:defRPr sz="1800"/>
            </a:pPr>
            <a:r>
              <a:t>Timeout: Set timeouts on all external calls; fail fast rather than hang</a:t>
            </a:r>
          </a:p>
          <a:p>
            <a:pPr>
              <a:defRPr sz="1800"/>
            </a:pPr>
            <a:r>
              <a:t>Fallback: Provide degraded but functional response when a dependency fails (default recommendations instead of personalized ones)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Quick check: retry vs. circuit breaker</a:t>
            </a:r>
          </a:p>
        </p:txBody>
      </p:sp>
      <p:sp>
        <p:nvSpPr>
          <p:cNvPr id="3" name="Content Placeholder 2"/>
          <p:cNvSpPr>
            <a:spLocks noGrp="1"/>
          </p:cNvSpPr>
          <p:nvPr>
            <p:ph idx="1"/>
          </p:nvPr>
        </p:nvSpPr>
        <p:spPr/>
        <p:txBody>
          <a:bodyPr/>
          <a:lstStyle/>
          <a:p>
            <a:pPr>
              <a:defRPr sz="1600"/>
            </a:pPr>
            <a:r>
              <a:t>A Lambda function calls a downstream API. The API has been returning 500 errors for the past 5 minutes.</a:t>
            </a:r>
          </a:p>
          <a:p>
            <a:pPr>
              <a:defRPr sz="1600"/>
            </a:pPr>
            <a:r>
              <a:t>Should the Lambda function keep retrying, or should it use a circuit breaker? Why?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Backup and chaos engineering</a:t>
            </a:r>
          </a:p>
        </p:txBody>
      </p:sp>
      <p:sp>
        <p:nvSpPr>
          <p:cNvPr id="3" name="Text Placeholder 2"/>
          <p:cNvSpPr>
            <a:spLocks noGrp="1"/>
          </p:cNvSpPr>
          <p:nvPr>
            <p:ph type="body" idx="1"/>
          </p:nvPr>
        </p:nvSpPr>
        <p:spPr/>
        <p:txBody>
          <a:bodyPr/>
          <a:lstStyle/>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Think about it: testing your DR plan</a:t>
            </a:r>
          </a:p>
        </p:txBody>
      </p:sp>
      <p:sp>
        <p:nvSpPr>
          <p:cNvPr id="3" name="Content Placeholder 2"/>
          <p:cNvSpPr>
            <a:spLocks noGrp="1"/>
          </p:cNvSpPr>
          <p:nvPr>
            <p:ph idx="1"/>
          </p:nvPr>
        </p:nvSpPr>
        <p:spPr/>
        <p:txBody>
          <a:bodyPr/>
          <a:lstStyle/>
          <a:p>
            <a:pPr>
              <a:defRPr sz="1600"/>
            </a:pPr>
            <a:r>
              <a:t>Your team has a warm standby DR setup in a secondary Region. The DR plan has never been tested. Management asks: "Are we confident this will work?"</a:t>
            </a:r>
          </a:p>
          <a:p>
            <a:pPr>
              <a:defRPr sz="1600"/>
            </a:pPr>
            <a:r>
              <a:t>How would you validate the DR plan without affecting production?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AWS Backup: centralized management</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Concept</a:t>
                      </a:r>
                    </a:p>
                  </a:txBody>
                  <a:tcPr>
                    <a:solidFill>
                      <a:srgbClr val="232F3E"/>
                    </a:solidFill>
                  </a:tcPr>
                </a:tc>
                <a:tc>
                  <a:txBody>
                    <a:bodyPr/>
                    <a:lstStyle/>
                    <a:p>
                      <a:pPr>
                        <a:defRPr sz="1400" b="1">
                          <a:solidFill>
                            <a:srgbClr val="FFFFFF"/>
                          </a:solidFill>
                        </a:defRPr>
                      </a:pPr>
                      <a:r>
                        <a:t>Description</a:t>
                      </a:r>
                    </a:p>
                  </a:txBody>
                  <a:tcPr>
                    <a:solidFill>
                      <a:srgbClr val="232F3E"/>
                    </a:solidFill>
                  </a:tcPr>
                </a:tc>
              </a:tr>
              <a:tr h="365760">
                <a:tc>
                  <a:txBody>
                    <a:bodyPr/>
                    <a:lstStyle/>
                    <a:p>
                      <a:pPr>
                        <a:defRPr sz="1200"/>
                      </a:pPr>
                      <a:r>
                        <a:t>Backup vault</a:t>
                      </a:r>
                    </a:p>
                  </a:txBody>
                  <a:tcPr>
                    <a:solidFill>
                      <a:srgbClr val="F2F3F4"/>
                    </a:solidFill>
                  </a:tcPr>
                </a:tc>
                <a:tc>
                  <a:txBody>
                    <a:bodyPr/>
                    <a:lstStyle/>
                    <a:p>
                      <a:pPr>
                        <a:defRPr sz="1200"/>
                      </a:pPr>
                      <a:r>
                        <a:t>Encrypted container for stored backups</a:t>
                      </a:r>
                    </a:p>
                  </a:txBody>
                  <a:tcPr>
                    <a:solidFill>
                      <a:srgbClr val="F2F3F4"/>
                    </a:solidFill>
                  </a:tcPr>
                </a:tc>
              </a:tr>
              <a:tr h="365760">
                <a:tc>
                  <a:txBody>
                    <a:bodyPr/>
                    <a:lstStyle/>
                    <a:p>
                      <a:pPr>
                        <a:defRPr sz="1200"/>
                      </a:pPr>
                      <a:r>
                        <a:t>Resource assignment</a:t>
                      </a:r>
                    </a:p>
                  </a:txBody>
                  <a:tcPr/>
                </a:tc>
                <a:tc>
                  <a:txBody>
                    <a:bodyPr/>
                    <a:lstStyle/>
                    <a:p>
                      <a:pPr>
                        <a:defRPr sz="1200"/>
                      </a:pPr>
                      <a:r>
                        <a:t>Which resources to back up (by tag, type, or ARN)</a:t>
                      </a:r>
                    </a:p>
                  </a:txBody>
                  <a:tcPr/>
                </a:tc>
              </a:tr>
              <a:tr h="365760">
                <a:tc>
                  <a:txBody>
                    <a:bodyPr/>
                    <a:lstStyle/>
                    <a:p>
                      <a:pPr>
                        <a:defRPr sz="1200"/>
                      </a:pPr>
                      <a:r>
                        <a:t>Cross-Region copy</a:t>
                      </a:r>
                    </a:p>
                  </a:txBody>
                  <a:tcPr>
                    <a:solidFill>
                      <a:srgbClr val="F2F3F4"/>
                    </a:solidFill>
                  </a:tcPr>
                </a:tc>
                <a:tc>
                  <a:txBody>
                    <a:bodyPr/>
                    <a:lstStyle/>
                    <a:p>
                      <a:pPr>
                        <a:defRPr sz="1200"/>
                      </a:pPr>
                      <a:r>
                        <a:t>Automatically copy backups to another Region</a:t>
                      </a:r>
                    </a:p>
                  </a:txBody>
                  <a:tcPr>
                    <a:solidFill>
                      <a:srgbClr val="F2F3F4"/>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Backup: centralized management</a:t>
            </a:r>
          </a:p>
        </p:txBody>
      </p:sp>
      <p:sp>
        <p:nvSpPr>
          <p:cNvPr id="3" name="Content Placeholder 2"/>
          <p:cNvSpPr>
            <a:spLocks noGrp="1"/>
          </p:cNvSpPr>
          <p:nvPr>
            <p:ph idx="1"/>
          </p:nvPr>
        </p:nvSpPr>
        <p:spPr/>
        <p:txBody>
          <a:bodyPr/>
          <a:lstStyle/>
          <a:p>
            <a:pPr>
              <a:defRPr sz="1800"/>
            </a:pPr>
            <a:r>
              <a:t>Supports EC2, EBS, RDS, DynamoDB, EFS, S3, Aurora</a:t>
            </a:r>
          </a:p>
          <a:p>
            <a:pPr>
              <a:defRPr sz="1800"/>
            </a:pPr>
            <a:r>
              <a:t>Use tag-based assignment: tag resources `Backup=daily`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Chaos engineering with AWS FIS</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FIS Action</a:t>
                      </a:r>
                    </a:p>
                  </a:txBody>
                  <a:tcPr>
                    <a:solidFill>
                      <a:srgbClr val="232F3E"/>
                    </a:solidFill>
                  </a:tcPr>
                </a:tc>
                <a:tc>
                  <a:txBody>
                    <a:bodyPr/>
                    <a:lstStyle/>
                    <a:p>
                      <a:pPr>
                        <a:defRPr sz="1400" b="1">
                          <a:solidFill>
                            <a:srgbClr val="FFFFFF"/>
                          </a:solidFill>
                        </a:defRPr>
                      </a:pPr>
                      <a:r>
                        <a:t>What It Simulates</a:t>
                      </a:r>
                    </a:p>
                  </a:txBody>
                  <a:tcPr>
                    <a:solidFill>
                      <a:srgbClr val="232F3E"/>
                    </a:solidFill>
                  </a:tcPr>
                </a:tc>
              </a:tr>
              <a:tr h="365760">
                <a:tc>
                  <a:txBody>
                    <a:bodyPr/>
                    <a:lstStyle/>
                    <a:p>
                      <a:pPr>
                        <a:defRPr sz="1200"/>
                      </a:pPr>
                      <a:r>
                        <a:t>Throttle EBS I/O</a:t>
                      </a:r>
                    </a:p>
                  </a:txBody>
                  <a:tcPr>
                    <a:solidFill>
                      <a:srgbClr val="F2F3F4"/>
                    </a:solidFill>
                  </a:tcPr>
                </a:tc>
                <a:tc>
                  <a:txBody>
                    <a:bodyPr/>
                    <a:lstStyle/>
                    <a:p>
                      <a:pPr>
                        <a:defRPr sz="1200"/>
                      </a:pPr>
                      <a:r>
                        <a:t>Degraded storage performance</a:t>
                      </a:r>
                    </a:p>
                  </a:txBody>
                  <a:tcPr>
                    <a:solidFill>
                      <a:srgbClr val="F2F3F4"/>
                    </a:solidFill>
                  </a:tcPr>
                </a:tc>
              </a:tr>
              <a:tr h="365760">
                <a:tc>
                  <a:txBody>
                    <a:bodyPr/>
                    <a:lstStyle/>
                    <a:p>
                      <a:pPr>
                        <a:defRPr sz="1200"/>
                      </a:pPr>
                      <a:r>
                        <a:t>Inject Lambda errors</a:t>
                      </a:r>
                    </a:p>
                  </a:txBody>
                  <a:tcPr/>
                </a:tc>
                <a:tc>
                  <a:txBody>
                    <a:bodyPr/>
                    <a:lstStyle/>
                    <a:p>
                      <a:pPr>
                        <a:defRPr sz="1200"/>
                      </a:pPr>
                      <a:r>
                        <a:t>Function failures</a:t>
                      </a:r>
                    </a:p>
                  </a:txBody>
                  <a:tcPr/>
                </a:tc>
              </a:tr>
              <a:tr h="365760">
                <a:tc>
                  <a:txBody>
                    <a:bodyPr/>
                    <a:lstStyle/>
                    <a:p>
                      <a:pPr>
                        <a:defRPr sz="1200"/>
                      </a:pPr>
                      <a:r>
                        <a:t>Disrupt network</a:t>
                      </a:r>
                    </a:p>
                  </a:txBody>
                  <a:tcPr>
                    <a:solidFill>
                      <a:srgbClr val="F2F3F4"/>
                    </a:solidFill>
                  </a:tcPr>
                </a:tc>
                <a:tc>
                  <a:txBody>
                    <a:bodyPr/>
                    <a:lstStyle/>
                    <a:p>
                      <a:pPr>
                        <a:defRPr sz="1200"/>
                      </a:pPr>
                      <a:r>
                        <a:t>Network partition between services</a:t>
                      </a:r>
                    </a:p>
                  </a:txBody>
                  <a:tcPr>
                    <a:solidFill>
                      <a:srgbClr val="F2F3F4"/>
                    </a:solidFill>
                  </a:tcPr>
                </a:tc>
              </a:tr>
              <a:tr h="365760">
                <a:tc>
                  <a:txBody>
                    <a:bodyPr/>
                    <a:lstStyle/>
                    <a:p>
                      <a:pPr>
                        <a:defRPr sz="1200"/>
                      </a:pPr>
                      <a:r>
                        <a:t>Failover RDS</a:t>
                      </a:r>
                    </a:p>
                  </a:txBody>
                  <a:tcPr/>
                </a:tc>
                <a:tc>
                  <a:txBody>
                    <a:bodyPr/>
                    <a:lstStyle/>
                    <a:p>
                      <a:pPr>
                        <a:defRPr sz="1200"/>
                      </a:pPr>
                      <a:r>
                        <a:t>Database failover to standby</a:t>
                      </a:r>
                    </a:p>
                  </a:txBody>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Chaos engineering with AWS FIS</a:t>
            </a:r>
          </a:p>
        </p:txBody>
      </p:sp>
      <p:sp>
        <p:nvSpPr>
          <p:cNvPr id="3" name="Content Placeholder 2"/>
          <p:cNvSpPr>
            <a:spLocks noGrp="1"/>
          </p:cNvSpPr>
          <p:nvPr>
            <p:ph idx="1"/>
          </p:nvPr>
        </p:nvSpPr>
        <p:spPr/>
        <p:txBody>
          <a:bodyPr/>
          <a:lstStyle/>
          <a:p>
            <a:pPr>
              <a:defRPr sz="1800"/>
            </a:pPr>
            <a:r>
              <a:t>Define a hypothesis ("ASG replaces failed instance in 5 min")</a:t>
            </a:r>
          </a:p>
          <a:p>
            <a:pPr>
              <a:defRPr sz="1800"/>
            </a:pPr>
            <a:r>
              <a:t>Run the experiment (stop an EC2 instance via FIS)</a:t>
            </a:r>
          </a:p>
          <a:p>
            <a:pPr>
              <a:defRPr sz="1800"/>
            </a:pPr>
            <a:r>
              <a:t>Observe results (CloudWatch, ALB health checks)</a:t>
            </a:r>
          </a:p>
          <a:p>
            <a:pPr>
              <a:defRPr sz="1800"/>
            </a:pPr>
            <a:r>
              <a:t>Improve if recovery did not meet expectations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a:defRPr sz="1800"/>
            </a:pPr>
            <a:r>
              <a:t>Define RTO and RPO for every critical workload before designing the architecture; these objectives determine the DR strategy and investment</a:t>
            </a:r>
          </a:p>
          <a:p>
            <a:pPr>
              <a:defRPr sz="1800"/>
            </a:pPr>
            <a:r>
              <a:t>Multi-AZ is the minimum for production; it protects against single-AZ failures with automatic failover for most AWS services</a:t>
            </a:r>
          </a:p>
          <a:p>
            <a:pPr>
              <a:defRPr sz="1800"/>
            </a:pPr>
            <a:r>
              <a:t>The four DR strategies (backup/restore, pilot light, warm standby, active-active) are a spectrum of cost vs. recovery speed</a:t>
            </a:r>
          </a:p>
          <a:p>
            <a:pPr>
              <a:defRPr sz="1800"/>
            </a:pPr>
            <a:r>
              <a:t>Apply resilience patterns (retry, circuit breaker, bulkhead, timeout) to prevent cascading failures in distributed applications</a:t>
            </a:r>
          </a:p>
          <a:p>
            <a:pPr>
              <a:defRPr sz="1800"/>
            </a:pPr>
            <a:r>
              <a:t>Test reliability through chaos engineering; a DR plan that has never been tested may not work when you need it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preview: disaster recovery planning</a:t>
            </a:r>
          </a:p>
        </p:txBody>
      </p:sp>
      <p:sp>
        <p:nvSpPr>
          <p:cNvPr id="3" name="Content Placeholder 2"/>
          <p:cNvSpPr>
            <a:spLocks noGrp="1"/>
          </p:cNvSpPr>
          <p:nvPr>
            <p:ph idx="1"/>
          </p:nvPr>
        </p:nvSpPr>
        <p:spPr/>
        <p:txBody>
          <a:bodyPr/>
          <a:lstStyle/>
          <a:p>
            <a:pPr>
              <a:defRPr sz="1600"/>
            </a:pPr>
            <a:r>
              <a:t>What you will do:</a:t>
            </a:r>
          </a:p>
          <a:p>
            <a:pPr>
              <a:defRPr sz="1800"/>
            </a:pPr>
            <a:r>
              <a:t>Design a DR strategy document for a sample application</a:t>
            </a:r>
          </a:p>
          <a:p>
            <a:pPr>
              <a:defRPr sz="1800"/>
            </a:pPr>
            <a:r>
              <a:t>Configure AWS Backup with a backup plan and vault</a:t>
            </a:r>
          </a:p>
          <a:p>
            <a:pPr>
              <a:defRPr sz="1800"/>
            </a:pPr>
            <a:r>
              <a:t>Perform a backup and validate a restore</a:t>
            </a:r>
          </a:p>
          <a:p>
            <a:pPr>
              <a:defRPr sz="1800"/>
            </a:pPr>
            <a:r>
              <a:t>Configure Route 53 health checks for failover routing</a:t>
            </a:r>
          </a:p>
          <a:p>
            <a:pPr>
              <a:defRPr sz="1600"/>
            </a:pPr>
            <a:r>
              <a:t>Duration: 60 minutes (open-ended format)</a:t>
            </a:r>
          </a:p>
          <a:p>
            <a:pPr>
              <a:defRPr sz="1600"/>
            </a:pPr>
            <a:r>
              <a:t>Key services: AWS Backup, Route 53, RDS, S3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a:t>
            </a:r>
          </a:p>
        </p:txBody>
      </p:sp>
      <p:sp>
        <p:nvSpPr>
          <p:cNvPr id="3" name="Content Placeholder 2"/>
          <p:cNvSpPr>
            <a:spLocks noGrp="1"/>
          </p:cNvSpPr>
          <p:nvPr>
            <p:ph idx="1"/>
          </p:nvPr>
        </p:nvSpPr>
        <p:spPr/>
        <p:txBody>
          <a:bodyPr/>
          <a:lstStyle/>
          <a:p>
            <a:pPr>
              <a:defRPr sz="1600"/>
            </a:pPr>
            <a:r>
              <a:t>Review `modules/16-reliability-and-disaster-recovery/resources.md` for further reading.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