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Welcome to Module 12, the final module in Phase 3. This module connects IaC (Module 11) with automated deployment. Breakdown: 10 min CI/CD fundamentals, 10 min AWS developer tools, 15 min CodeBuild, 15 min CodeDeploy, 10 min CodePipeline, 10 min deployment strategies, 5 min GitHub Actions, 5 min wrap-up.</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This section takes about 10 minutes. Start by asking students how they currently deploy code. Use the pipeline diagram to show the full flow from commit to production.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This section takes about 5 minutes. Briefly introduce each service and its role in the pipeline.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This section takes about 15 minutes. Show a buildspec.yml example and walk through each phase.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Expected answer: npm install may update the lock file and resolve different dependency versions. npm ci installs exactly from the lock file, making builds deterministic and faster. This applies to all package managers: always use the lock-file-based install command.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This section takes about 10 minutes. Cover the appspec.yml structure and deployment configurations.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This section takes about 10 minutes. Draw the pipeline structure on the board and explain artifact passing between stages.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This section takes about 10 minutes. Use the comparison table to highlight trade-offs. Ask students which strategy they would choose for an e-commerce site during peak traffic.</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Answer: D) Canary or C) Blue/green. Canary limits blast radius to a small percentage of traffic. Blue/green provides instant rollback. All-at-once is too risky for a payment service. Rolling runs mixed versions, which can cause issues with financial transactions.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Expected answer: Immediate response is to let CodeDeploy's automatic rollback handle it (configured to roll back on health check failure). The team does not need to manually intervene if rollback is configured. The pipeline feature that saves you is automatic rollback on alarm trigger. Lesson: always configure automatic rollback for production deployments. Never rely on manual intervention for Friday evening failures.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The lab has 4 guided steps and 3 semi-guided steps. Students will need a GitHub repository with a simple Node.js or Python app. Remind them to configure OIDC if using GitHub Actions for the optional challenge.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Take 5-10 minutes for questions. Common questions: "Continuous Delivery vs. Continuous Deployment?" (Delivery has a manual gate; Deployment is fully automated.) "How to handle database migrations?" (Run migrations before deploying new app code; ensure backward compatibility.)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Module 12: CI/CD Pipelines</a:t>
            </a:r>
          </a:p>
        </p:txBody>
      </p:sp>
      <p:sp>
        <p:nvSpPr>
          <p:cNvPr id="3" name="Content Placeholder 2"/>
          <p:cNvSpPr>
            <a:spLocks noGrp="1"/>
          </p:cNvSpPr>
          <p:nvPr>
            <p:ph idx="1"/>
          </p:nvPr>
        </p:nvSpPr>
        <p:spPr/>
        <p:txBody>
          <a:bodyPr/>
          <a:lstStyle/>
          <a:p>
            <a:pPr>
              <a:defRPr sz="1600"/>
            </a:pPr>
            <a:r>
              <a:t>Phase 3: Building Applications</a:t>
            </a:r>
          </a:p>
          <a:p>
            <a:pPr>
              <a:defRPr sz="1600"/>
            </a:pPr>
            <a:r>
              <a:t>Estimated lecture time: 75 to 90 minutes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Learning objectives</a:t>
            </a:r>
          </a:p>
        </p:txBody>
      </p:sp>
      <p:sp>
        <p:nvSpPr>
          <p:cNvPr id="3" name="Content Placeholder 2"/>
          <p:cNvSpPr>
            <a:spLocks noGrp="1"/>
          </p:cNvSpPr>
          <p:nvPr>
            <p:ph idx="1"/>
          </p:nvPr>
        </p:nvSpPr>
        <p:spPr/>
        <p:txBody>
          <a:bodyPr/>
          <a:lstStyle/>
          <a:p>
            <a:pPr>
              <a:defRPr sz="1600"/>
            </a:pPr>
            <a:r>
              <a:t>By the end of this module, you will be able to:</a:t>
            </a:r>
          </a:p>
          <a:p>
            <a:pPr>
              <a:defRPr sz="1800"/>
            </a:pPr>
            <a:r>
              <a:t>Build a CI/CD pipeline using AWS CodePipeline with source, build, test, and deploy stages</a:t>
            </a:r>
          </a:p>
          <a:p>
            <a:pPr>
              <a:defRPr sz="1800"/>
            </a:pPr>
            <a:r>
              <a:t>Construct a buildspec.yml for CodeBuild with install, pre-build, build, and post-build phases</a:t>
            </a:r>
          </a:p>
          <a:p>
            <a:pPr>
              <a:defRPr sz="1800"/>
            </a:pPr>
            <a:r>
              <a:t>Integrate CodeDeploy with deployment groups and appspec.yml for EC2 and ECS</a:t>
            </a:r>
          </a:p>
          <a:p>
            <a:pPr>
              <a:defRPr sz="1800"/>
            </a:pPr>
            <a:r>
              <a:t>Troubleshoot failed pipeline executions using CodeBuild logs and lifecycle events</a:t>
            </a:r>
          </a:p>
          <a:p>
            <a:pPr>
              <a:defRPr sz="1800"/>
            </a:pPr>
            <a:r>
              <a:t>Compare deployment strategies (all-at-once, rolling, blue/green, canary)</a:t>
            </a:r>
          </a:p>
          <a:p>
            <a:pPr>
              <a:defRPr sz="1800"/>
            </a:pPr>
            <a:r>
              <a:t>Differentiate CodePipeline and GitHub Actions for CI/CD orchestration</a:t>
            </a:r>
          </a:p>
          <a:p>
            <a:pPr>
              <a:defRPr sz="1800"/>
            </a:pPr>
            <a:r>
              <a:t>Integrate artifact management using S3 and CodeArtifact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Prerequisites and agenda</a:t>
            </a:r>
          </a:p>
        </p:txBody>
      </p:sp>
      <p:sp>
        <p:nvSpPr>
          <p:cNvPr id="3" name="Content Placeholder 2"/>
          <p:cNvSpPr>
            <a:spLocks noGrp="1"/>
          </p:cNvSpPr>
          <p:nvPr>
            <p:ph idx="1"/>
          </p:nvPr>
        </p:nvSpPr>
        <p:spPr/>
        <p:txBody>
          <a:bodyPr/>
          <a:lstStyle/>
          <a:p>
            <a:pPr>
              <a:defRPr sz="1600"/>
            </a:pPr>
            <a:r>
              <a:t>Prerequisites: Modules 09 (Lambda), 10 (ECS), 11 (IaC with CloudFormation/SAM)</a:t>
            </a:r>
          </a:p>
          <a:p>
            <a:pPr>
              <a:defRPr sz="1600"/>
            </a:pPr>
            <a:r>
              <a:t>Agenda:</a:t>
            </a:r>
          </a:p>
          <a:p>
            <a:pPr>
              <a:defRPr sz="1800"/>
            </a:pPr>
            <a:r>
              <a:t>CI/CD fundamentals</a:t>
            </a:r>
          </a:p>
          <a:p>
            <a:pPr>
              <a:defRPr sz="1800"/>
            </a:pPr>
            <a:r>
              <a:t>AWS developer tools overview</a:t>
            </a:r>
          </a:p>
          <a:p>
            <a:pPr>
              <a:defRPr sz="1800"/>
            </a:pPr>
            <a:r>
              <a:t>Source stage and repository connections</a:t>
            </a:r>
          </a:p>
          <a:p>
            <a:pPr>
              <a:defRPr sz="1800"/>
            </a:pPr>
            <a:r>
              <a:t>CodeBuild: compiling, testing, packaging</a:t>
            </a:r>
          </a:p>
          <a:p>
            <a:pPr>
              <a:defRPr sz="1800"/>
            </a:pPr>
            <a:r>
              <a:t>CodeDeploy: automating deployments</a:t>
            </a:r>
          </a:p>
          <a:p>
            <a:pPr>
              <a:defRPr sz="1800"/>
            </a:pPr>
            <a:r>
              <a:t>CodePipeline: orchestrating the release process</a:t>
            </a:r>
          </a:p>
          <a:p>
            <a:pPr>
              <a:defRPr sz="1800"/>
            </a:pPr>
            <a:r>
              <a:t>Deployment strategies</a:t>
            </a:r>
          </a:p>
          <a:p>
            <a:pPr>
              <a:defRPr sz="1800"/>
            </a:pPr>
            <a:r>
              <a:t>GitHub Actions as an alternative</a:t>
            </a:r>
          </a:p>
          <a:p>
            <a:pPr>
              <a:defRPr sz="1800"/>
            </a:pPr>
            <a:r>
              <a:t>Artifact management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CI/CD fundamentals</a:t>
            </a:r>
          </a:p>
        </p:txBody>
      </p:sp>
      <p:sp>
        <p:nvSpPr>
          <p:cNvPr id="3" name="Text Placeholder 2"/>
          <p:cNvSpPr>
            <a:spLocks noGrp="1"/>
          </p:cNvSpPr>
          <p:nvPr>
            <p:ph type="body" idx="1"/>
          </p:nvPr>
        </p:nvSpPr>
        <p:spPr/>
        <p:txBody>
          <a:bodyPr/>
          <a:lstStyle/>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What CI and CD mean</a:t>
            </a:r>
          </a:p>
        </p:txBody>
      </p:sp>
      <p:sp>
        <p:nvSpPr>
          <p:cNvPr id="3" name="Content Placeholder 2"/>
          <p:cNvSpPr>
            <a:spLocks noGrp="1"/>
          </p:cNvSpPr>
          <p:nvPr>
            <p:ph idx="1"/>
          </p:nvPr>
        </p:nvSpPr>
        <p:spPr/>
        <p:txBody>
          <a:bodyPr/>
          <a:lstStyle/>
          <a:p>
            <a:pPr>
              <a:defRPr sz="1800"/>
            </a:pPr>
            <a:r>
              <a:t>Continuous Integration (CI): Automatically build and test code on every push</a:t>
            </a:r>
          </a:p>
          <a:p>
            <a:pPr>
              <a:defRPr sz="1800"/>
            </a:pPr>
            <a:r>
              <a:t>Continuous Delivery (CD): Automatically deploy validated code to staging or production</a:t>
            </a:r>
          </a:p>
          <a:p>
            <a:pPr>
              <a:defRPr sz="1800"/>
            </a:pPr>
            <a:r>
              <a:t>Together, they create an automated pipeline from commit to running application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Box 2"/>
          <p:cNvSpPr txBox="1"/>
          <p:nvPr/>
        </p:nvSpPr>
        <p:spPr>
          <a:xfrm>
            <a:off x="457200" y="182880"/>
            <a:ext cx="8229600" cy="731520"/>
          </a:xfrm>
          <a:prstGeom prst="rect">
            <a:avLst/>
          </a:prstGeom>
          <a:noFill/>
        </p:spPr>
        <p:txBody>
          <a:bodyPr wrap="none">
            <a:spAutoFit/>
          </a:bodyPr>
          <a:lstStyle/>
          <a:p>
            <a:pPr>
              <a:defRPr sz="2800" b="1"/>
            </a:pPr>
            <a:r>
              <a:t>Benefits of CI/CD</a:t>
            </a:r>
          </a:p>
        </p:txBody>
      </p:sp>
      <p:graphicFrame>
        <p:nvGraphicFramePr>
          <p:cNvPr id="4" name="Table 3"/>
          <p:cNvGraphicFramePr>
            <a:graphicFrameLocks noGrp="1"/>
          </p:cNvGraphicFramePr>
          <p:nvPr/>
        </p:nvGraphicFramePr>
        <p:xfrm>
          <a:off x="457200" y="1097280"/>
          <a:ext cx="8229600" cy="1828800"/>
        </p:xfrm>
        <a:graphic>
          <a:graphicData uri="http://schemas.openxmlformats.org/drawingml/2006/table">
            <a:tbl>
              <a:tblPr firstRow="1" bandRow="1">
                <a:tableStyleId>{5C22544A-7EE6-4342-B048-85BDC9FD1C3A}</a:tableStyleId>
              </a:tblPr>
              <a:tblGrid>
                <a:gridCol w="4114800"/>
                <a:gridCol w="4114800"/>
              </a:tblGrid>
              <a:tr h="365760">
                <a:tc>
                  <a:txBody>
                    <a:bodyPr/>
                    <a:lstStyle/>
                    <a:p>
                      <a:pPr>
                        <a:defRPr sz="1400" b="1">
                          <a:solidFill>
                            <a:srgbClr val="FFFFFF"/>
                          </a:solidFill>
                        </a:defRPr>
                      </a:pPr>
                      <a:r>
                        <a:t>Benefit</a:t>
                      </a:r>
                    </a:p>
                  </a:txBody>
                  <a:tcPr>
                    <a:solidFill>
                      <a:srgbClr val="232F3E"/>
                    </a:solidFill>
                  </a:tcPr>
                </a:tc>
                <a:tc>
                  <a:txBody>
                    <a:bodyPr/>
                    <a:lstStyle/>
                    <a:p>
                      <a:pPr>
                        <a:defRPr sz="1400" b="1">
                          <a:solidFill>
                            <a:srgbClr val="FFFFFF"/>
                          </a:solidFill>
                        </a:defRPr>
                      </a:pPr>
                      <a:r>
                        <a:t>Description</a:t>
                      </a:r>
                    </a:p>
                  </a:txBody>
                  <a:tcPr>
                    <a:solidFill>
                      <a:srgbClr val="232F3E"/>
                    </a:solidFill>
                  </a:tcPr>
                </a:tc>
              </a:tr>
              <a:tr h="365760">
                <a:tc>
                  <a:txBody>
                    <a:bodyPr/>
                    <a:lstStyle/>
                    <a:p>
                      <a:pPr>
                        <a:defRPr sz="1200"/>
                      </a:pPr>
                      <a:r>
                        <a:t>Reduced risk</a:t>
                      </a:r>
                    </a:p>
                  </a:txBody>
                  <a:tcPr>
                    <a:solidFill>
                      <a:srgbClr val="F2F3F4"/>
                    </a:solidFill>
                  </a:tcPr>
                </a:tc>
                <a:tc>
                  <a:txBody>
                    <a:bodyPr/>
                    <a:lstStyle/>
                    <a:p>
                      <a:pPr>
                        <a:defRPr sz="1200"/>
                      </a:pPr>
                      <a:r>
                        <a:t>Small, frequent deploys are easier to troubleshoot</a:t>
                      </a:r>
                    </a:p>
                  </a:txBody>
                  <a:tcPr>
                    <a:solidFill>
                      <a:srgbClr val="F2F3F4"/>
                    </a:solidFill>
                  </a:tcPr>
                </a:tc>
              </a:tr>
              <a:tr h="365760">
                <a:tc>
                  <a:txBody>
                    <a:bodyPr/>
                    <a:lstStyle/>
                    <a:p>
                      <a:pPr>
                        <a:defRPr sz="1200"/>
                      </a:pPr>
                      <a:r>
                        <a:t>Consistent process</a:t>
                      </a:r>
                    </a:p>
                  </a:txBody>
                  <a:tcPr/>
                </a:tc>
                <a:tc>
                  <a:txBody>
                    <a:bodyPr/>
                    <a:lstStyle/>
                    <a:p>
                      <a:pPr>
                        <a:defRPr sz="1200"/>
                      </a:pPr>
                      <a:r>
                        <a:t>Every deployment follows the same automated steps</a:t>
                      </a:r>
                    </a:p>
                  </a:txBody>
                  <a:tcPr/>
                </a:tc>
              </a:tr>
              <a:tr h="365760">
                <a:tc>
                  <a:txBody>
                    <a:bodyPr/>
                    <a:lstStyle/>
                    <a:p>
                      <a:pPr>
                        <a:defRPr sz="1200"/>
                      </a:pPr>
                      <a:r>
                        <a:t>Audit trail</a:t>
                      </a:r>
                    </a:p>
                  </a:txBody>
                  <a:tcPr>
                    <a:solidFill>
                      <a:srgbClr val="F2F3F4"/>
                    </a:solidFill>
                  </a:tcPr>
                </a:tc>
                <a:tc>
                  <a:txBody>
                    <a:bodyPr/>
                    <a:lstStyle/>
                    <a:p>
                      <a:pPr>
                        <a:defRPr sz="1200"/>
                      </a:pPr>
                      <a:r>
                        <a:t>Every execution records who, what, and when</a:t>
                      </a:r>
                    </a:p>
                  </a:txBody>
                  <a:tcPr>
                    <a:solidFill>
                      <a:srgbClr val="F2F3F4"/>
                    </a:solidFill>
                  </a:tcPr>
                </a:tc>
              </a:tr>
              <a:tr h="365760">
                <a:tc>
                  <a:txBody>
                    <a:bodyPr/>
                    <a:lstStyle/>
                    <a:p>
                      <a:pPr>
                        <a:defRPr sz="1200"/>
                      </a:pPr>
                      <a:r>
                        <a:t>Higher confidence</a:t>
                      </a:r>
                    </a:p>
                  </a:txBody>
                  <a:tcPr/>
                </a:tc>
                <a:tc>
                  <a:txBody>
                    <a:bodyPr/>
                    <a:lstStyle/>
                    <a:p>
                      <a:pPr>
                        <a:defRPr sz="1200"/>
                      </a:pPr>
                      <a:r>
                        <a:t>Automated tests run on every change</a:t>
                      </a:r>
                    </a:p>
                  </a:txBody>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Box 2"/>
          <p:cNvSpPr txBox="1"/>
          <p:nvPr/>
        </p:nvSpPr>
        <p:spPr>
          <a:xfrm>
            <a:off x="457200" y="182880"/>
            <a:ext cx="8229600" cy="731520"/>
          </a:xfrm>
          <a:prstGeom prst="rect">
            <a:avLst/>
          </a:prstGeom>
          <a:noFill/>
        </p:spPr>
        <p:txBody>
          <a:bodyPr wrap="none">
            <a:spAutoFit/>
          </a:bodyPr>
          <a:lstStyle/>
          <a:p>
            <a:pPr>
              <a:defRPr sz="2800" b="1"/>
            </a:pPr>
            <a:r>
              <a:t>The CI/CD pipeline flow</a:t>
            </a:r>
          </a:p>
        </p:txBody>
      </p:sp>
      <p:sp>
        <p:nvSpPr>
          <p:cNvPr id="4" name="Rounded Rectangle 3"/>
          <p:cNvSpPr/>
          <p:nvPr/>
        </p:nvSpPr>
        <p:spPr>
          <a:xfrm>
            <a:off x="457200" y="1097280"/>
            <a:ext cx="8229600" cy="4572000"/>
          </a:xfrm>
          <a:prstGeom prst="roundRect">
            <a:avLst/>
          </a:prstGeom>
          <a:solidFill>
            <a:srgbClr val="1E1E2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a:solidFill>
                  <a:srgbClr val="CDD6F4"/>
                </a:solidFill>
                <a:latin typeface="Courier New"/>
              </a:defRPr>
            </a:pPr>
            <a:r>
              <a:t>Developer pushes code</a:t>
            </a:r>
            <a:br/>
            <a:r>
              <a:t>    |</a:t>
            </a:r>
            <a:br/>
            <a:r>
              <a:t>    v</a:t>
            </a:r>
            <a:br/>
            <a:r>
              <a:t>Source Stage (pull from repository)</a:t>
            </a:r>
            <a:br/>
            <a:r>
              <a:t>    |</a:t>
            </a:r>
            <a:br/>
            <a:r>
              <a:t>    v</a:t>
            </a:r>
            <a:br/>
            <a:r>
              <a:t>Build Stage (compile, test, package)</a:t>
            </a:r>
            <a:br/>
            <a:r>
              <a:t>    |</a:t>
            </a:r>
            <a:br/>
            <a:r>
              <a:t>    v</a:t>
            </a:r>
            <a:br/>
            <a:r>
              <a:t>Staging Deployment</a:t>
            </a:r>
            <a:br/>
            <a:r>
              <a:t>    |</a:t>
            </a:r>
            <a:br/>
            <a:r>
              <a:t>    v</a:t>
            </a:r>
            <a:br/>
            <a:r>
              <a:t>Manual Approval (optional gate)</a:t>
            </a:r>
            <a:br/>
            <a:r>
              <a:t>    |</a:t>
            </a:r>
            <a:br/>
            <a:r>
              <a:t>    v</a:t>
            </a:r>
            <a:br/>
            <a:r>
              <a:t>Production Deployment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AWS developer tools overview</a:t>
            </a:r>
          </a:p>
        </p:txBody>
      </p:sp>
      <p:sp>
        <p:nvSpPr>
          <p:cNvPr id="3" name="Text Placeholder 2"/>
          <p:cNvSpPr>
            <a:spLocks noGrp="1"/>
          </p:cNvSpPr>
          <p:nvPr>
            <p:ph type="body" idx="1"/>
          </p:nvPr>
        </p:nvSpPr>
        <p:spPr/>
        <p:txBody>
          <a:bodyPr/>
          <a:lstStyle/>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Box 2"/>
          <p:cNvSpPr txBox="1"/>
          <p:nvPr/>
        </p:nvSpPr>
        <p:spPr>
          <a:xfrm>
            <a:off x="457200" y="182880"/>
            <a:ext cx="8229600" cy="731520"/>
          </a:xfrm>
          <a:prstGeom prst="rect">
            <a:avLst/>
          </a:prstGeom>
          <a:noFill/>
        </p:spPr>
        <p:txBody>
          <a:bodyPr wrap="none">
            <a:spAutoFit/>
          </a:bodyPr>
          <a:lstStyle/>
          <a:p>
            <a:pPr>
              <a:defRPr sz="2800" b="1"/>
            </a:pPr>
            <a:r>
              <a:t>AWS developer tools</a:t>
            </a:r>
          </a:p>
        </p:txBody>
      </p:sp>
      <p:graphicFrame>
        <p:nvGraphicFramePr>
          <p:cNvPr id="4" name="Table 3"/>
          <p:cNvGraphicFramePr>
            <a:graphicFrameLocks noGrp="1"/>
          </p:cNvGraphicFramePr>
          <p:nvPr/>
        </p:nvGraphicFramePr>
        <p:xfrm>
          <a:off x="457200" y="1097280"/>
          <a:ext cx="8229600" cy="1463040"/>
        </p:xfrm>
        <a:graphic>
          <a:graphicData uri="http://schemas.openxmlformats.org/drawingml/2006/table">
            <a:tbl>
              <a:tblPr firstRow="1" bandRow="1">
                <a:tableStyleId>{5C22544A-7EE6-4342-B048-85BDC9FD1C3A}</a:tableStyleId>
              </a:tblPr>
              <a:tblGrid>
                <a:gridCol w="2743200"/>
                <a:gridCol w="2743200"/>
                <a:gridCol w="2743200"/>
              </a:tblGrid>
              <a:tr h="365760">
                <a:tc>
                  <a:txBody>
                    <a:bodyPr/>
                    <a:lstStyle/>
                    <a:p>
                      <a:pPr>
                        <a:defRPr sz="1400" b="1">
                          <a:solidFill>
                            <a:srgbClr val="FFFFFF"/>
                          </a:solidFill>
                        </a:defRPr>
                      </a:pPr>
                      <a:r>
                        <a:t>Service</a:t>
                      </a:r>
                    </a:p>
                  </a:txBody>
                  <a:tcPr>
                    <a:solidFill>
                      <a:srgbClr val="232F3E"/>
                    </a:solidFill>
                  </a:tcPr>
                </a:tc>
                <a:tc>
                  <a:txBody>
                    <a:bodyPr/>
                    <a:lstStyle/>
                    <a:p>
                      <a:pPr>
                        <a:defRPr sz="1400" b="1">
                          <a:solidFill>
                            <a:srgbClr val="FFFFFF"/>
                          </a:solidFill>
                        </a:defRPr>
                      </a:pPr>
                      <a:r>
                        <a:t>Purpose</a:t>
                      </a:r>
                    </a:p>
                  </a:txBody>
                  <a:tcPr>
                    <a:solidFill>
                      <a:srgbClr val="232F3E"/>
                    </a:solidFill>
                  </a:tcPr>
                </a:tc>
                <a:tc>
                  <a:txBody>
                    <a:bodyPr/>
                    <a:lstStyle/>
                    <a:p>
                      <a:pPr>
                        <a:defRPr sz="1400" b="1">
                          <a:solidFill>
                            <a:srgbClr val="FFFFFF"/>
                          </a:solidFill>
                        </a:defRPr>
                      </a:pPr>
                      <a:r>
                        <a:t>Pipeline Stage</a:t>
                      </a:r>
                    </a:p>
                  </a:txBody>
                  <a:tcPr>
                    <a:solidFill>
                      <a:srgbClr val="232F3E"/>
                    </a:solidFill>
                  </a:tcPr>
                </a:tc>
              </a:tr>
              <a:tr h="365760">
                <a:tc>
                  <a:txBody>
                    <a:bodyPr/>
                    <a:lstStyle/>
                    <a:p>
                      <a:pPr>
                        <a:defRPr sz="1200"/>
                      </a:pPr>
                      <a:r>
                        <a:t>CodeDeploy</a:t>
                      </a:r>
                    </a:p>
                  </a:txBody>
                  <a:tcPr>
                    <a:solidFill>
                      <a:srgbClr val="F2F3F4"/>
                    </a:solidFill>
                  </a:tcPr>
                </a:tc>
                <a:tc>
                  <a:txBody>
                    <a:bodyPr/>
                    <a:lstStyle/>
                    <a:p>
                      <a:pPr>
                        <a:defRPr sz="1200"/>
                      </a:pPr>
                      <a:r>
                        <a:t>Automated deployment to EC2, ECS, Lambda</a:t>
                      </a:r>
                    </a:p>
                  </a:txBody>
                  <a:tcPr>
                    <a:solidFill>
                      <a:srgbClr val="F2F3F4"/>
                    </a:solidFill>
                  </a:tcPr>
                </a:tc>
                <a:tc>
                  <a:txBody>
                    <a:bodyPr/>
                    <a:lstStyle/>
                    <a:p>
                      <a:pPr>
                        <a:defRPr sz="1200"/>
                      </a:pPr>
                      <a:r>
                        <a:t>Deploy</a:t>
                      </a:r>
                    </a:p>
                  </a:txBody>
                  <a:tcPr>
                    <a:solidFill>
                      <a:srgbClr val="F2F3F4"/>
                    </a:solidFill>
                  </a:tcPr>
                </a:tc>
              </a:tr>
              <a:tr h="365760">
                <a:tc>
                  <a:txBody>
                    <a:bodyPr/>
                    <a:lstStyle/>
                    <a:p>
                      <a:pPr>
                        <a:defRPr sz="1200"/>
                      </a:pPr>
                      <a:r>
                        <a:t>CodePipeline</a:t>
                      </a:r>
                    </a:p>
                  </a:txBody>
                  <a:tcPr/>
                </a:tc>
                <a:tc>
                  <a:txBody>
                    <a:bodyPr/>
                    <a:lstStyle/>
                    <a:p>
                      <a:pPr>
                        <a:defRPr sz="1200"/>
                      </a:pPr>
                      <a:r>
                        <a:t>Orchestration connecting all stages</a:t>
                      </a:r>
                    </a:p>
                  </a:txBody>
                  <a:tcPr/>
                </a:tc>
                <a:tc>
                  <a:txBody>
                    <a:bodyPr/>
                    <a:lstStyle/>
                    <a:p>
                      <a:pPr>
                        <a:defRPr sz="1200"/>
                      </a:pPr>
                      <a:r>
                        <a:t>Orchestration</a:t>
                      </a:r>
                    </a:p>
                  </a:txBody>
                  <a:tcPr/>
                </a:tc>
              </a:tr>
              <a:tr h="365760">
                <a:tc>
                  <a:txBody>
                    <a:bodyPr/>
                    <a:lstStyle/>
                    <a:p>
                      <a:pPr>
                        <a:defRPr sz="1200"/>
                      </a:pPr>
                      <a:r>
                        <a:t>CodeArtifact</a:t>
                      </a:r>
                    </a:p>
                  </a:txBody>
                  <a:tcPr>
                    <a:solidFill>
                      <a:srgbClr val="F2F3F4"/>
                    </a:solidFill>
                  </a:tcPr>
                </a:tc>
                <a:tc>
                  <a:txBody>
                    <a:bodyPr/>
                    <a:lstStyle/>
                    <a:p>
                      <a:pPr>
                        <a:defRPr sz="1200"/>
                      </a:pPr>
                      <a:r>
                        <a:t>Managed package repository (npm, pip, Maven)</a:t>
                      </a:r>
                    </a:p>
                  </a:txBody>
                  <a:tcPr>
                    <a:solidFill>
                      <a:srgbClr val="F2F3F4"/>
                    </a:solidFill>
                  </a:tcPr>
                </a:tc>
                <a:tc>
                  <a:txBody>
                    <a:bodyPr/>
                    <a:lstStyle/>
                    <a:p>
                      <a:pPr>
                        <a:defRPr sz="1200"/>
                      </a:pPr>
                      <a:r>
                        <a:t>Dependencies</a:t>
                      </a:r>
                    </a:p>
                  </a:txBody>
                  <a:tcPr>
                    <a:solidFill>
                      <a:srgbClr val="F2F3F4"/>
                    </a:solidFill>
                  </a:tcPr>
                </a:tc>
              </a:tr>
            </a:tbl>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AWS developer tools</a:t>
            </a:r>
          </a:p>
        </p:txBody>
      </p:sp>
      <p:sp>
        <p:nvSpPr>
          <p:cNvPr id="3" name="Content Placeholder 2"/>
          <p:cNvSpPr>
            <a:spLocks noGrp="1"/>
          </p:cNvSpPr>
          <p:nvPr>
            <p:ph idx="1"/>
          </p:nvPr>
        </p:nvSpPr>
        <p:spPr/>
        <p:txBody>
          <a:bodyPr/>
          <a:lstStyle/>
          <a:p>
            <a:pPr>
              <a:defRPr sz="1400" i="1">
                <a:solidFill>
                  <a:srgbClr val="555555"/>
                </a:solidFill>
              </a:defRPr>
            </a:pPr>
            <a:r>
              <a:t>You do not need to use every tool together. Mix and match with GitHub, Jenkins, etc.</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CodeBuild: compiling, testing, and packaging</a:t>
            </a:r>
          </a:p>
        </p:txBody>
      </p:sp>
      <p:sp>
        <p:nvSpPr>
          <p:cNvPr id="3" name="Text Placeholder 2"/>
          <p:cNvSpPr>
            <a:spLocks noGrp="1"/>
          </p:cNvSpPr>
          <p:nvPr>
            <p:ph type="body" idx="1"/>
          </p:nvPr>
        </p:nvSpPr>
        <p:spPr/>
        <p:txBody>
          <a:bodyPr/>
          <a:lstStyle/>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How CodeBuild works</a:t>
            </a:r>
          </a:p>
        </p:txBody>
      </p:sp>
      <p:sp>
        <p:nvSpPr>
          <p:cNvPr id="3" name="Content Placeholder 2"/>
          <p:cNvSpPr>
            <a:spLocks noGrp="1"/>
          </p:cNvSpPr>
          <p:nvPr>
            <p:ph idx="1"/>
          </p:nvPr>
        </p:nvSpPr>
        <p:spPr/>
        <p:txBody>
          <a:bodyPr/>
          <a:lstStyle/>
          <a:p>
            <a:pPr>
              <a:defRPr sz="1800"/>
            </a:pPr>
            <a:r>
              <a:t>Spins up a temporary Docker container for each build</a:t>
            </a:r>
          </a:p>
          <a:p>
            <a:pPr>
              <a:defRPr sz="1800"/>
            </a:pPr>
            <a:r>
              <a:t>Downloads source code, executes your commands, uploads artifacts</a:t>
            </a:r>
          </a:p>
          <a:p>
            <a:pPr>
              <a:defRPr sz="1800"/>
            </a:pPr>
            <a:r>
              <a:t>Scales automatically for concurrent builds</a:t>
            </a:r>
          </a:p>
          <a:p>
            <a:pPr>
              <a:defRPr sz="1800"/>
            </a:pPr>
            <a:r>
              <a:t>You pay only for build minutes consumed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Box 2"/>
          <p:cNvSpPr txBox="1"/>
          <p:nvPr/>
        </p:nvSpPr>
        <p:spPr>
          <a:xfrm>
            <a:off x="457200" y="182880"/>
            <a:ext cx="8229600" cy="731520"/>
          </a:xfrm>
          <a:prstGeom prst="rect">
            <a:avLst/>
          </a:prstGeom>
          <a:noFill/>
        </p:spPr>
        <p:txBody>
          <a:bodyPr wrap="none">
            <a:spAutoFit/>
          </a:bodyPr>
          <a:lstStyle/>
          <a:p>
            <a:pPr>
              <a:defRPr sz="2800" b="1"/>
            </a:pPr>
            <a:r>
              <a:t>The buildspec.yml file</a:t>
            </a:r>
          </a:p>
        </p:txBody>
      </p:sp>
      <p:sp>
        <p:nvSpPr>
          <p:cNvPr id="4" name="Rounded Rectangle 3"/>
          <p:cNvSpPr/>
          <p:nvPr/>
        </p:nvSpPr>
        <p:spPr>
          <a:xfrm>
            <a:off x="457200" y="1097280"/>
            <a:ext cx="8229600" cy="4572000"/>
          </a:xfrm>
          <a:prstGeom prst="roundRect">
            <a:avLst/>
          </a:prstGeom>
          <a:solidFill>
            <a:srgbClr val="1E1E2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a:solidFill>
                  <a:srgbClr val="CDD6F4"/>
                </a:solidFill>
                <a:latin typeface="Courier New"/>
              </a:defRPr>
            </a:pPr>
            <a:r>
              <a:t>version: 0.2</a:t>
            </a:r>
            <a:br/>
            <a:r>
              <a:t>phases:</a:t>
            </a:r>
            <a:br/>
            <a:r>
              <a:t>  install:</a:t>
            </a:r>
            <a:br/>
            <a:r>
              <a:t>    runtime-versions:</a:t>
            </a:r>
            <a:br/>
            <a:r>
              <a:t>      nodejs: 20</a:t>
            </a:r>
            <a:br/>
            <a:r>
              <a:t>    commands:</a:t>
            </a:r>
            <a:br/>
            <a:r>
              <a:t>      - npm ci</a:t>
            </a:r>
            <a:br/>
            <a:r>
              <a:t>  pre_build:</a:t>
            </a:r>
            <a:br/>
            <a:r>
              <a:t>    commands:</a:t>
            </a:r>
            <a:br/>
            <a:r>
              <a:t>      - npm run lint</a:t>
            </a:r>
            <a:br/>
            <a:r>
              <a:t>      - npm run test</a:t>
            </a:r>
            <a:br/>
            <a:r>
              <a:t>  build:</a:t>
            </a:r>
            <a:br/>
            <a:r>
              <a:t>    commands:</a:t>
            </a:r>
            <a:br/>
            <a:r>
              <a:t>      - npm run build</a:t>
            </a:r>
            <a:br/>
            <a:r>
              <a:t>  post_build:</a:t>
            </a:r>
            <a:br/>
            <a:r>
              <a:t>    commands:</a:t>
            </a:r>
            <a:br/>
            <a:r>
              <a:t>      - echo "Build completed on $(date)"</a:t>
            </a:r>
            <a:br/>
            <a:r>
              <a:t>artifacts:</a:t>
            </a:r>
            <a:br/>
            <a:r>
              <a:t>  files: ["**/*"]</a:t>
            </a:r>
            <a:br/>
            <a:r>
              <a:t>  base-directory: dist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Box 2"/>
          <p:cNvSpPr txBox="1"/>
          <p:nvPr/>
        </p:nvSpPr>
        <p:spPr>
          <a:xfrm>
            <a:off x="457200" y="182880"/>
            <a:ext cx="8229600" cy="731520"/>
          </a:xfrm>
          <a:prstGeom prst="rect">
            <a:avLst/>
          </a:prstGeom>
          <a:noFill/>
        </p:spPr>
        <p:txBody>
          <a:bodyPr wrap="none">
            <a:spAutoFit/>
          </a:bodyPr>
          <a:lstStyle/>
          <a:p>
            <a:pPr>
              <a:defRPr sz="2800" b="1"/>
            </a:pPr>
            <a:r>
              <a:t>Build phases</a:t>
            </a:r>
          </a:p>
        </p:txBody>
      </p:sp>
      <p:graphicFrame>
        <p:nvGraphicFramePr>
          <p:cNvPr id="4" name="Table 3"/>
          <p:cNvGraphicFramePr>
            <a:graphicFrameLocks noGrp="1"/>
          </p:cNvGraphicFramePr>
          <p:nvPr/>
        </p:nvGraphicFramePr>
        <p:xfrm>
          <a:off x="457200" y="1097280"/>
          <a:ext cx="8229600" cy="1463040"/>
        </p:xfrm>
        <a:graphic>
          <a:graphicData uri="http://schemas.openxmlformats.org/drawingml/2006/table">
            <a:tbl>
              <a:tblPr firstRow="1" bandRow="1">
                <a:tableStyleId>{5C22544A-7EE6-4342-B048-85BDC9FD1C3A}</a:tableStyleId>
              </a:tblPr>
              <a:tblGrid>
                <a:gridCol w="2743200"/>
                <a:gridCol w="2743200"/>
                <a:gridCol w="2743200"/>
              </a:tblGrid>
              <a:tr h="365760">
                <a:tc>
                  <a:txBody>
                    <a:bodyPr/>
                    <a:lstStyle/>
                    <a:p>
                      <a:pPr>
                        <a:defRPr sz="1400" b="1">
                          <a:solidFill>
                            <a:srgbClr val="FFFFFF"/>
                          </a:solidFill>
                        </a:defRPr>
                      </a:pPr>
                      <a:r>
                        <a:t>Phase</a:t>
                      </a:r>
                    </a:p>
                  </a:txBody>
                  <a:tcPr>
                    <a:solidFill>
                      <a:srgbClr val="232F3E"/>
                    </a:solidFill>
                  </a:tcPr>
                </a:tc>
                <a:tc>
                  <a:txBody>
                    <a:bodyPr/>
                    <a:lstStyle/>
                    <a:p>
                      <a:pPr>
                        <a:defRPr sz="1400" b="1">
                          <a:solidFill>
                            <a:srgbClr val="FFFFFF"/>
                          </a:solidFill>
                        </a:defRPr>
                      </a:pPr>
                      <a:r>
                        <a:t>Purpose</a:t>
                      </a:r>
                    </a:p>
                  </a:txBody>
                  <a:tcPr>
                    <a:solidFill>
                      <a:srgbClr val="232F3E"/>
                    </a:solidFill>
                  </a:tcPr>
                </a:tc>
                <a:tc>
                  <a:txBody>
                    <a:bodyPr/>
                    <a:lstStyle/>
                    <a:p>
                      <a:pPr>
                        <a:defRPr sz="1400" b="1">
                          <a:solidFill>
                            <a:srgbClr val="FFFFFF"/>
                          </a:solidFill>
                        </a:defRPr>
                      </a:pPr>
                      <a:r>
                        <a:t>Common Commands</a:t>
                      </a:r>
                    </a:p>
                  </a:txBody>
                  <a:tcPr>
                    <a:solidFill>
                      <a:srgbClr val="232F3E"/>
                    </a:solidFill>
                  </a:tcPr>
                </a:tc>
              </a:tr>
              <a:tr h="365760">
                <a:tc>
                  <a:txBody>
                    <a:bodyPr/>
                    <a:lstStyle/>
                    <a:p>
                      <a:pPr>
                        <a:defRPr sz="1200"/>
                      </a:pPr>
                      <a:r>
                        <a:t>`pre_build`</a:t>
                      </a:r>
                    </a:p>
                  </a:txBody>
                  <a:tcPr>
                    <a:solidFill>
                      <a:srgbClr val="F2F3F4"/>
                    </a:solidFill>
                  </a:tcPr>
                </a:tc>
                <a:tc>
                  <a:txBody>
                    <a:bodyPr/>
                    <a:lstStyle/>
                    <a:p>
                      <a:pPr>
                        <a:defRPr sz="1200"/>
                      </a:pPr>
                      <a:r>
                        <a:t>Tasks before the main build</a:t>
                      </a:r>
                    </a:p>
                  </a:txBody>
                  <a:tcPr>
                    <a:solidFill>
                      <a:srgbClr val="F2F3F4"/>
                    </a:solidFill>
                  </a:tcPr>
                </a:tc>
                <a:tc>
                  <a:txBody>
                    <a:bodyPr/>
                    <a:lstStyle/>
                    <a:p>
                      <a:pPr>
                        <a:defRPr sz="1200"/>
                      </a:pPr>
                      <a:r>
                        <a:t>Linting, unit tests, Docker login</a:t>
                      </a:r>
                    </a:p>
                  </a:txBody>
                  <a:tcPr>
                    <a:solidFill>
                      <a:srgbClr val="F2F3F4"/>
                    </a:solidFill>
                  </a:tcPr>
                </a:tc>
              </a:tr>
              <a:tr h="365760">
                <a:tc>
                  <a:txBody>
                    <a:bodyPr/>
                    <a:lstStyle/>
                    <a:p>
                      <a:pPr>
                        <a:defRPr sz="1200"/>
                      </a:pPr>
                      <a:r>
                        <a:t>`build`</a:t>
                      </a:r>
                    </a:p>
                  </a:txBody>
                  <a:tcPr/>
                </a:tc>
                <a:tc>
                  <a:txBody>
                    <a:bodyPr/>
                    <a:lstStyle/>
                    <a:p>
                      <a:pPr>
                        <a:defRPr sz="1200"/>
                      </a:pPr>
                      <a:r>
                        <a:t>Compile code, run main build</a:t>
                      </a:r>
                    </a:p>
                  </a:txBody>
                  <a:tcPr/>
                </a:tc>
                <a:tc>
                  <a:txBody>
                    <a:bodyPr/>
                    <a:lstStyle/>
                    <a:p>
                      <a:pPr>
                        <a:defRPr sz="1200"/>
                      </a:pPr>
                      <a:r>
                        <a:t>`npm run build`, `docker build`</a:t>
                      </a:r>
                    </a:p>
                  </a:txBody>
                  <a:tcPr/>
                </a:tc>
              </a:tr>
              <a:tr h="365760">
                <a:tc>
                  <a:txBody>
                    <a:bodyPr/>
                    <a:lstStyle/>
                    <a:p>
                      <a:pPr>
                        <a:defRPr sz="1200"/>
                      </a:pPr>
                      <a:r>
                        <a:t>`post_build`</a:t>
                      </a:r>
                    </a:p>
                  </a:txBody>
                  <a:tcPr>
                    <a:solidFill>
                      <a:srgbClr val="F2F3F4"/>
                    </a:solidFill>
                  </a:tcPr>
                </a:tc>
                <a:tc>
                  <a:txBody>
                    <a:bodyPr/>
                    <a:lstStyle/>
                    <a:p>
                      <a:pPr>
                        <a:defRPr sz="1200"/>
                      </a:pPr>
                      <a:r>
                        <a:t>Tasks after build completes</a:t>
                      </a:r>
                    </a:p>
                  </a:txBody>
                  <a:tcPr>
                    <a:solidFill>
                      <a:srgbClr val="F2F3F4"/>
                    </a:solidFill>
                  </a:tcPr>
                </a:tc>
                <a:tc>
                  <a:txBody>
                    <a:bodyPr/>
                    <a:lstStyle/>
                    <a:p>
                      <a:pPr>
                        <a:defRPr sz="1200"/>
                      </a:pPr>
                      <a:r>
                        <a:t>Push images, generate reports</a:t>
                      </a:r>
                    </a:p>
                  </a:txBody>
                  <a:tcPr>
                    <a:solidFill>
                      <a:srgbClr val="F2F3F4"/>
                    </a:solidFill>
                  </a:tcPr>
                </a:tc>
              </a:tr>
            </a:tbl>
          </a:graphicData>
        </a:graphic>
      </p:graphicFrame>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Build phases</a:t>
            </a:r>
          </a:p>
        </p:txBody>
      </p:sp>
      <p:sp>
        <p:nvSpPr>
          <p:cNvPr id="3" name="Content Placeholder 2"/>
          <p:cNvSpPr>
            <a:spLocks noGrp="1"/>
          </p:cNvSpPr>
          <p:nvPr>
            <p:ph idx="1"/>
          </p:nvPr>
        </p:nvSpPr>
        <p:spPr/>
        <p:txBody>
          <a:bodyPr/>
          <a:lstStyle/>
          <a:p>
            <a:pPr>
              <a:defRPr sz="1400" i="1">
                <a:solidFill>
                  <a:srgbClr val="555555"/>
                </a:solidFill>
              </a:defRPr>
            </a:pPr>
            <a:r>
              <a:t>If any command fails (non-zero exit code), the build fails and skips remaining phases.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Discussion: why use `npm ci` instead of `npm install`?</a:t>
            </a:r>
          </a:p>
        </p:txBody>
      </p:sp>
      <p:sp>
        <p:nvSpPr>
          <p:cNvPr id="3" name="Content Placeholder 2"/>
          <p:cNvSpPr>
            <a:spLocks noGrp="1"/>
          </p:cNvSpPr>
          <p:nvPr>
            <p:ph idx="1"/>
          </p:nvPr>
        </p:nvSpPr>
        <p:spPr/>
        <p:txBody>
          <a:bodyPr/>
          <a:lstStyle/>
          <a:p>
            <a:pPr>
              <a:defRPr sz="1600"/>
            </a:pPr>
            <a:r>
              <a:t>Your pipeline runs `npm install` in the build stage. Occasionally, builds produce different results even though the code has not changed.</a:t>
            </a:r>
          </a:p>
          <a:p>
            <a:pPr>
              <a:defRPr sz="1600"/>
            </a:pPr>
            <a:r>
              <a:t>What causes this inconsistency, and how does `npm ci` fix it?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CodeDeploy: automating deployments</a:t>
            </a:r>
          </a:p>
        </p:txBody>
      </p:sp>
      <p:sp>
        <p:nvSpPr>
          <p:cNvPr id="3" name="Text Placeholder 2"/>
          <p:cNvSpPr>
            <a:spLocks noGrp="1"/>
          </p:cNvSpPr>
          <p:nvPr>
            <p:ph type="body" idx="1"/>
          </p:nvPr>
        </p:nvSpPr>
        <p:spPr/>
        <p:txBody>
          <a:bodyPr/>
          <a:lstStyle/>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CodeDeploy core concepts</a:t>
            </a:r>
          </a:p>
        </p:txBody>
      </p:sp>
      <p:sp>
        <p:nvSpPr>
          <p:cNvPr id="3" name="Content Placeholder 2"/>
          <p:cNvSpPr>
            <a:spLocks noGrp="1"/>
          </p:cNvSpPr>
          <p:nvPr>
            <p:ph idx="1"/>
          </p:nvPr>
        </p:nvSpPr>
        <p:spPr/>
        <p:txBody>
          <a:bodyPr/>
          <a:lstStyle/>
          <a:p>
            <a:pPr>
              <a:defRPr sz="1800"/>
            </a:pPr>
            <a:r>
              <a:t>Application: A name identifying the software to deploy</a:t>
            </a:r>
          </a:p>
          <a:p>
            <a:pPr>
              <a:defRPr sz="1800"/>
            </a:pPr>
            <a:r>
              <a:t>Deployment group: Target instances or services (by tags or ASG)</a:t>
            </a:r>
          </a:p>
          <a:p>
            <a:pPr>
              <a:defRPr sz="1800"/>
            </a:pPr>
            <a:r>
              <a:t>Revision: The application version plus an appspec.yml file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Box 2"/>
          <p:cNvSpPr txBox="1"/>
          <p:nvPr/>
        </p:nvSpPr>
        <p:spPr>
          <a:xfrm>
            <a:off x="457200" y="182880"/>
            <a:ext cx="8229600" cy="731520"/>
          </a:xfrm>
          <a:prstGeom prst="rect">
            <a:avLst/>
          </a:prstGeom>
          <a:noFill/>
        </p:spPr>
        <p:txBody>
          <a:bodyPr wrap="none">
            <a:spAutoFit/>
          </a:bodyPr>
          <a:lstStyle/>
          <a:p>
            <a:pPr>
              <a:defRPr sz="2800" b="1"/>
            </a:pPr>
            <a:r>
              <a:t>The appspec.yml file (EC2)</a:t>
            </a:r>
          </a:p>
        </p:txBody>
      </p:sp>
      <p:sp>
        <p:nvSpPr>
          <p:cNvPr id="4" name="Rounded Rectangle 3"/>
          <p:cNvSpPr/>
          <p:nvPr/>
        </p:nvSpPr>
        <p:spPr>
          <a:xfrm>
            <a:off x="457200" y="1097280"/>
            <a:ext cx="8229600" cy="4572000"/>
          </a:xfrm>
          <a:prstGeom prst="roundRect">
            <a:avLst/>
          </a:prstGeom>
          <a:solidFill>
            <a:srgbClr val="1E1E2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a:solidFill>
                  <a:srgbClr val="CDD6F4"/>
                </a:solidFill>
                <a:latin typeface="Courier New"/>
              </a:defRPr>
            </a:pPr>
            <a:r>
              <a:t>version: 0.0</a:t>
            </a:r>
            <a:br/>
            <a:r>
              <a:t>os: linux</a:t>
            </a:r>
            <a:br/>
            <a:r>
              <a:t>files:</a:t>
            </a:r>
            <a:br/>
            <a:r>
              <a:t>  - source: /</a:t>
            </a:r>
            <a:br/>
            <a:r>
              <a:t>    destination: /var/www/myapp</a:t>
            </a:r>
            <a:br/>
            <a:r>
              <a:t>hooks:</a:t>
            </a:r>
            <a:br/>
            <a:r>
              <a:t>  BeforeInstall:</a:t>
            </a:r>
            <a:br/>
            <a:r>
              <a:t>    - location: scripts/stop_server.sh</a:t>
            </a:r>
            <a:br/>
            <a:r>
              <a:t>      timeout: 120</a:t>
            </a:r>
            <a:br/>
            <a:r>
              <a:t>  AfterInstall:</a:t>
            </a:r>
            <a:br/>
            <a:r>
              <a:t>    - location: scripts/install_dependencies.sh</a:t>
            </a:r>
            <a:br/>
            <a:r>
              <a:t>      timeout: 300</a:t>
            </a:r>
            <a:br/>
            <a:r>
              <a:t>  ApplicationStart:</a:t>
            </a:r>
            <a:br/>
            <a:r>
              <a:t>    - location: scripts/start_server.sh</a:t>
            </a:r>
            <a:br/>
            <a:r>
              <a:t>      timeout: 120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CodePipeline: orchestrating the release</a:t>
            </a:r>
          </a:p>
        </p:txBody>
      </p:sp>
      <p:sp>
        <p:nvSpPr>
          <p:cNvPr id="3" name="Text Placeholder 2"/>
          <p:cNvSpPr>
            <a:spLocks noGrp="1"/>
          </p:cNvSpPr>
          <p:nvPr>
            <p:ph type="body" idx="1"/>
          </p:nvPr>
        </p:nvSpPr>
        <p:spPr/>
        <p:txBody>
          <a:bodyPr/>
          <a:lstStyle/>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Box 2"/>
          <p:cNvSpPr txBox="1"/>
          <p:nvPr/>
        </p:nvSpPr>
        <p:spPr>
          <a:xfrm>
            <a:off x="457200" y="182880"/>
            <a:ext cx="8229600" cy="731520"/>
          </a:xfrm>
          <a:prstGeom prst="rect">
            <a:avLst/>
          </a:prstGeom>
          <a:noFill/>
        </p:spPr>
        <p:txBody>
          <a:bodyPr wrap="none">
            <a:spAutoFit/>
          </a:bodyPr>
          <a:lstStyle/>
          <a:p>
            <a:pPr>
              <a:defRPr sz="2800" b="1"/>
            </a:pPr>
            <a:r>
              <a:t>Pipeline structure</a:t>
            </a:r>
          </a:p>
        </p:txBody>
      </p:sp>
      <p:sp>
        <p:nvSpPr>
          <p:cNvPr id="4" name="Rounded Rectangle 3"/>
          <p:cNvSpPr/>
          <p:nvPr/>
        </p:nvSpPr>
        <p:spPr>
          <a:xfrm>
            <a:off x="457200" y="1097280"/>
            <a:ext cx="8229600" cy="4572000"/>
          </a:xfrm>
          <a:prstGeom prst="roundRect">
            <a:avLst/>
          </a:prstGeom>
          <a:solidFill>
            <a:srgbClr val="1E1E2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a:solidFill>
                  <a:srgbClr val="CDD6F4"/>
                </a:solidFill>
                <a:latin typeface="Courier New"/>
              </a:defRPr>
            </a:pPr>
            <a:r>
              <a:t>Pipeline: my-app-pipeline</a:t>
            </a:r>
            <a:br/>
            <a:r>
              <a:t>  Stage 1: Source (GitHub, triggers on push)</a:t>
            </a:r>
            <a:br/>
            <a:r>
              <a:t>  Stage 2: Build (CodeBuild, compiles and tests)</a:t>
            </a:r>
            <a:br/>
            <a:r>
              <a:t>  Stage 3: Staging (CodeDeploy to staging)</a:t>
            </a:r>
            <a:br/>
            <a:r>
              <a:t>  Stage 4: Approval (manual gate)</a:t>
            </a:r>
            <a:br/>
            <a:r>
              <a:t>  Stage 5: Production (CodeDeploy to prod)</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Manual approval actions</a:t>
            </a:r>
          </a:p>
        </p:txBody>
      </p:sp>
      <p:sp>
        <p:nvSpPr>
          <p:cNvPr id="3" name="Content Placeholder 2"/>
          <p:cNvSpPr>
            <a:spLocks noGrp="1"/>
          </p:cNvSpPr>
          <p:nvPr>
            <p:ph idx="1"/>
          </p:nvPr>
        </p:nvSpPr>
        <p:spPr/>
        <p:txBody>
          <a:bodyPr/>
          <a:lstStyle/>
          <a:p>
            <a:pPr>
              <a:defRPr sz="1800"/>
            </a:pPr>
            <a:r>
              <a:t>Pauses the pipeline for human review before production</a:t>
            </a:r>
          </a:p>
          <a:p>
            <a:pPr>
              <a:defRPr sz="1800"/>
            </a:pPr>
            <a:r>
              <a:t>Sends notification via SNS to designated reviewers</a:t>
            </a:r>
          </a:p>
          <a:p>
            <a:pPr>
              <a:defRPr sz="1800"/>
            </a:pPr>
            <a:r>
              <a:t>Reviewer inspects staging, then approves or rejects</a:t>
            </a:r>
          </a:p>
          <a:p>
            <a:pPr>
              <a:defRPr sz="1800"/>
            </a:pPr>
            <a:r>
              <a:t>Configurable timeout (default 7 days)</a:t>
            </a:r>
          </a:p>
          <a:p>
            <a:pPr>
              <a:defRPr sz="1400" i="1">
                <a:solidFill>
                  <a:srgbClr val="555555"/>
                </a:solidFill>
              </a:defRPr>
            </a:pPr>
            <a:r>
              <a:t>Start with manual approvals for production. Remove the gate as confidence in automated testing grows.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Deployment strategies</a:t>
            </a:r>
          </a:p>
        </p:txBody>
      </p:sp>
      <p:sp>
        <p:nvSpPr>
          <p:cNvPr id="3" name="Text Placeholder 2"/>
          <p:cNvSpPr>
            <a:spLocks noGrp="1"/>
          </p:cNvSpPr>
          <p:nvPr>
            <p:ph type="body" idx="1"/>
          </p:nvPr>
        </p:nvSpPr>
        <p:spPr/>
        <p:txBody>
          <a:bodyPr/>
          <a:lstStyle/>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Box 2"/>
          <p:cNvSpPr txBox="1"/>
          <p:nvPr/>
        </p:nvSpPr>
        <p:spPr>
          <a:xfrm>
            <a:off x="457200" y="182880"/>
            <a:ext cx="8229600" cy="731520"/>
          </a:xfrm>
          <a:prstGeom prst="rect">
            <a:avLst/>
          </a:prstGeom>
          <a:noFill/>
        </p:spPr>
        <p:txBody>
          <a:bodyPr wrap="none">
            <a:spAutoFit/>
          </a:bodyPr>
          <a:lstStyle/>
          <a:p>
            <a:pPr>
              <a:defRPr sz="2800" b="1"/>
            </a:pPr>
            <a:r>
              <a:t>Strategy comparison</a:t>
            </a:r>
          </a:p>
        </p:txBody>
      </p:sp>
      <p:graphicFrame>
        <p:nvGraphicFramePr>
          <p:cNvPr id="4" name="Table 3"/>
          <p:cNvGraphicFramePr>
            <a:graphicFrameLocks noGrp="1"/>
          </p:cNvGraphicFramePr>
          <p:nvPr/>
        </p:nvGraphicFramePr>
        <p:xfrm>
          <a:off x="457200" y="1097280"/>
          <a:ext cx="8229600" cy="1463040"/>
        </p:xfrm>
        <a:graphic>
          <a:graphicData uri="http://schemas.openxmlformats.org/drawingml/2006/table">
            <a:tbl>
              <a:tblPr firstRow="1" bandRow="1">
                <a:tableStyleId>{5C22544A-7EE6-4342-B048-85BDC9FD1C3A}</a:tableStyleId>
              </a:tblPr>
              <a:tblGrid>
                <a:gridCol w="1645920"/>
                <a:gridCol w="1645920"/>
                <a:gridCol w="1645920"/>
                <a:gridCol w="1645920"/>
                <a:gridCol w="1645920"/>
              </a:tblGrid>
              <a:tr h="365760">
                <a:tc>
                  <a:txBody>
                    <a:bodyPr/>
                    <a:lstStyle/>
                    <a:p>
                      <a:pPr>
                        <a:defRPr sz="1400" b="1">
                          <a:solidFill>
                            <a:srgbClr val="FFFFFF"/>
                          </a:solidFill>
                        </a:defRPr>
                      </a:pPr>
                      <a:r>
                        <a:t>Strategy</a:t>
                      </a:r>
                    </a:p>
                  </a:txBody>
                  <a:tcPr>
                    <a:solidFill>
                      <a:srgbClr val="232F3E"/>
                    </a:solidFill>
                  </a:tcPr>
                </a:tc>
                <a:tc>
                  <a:txBody>
                    <a:bodyPr/>
                    <a:lstStyle/>
                    <a:p>
                      <a:pPr>
                        <a:defRPr sz="1400" b="1">
                          <a:solidFill>
                            <a:srgbClr val="FFFFFF"/>
                          </a:solidFill>
                        </a:defRPr>
                      </a:pPr>
                      <a:r>
                        <a:t>Downtime</a:t>
                      </a:r>
                    </a:p>
                  </a:txBody>
                  <a:tcPr>
                    <a:solidFill>
                      <a:srgbClr val="232F3E"/>
                    </a:solidFill>
                  </a:tcPr>
                </a:tc>
                <a:tc>
                  <a:txBody>
                    <a:bodyPr/>
                    <a:lstStyle/>
                    <a:p>
                      <a:pPr>
                        <a:defRPr sz="1400" b="1">
                          <a:solidFill>
                            <a:srgbClr val="FFFFFF"/>
                          </a:solidFill>
                        </a:defRPr>
                      </a:pPr>
                      <a:r>
                        <a:t>Rollback Speed</a:t>
                      </a:r>
                    </a:p>
                  </a:txBody>
                  <a:tcPr>
                    <a:solidFill>
                      <a:srgbClr val="232F3E"/>
                    </a:solidFill>
                  </a:tcPr>
                </a:tc>
                <a:tc>
                  <a:txBody>
                    <a:bodyPr/>
                    <a:lstStyle/>
                    <a:p>
                      <a:pPr>
                        <a:defRPr sz="1400" b="1">
                          <a:solidFill>
                            <a:srgbClr val="FFFFFF"/>
                          </a:solidFill>
                        </a:defRPr>
                      </a:pPr>
                      <a:r>
                        <a:t>Cost</a:t>
                      </a:r>
                    </a:p>
                  </a:txBody>
                  <a:tcPr>
                    <a:solidFill>
                      <a:srgbClr val="232F3E"/>
                    </a:solidFill>
                  </a:tcPr>
                </a:tc>
                <a:tc>
                  <a:txBody>
                    <a:bodyPr/>
                    <a:lstStyle/>
                    <a:p>
                      <a:pPr>
                        <a:defRPr sz="1400" b="1">
                          <a:solidFill>
                            <a:srgbClr val="FFFFFF"/>
                          </a:solidFill>
                        </a:defRPr>
                      </a:pPr>
                      <a:r>
                        <a:t>Risk</a:t>
                      </a:r>
                    </a:p>
                  </a:txBody>
                  <a:tcPr>
                    <a:solidFill>
                      <a:srgbClr val="232F3E"/>
                    </a:solidFill>
                  </a:tcPr>
                </a:tc>
              </a:tr>
              <a:tr h="365760">
                <a:tc>
                  <a:txBody>
                    <a:bodyPr/>
                    <a:lstStyle/>
                    <a:p>
                      <a:pPr>
                        <a:defRPr sz="1200"/>
                      </a:pPr>
                      <a:r>
                        <a:t>Rolling</a:t>
                      </a:r>
                    </a:p>
                  </a:txBody>
                  <a:tcPr>
                    <a:solidFill>
                      <a:srgbClr val="F2F3F4"/>
                    </a:solidFill>
                  </a:tcPr>
                </a:tc>
                <a:tc>
                  <a:txBody>
                    <a:bodyPr/>
                    <a:lstStyle/>
                    <a:p>
                      <a:pPr>
                        <a:defRPr sz="1200"/>
                      </a:pPr>
                      <a:r>
                        <a:t>None</a:t>
                      </a:r>
                    </a:p>
                  </a:txBody>
                  <a:tcPr>
                    <a:solidFill>
                      <a:srgbClr val="F2F3F4"/>
                    </a:solidFill>
                  </a:tcPr>
                </a:tc>
                <a:tc>
                  <a:txBody>
                    <a:bodyPr/>
                    <a:lstStyle/>
                    <a:p>
                      <a:pPr>
                        <a:defRPr sz="1200"/>
                      </a:pPr>
                      <a:r>
                        <a:t>Medium</a:t>
                      </a:r>
                    </a:p>
                  </a:txBody>
                  <a:tcPr>
                    <a:solidFill>
                      <a:srgbClr val="F2F3F4"/>
                    </a:solidFill>
                  </a:tcPr>
                </a:tc>
                <a:tc>
                  <a:txBody>
                    <a:bodyPr/>
                    <a:lstStyle/>
                    <a:p>
                      <a:pPr>
                        <a:defRPr sz="1200"/>
                      </a:pPr>
                      <a:r>
                        <a:t>Normal</a:t>
                      </a:r>
                    </a:p>
                  </a:txBody>
                  <a:tcPr>
                    <a:solidFill>
                      <a:srgbClr val="F2F3F4"/>
                    </a:solidFill>
                  </a:tcPr>
                </a:tc>
                <a:tc>
                  <a:txBody>
                    <a:bodyPr/>
                    <a:lstStyle/>
                    <a:p>
                      <a:pPr>
                        <a:defRPr sz="1200"/>
                      </a:pPr>
                      <a:r>
                        <a:t>Medium</a:t>
                      </a:r>
                    </a:p>
                  </a:txBody>
                  <a:tcPr>
                    <a:solidFill>
                      <a:srgbClr val="F2F3F4"/>
                    </a:solidFill>
                  </a:tcPr>
                </a:tc>
              </a:tr>
              <a:tr h="365760">
                <a:tc>
                  <a:txBody>
                    <a:bodyPr/>
                    <a:lstStyle/>
                    <a:p>
                      <a:pPr>
                        <a:defRPr sz="1200"/>
                      </a:pPr>
                      <a:r>
                        <a:t>Blue/green</a:t>
                      </a:r>
                    </a:p>
                  </a:txBody>
                  <a:tcPr/>
                </a:tc>
                <a:tc>
                  <a:txBody>
                    <a:bodyPr/>
                    <a:lstStyle/>
                    <a:p>
                      <a:pPr>
                        <a:defRPr sz="1200"/>
                      </a:pPr>
                      <a:r>
                        <a:t>None</a:t>
                      </a:r>
                    </a:p>
                  </a:txBody>
                  <a:tcPr/>
                </a:tc>
                <a:tc>
                  <a:txBody>
                    <a:bodyPr/>
                    <a:lstStyle/>
                    <a:p>
                      <a:pPr>
                        <a:defRPr sz="1200"/>
                      </a:pPr>
                      <a:r>
                        <a:t>Instant</a:t>
                      </a:r>
                    </a:p>
                  </a:txBody>
                  <a:tcPr/>
                </a:tc>
                <a:tc>
                  <a:txBody>
                    <a:bodyPr/>
                    <a:lstStyle/>
                    <a:p>
                      <a:pPr>
                        <a:defRPr sz="1200"/>
                      </a:pPr>
                      <a:r>
                        <a:t>Double during deploy</a:t>
                      </a:r>
                    </a:p>
                  </a:txBody>
                  <a:tcPr/>
                </a:tc>
                <a:tc>
                  <a:txBody>
                    <a:bodyPr/>
                    <a:lstStyle/>
                    <a:p>
                      <a:pPr>
                        <a:defRPr sz="1200"/>
                      </a:pPr>
                      <a:r>
                        <a:t>Low</a:t>
                      </a:r>
                    </a:p>
                  </a:txBody>
                  <a:tcPr/>
                </a:tc>
              </a:tr>
              <a:tr h="365760">
                <a:tc>
                  <a:txBody>
                    <a:bodyPr/>
                    <a:lstStyle/>
                    <a:p>
                      <a:pPr>
                        <a:defRPr sz="1200"/>
                      </a:pPr>
                      <a:r>
                        <a:t>Canary</a:t>
                      </a:r>
                    </a:p>
                  </a:txBody>
                  <a:tcPr>
                    <a:solidFill>
                      <a:srgbClr val="F2F3F4"/>
                    </a:solidFill>
                  </a:tcPr>
                </a:tc>
                <a:tc>
                  <a:txBody>
                    <a:bodyPr/>
                    <a:lstStyle/>
                    <a:p>
                      <a:pPr>
                        <a:defRPr sz="1200"/>
                      </a:pPr>
                      <a:r>
                        <a:t>None</a:t>
                      </a:r>
                    </a:p>
                  </a:txBody>
                  <a:tcPr>
                    <a:solidFill>
                      <a:srgbClr val="F2F3F4"/>
                    </a:solidFill>
                  </a:tcPr>
                </a:tc>
                <a:tc>
                  <a:txBody>
                    <a:bodyPr/>
                    <a:lstStyle/>
                    <a:p>
                      <a:pPr>
                        <a:defRPr sz="1200"/>
                      </a:pPr>
                      <a:r>
                        <a:t>Instant</a:t>
                      </a:r>
                    </a:p>
                  </a:txBody>
                  <a:tcPr>
                    <a:solidFill>
                      <a:srgbClr val="F2F3F4"/>
                    </a:solidFill>
                  </a:tcPr>
                </a:tc>
                <a:tc>
                  <a:txBody>
                    <a:bodyPr/>
                    <a:lstStyle/>
                    <a:p>
                      <a:pPr>
                        <a:defRPr sz="1200"/>
                      </a:pPr>
                      <a:r>
                        <a:t>Slightly above normal</a:t>
                      </a:r>
                    </a:p>
                  </a:txBody>
                  <a:tcPr>
                    <a:solidFill>
                      <a:srgbClr val="F2F3F4"/>
                    </a:solidFill>
                  </a:tcPr>
                </a:tc>
                <a:tc>
                  <a:txBody>
                    <a:bodyPr/>
                    <a:lstStyle/>
                    <a:p>
                      <a:pPr>
                        <a:defRPr sz="1200"/>
                      </a:pPr>
                      <a:r>
                        <a:t>Very low</a:t>
                      </a:r>
                    </a:p>
                  </a:txBody>
                  <a:tcPr>
                    <a:solidFill>
                      <a:srgbClr val="F2F3F4"/>
                    </a:solidFill>
                  </a:tcPr>
                </a:tc>
              </a:tr>
            </a:tbl>
          </a:graphicData>
        </a:graphic>
      </p:graphicFrame>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Blue/green deployment</a:t>
            </a:r>
          </a:p>
        </p:txBody>
      </p:sp>
      <p:sp>
        <p:nvSpPr>
          <p:cNvPr id="3" name="Content Placeholder 2"/>
          <p:cNvSpPr>
            <a:spLocks noGrp="1"/>
          </p:cNvSpPr>
          <p:nvPr>
            <p:ph idx="1"/>
          </p:nvPr>
        </p:nvSpPr>
        <p:spPr/>
        <p:txBody>
          <a:bodyPr/>
          <a:lstStyle/>
          <a:p>
            <a:pPr>
              <a:defRPr sz="1800"/>
            </a:pPr>
            <a:r>
              <a:t>Creates a full copy ("green") alongside existing ("blue")</a:t>
            </a:r>
          </a:p>
          <a:p>
            <a:pPr>
              <a:defRPr sz="1800"/>
            </a:pPr>
            <a:r>
              <a:t>Traffic shifts from blue to green after health checks pass</a:t>
            </a:r>
          </a:p>
          <a:p>
            <a:pPr>
              <a:defRPr sz="1800"/>
            </a:pPr>
            <a:r>
              <a:t>Instant rollback by redirecting traffic back to blue</a:t>
            </a:r>
          </a:p>
          <a:p>
            <a:pPr>
              <a:defRPr sz="1800"/>
            </a:pPr>
            <a:r>
              <a:t>Best for production where availability is critical</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Canary deployment</a:t>
            </a:r>
          </a:p>
        </p:txBody>
      </p:sp>
      <p:sp>
        <p:nvSpPr>
          <p:cNvPr id="3" name="Content Placeholder 2"/>
          <p:cNvSpPr>
            <a:spLocks noGrp="1"/>
          </p:cNvSpPr>
          <p:nvPr>
            <p:ph idx="1"/>
          </p:nvPr>
        </p:nvSpPr>
        <p:spPr/>
        <p:txBody>
          <a:bodyPr/>
          <a:lstStyle/>
          <a:p>
            <a:pPr>
              <a:defRPr sz="1800"/>
            </a:pPr>
            <a:r>
              <a:t>Shifts a small percentage of traffic (5-10%) to the new version first</a:t>
            </a:r>
          </a:p>
          <a:p>
            <a:pPr>
              <a:defRPr sz="1800"/>
            </a:pPr>
            <a:r>
              <a:t>Monitors error rate and latency on the canary group</a:t>
            </a:r>
          </a:p>
          <a:p>
            <a:pPr>
              <a:defRPr sz="1800"/>
            </a:pPr>
            <a:r>
              <a:t>If healthy, shifts remaining traffic; if not, rolls back automatically</a:t>
            </a:r>
          </a:p>
          <a:p>
            <a:pPr>
              <a:defRPr sz="1800"/>
            </a:pPr>
            <a:r>
              <a:t>Best for high-traffic services needing real-traffic validation</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Quick check: which deployment strategy?</a:t>
            </a:r>
          </a:p>
        </p:txBody>
      </p:sp>
      <p:sp>
        <p:nvSpPr>
          <p:cNvPr id="3" name="Content Placeholder 2"/>
          <p:cNvSpPr>
            <a:spLocks noGrp="1"/>
          </p:cNvSpPr>
          <p:nvPr>
            <p:ph idx="1"/>
          </p:nvPr>
        </p:nvSpPr>
        <p:spPr/>
        <p:txBody>
          <a:bodyPr/>
          <a:lstStyle/>
          <a:p>
            <a:pPr>
              <a:defRPr sz="1600"/>
            </a:pPr>
            <a:r>
              <a:t>Your team deploys a payment processing service that handles 10,000 transactions per minute. A failed deployment could cause financial losses.</a:t>
            </a:r>
          </a:p>
          <a:p>
            <a:pPr>
              <a:defRPr sz="1600"/>
            </a:pPr>
            <a:r>
              <a:t>Which deployment strategy would you choose, and why?</a:t>
            </a:r>
          </a:p>
          <a:p>
            <a:pPr>
              <a:defRPr sz="1600"/>
            </a:pPr>
            <a:r>
              <a:t>A) All-at-once</a:t>
            </a:r>
          </a:p>
          <a:p>
            <a:pPr>
              <a:defRPr sz="1600"/>
            </a:pPr>
            <a:r>
              <a:t>B) Rolling</a:t>
            </a:r>
          </a:p>
          <a:p>
            <a:pPr>
              <a:defRPr sz="1600"/>
            </a:pPr>
            <a:r>
              <a:t>C) Blue/green</a:t>
            </a:r>
          </a:p>
          <a:p>
            <a:pPr>
              <a:defRPr sz="1600"/>
            </a:pPr>
            <a:r>
              <a:t>D) Canary</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Think about it: pipeline failure at 5 PM on Friday</a:t>
            </a:r>
          </a:p>
        </p:txBody>
      </p:sp>
      <p:sp>
        <p:nvSpPr>
          <p:cNvPr id="3" name="Content Placeholder 2"/>
          <p:cNvSpPr>
            <a:spLocks noGrp="1"/>
          </p:cNvSpPr>
          <p:nvPr>
            <p:ph idx="1"/>
          </p:nvPr>
        </p:nvSpPr>
        <p:spPr/>
        <p:txBody>
          <a:bodyPr/>
          <a:lstStyle/>
          <a:p>
            <a:pPr>
              <a:defRPr sz="1600"/>
            </a:pPr>
            <a:r>
              <a:t>Your production pipeline fails at the CodeDeploy stage. The staging deployment succeeded, but production health checks are failing. The team wants to go home.</a:t>
            </a:r>
          </a:p>
          <a:p>
            <a:pPr>
              <a:defRPr sz="1600"/>
            </a:pPr>
            <a:r>
              <a:t>What is your immediate response, and what pipeline feature saves you?</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Box 2"/>
          <p:cNvSpPr txBox="1"/>
          <p:nvPr/>
        </p:nvSpPr>
        <p:spPr>
          <a:xfrm>
            <a:off x="457200" y="182880"/>
            <a:ext cx="8229600" cy="731520"/>
          </a:xfrm>
          <a:prstGeom prst="rect">
            <a:avLst/>
          </a:prstGeom>
          <a:noFill/>
        </p:spPr>
        <p:txBody>
          <a:bodyPr wrap="none">
            <a:spAutoFit/>
          </a:bodyPr>
          <a:lstStyle/>
          <a:p>
            <a:pPr>
              <a:defRPr sz="2800" b="1"/>
            </a:pPr>
            <a:r>
              <a:t>GitHub Actions vs. CodePipeline</a:t>
            </a:r>
          </a:p>
        </p:txBody>
      </p:sp>
      <p:graphicFrame>
        <p:nvGraphicFramePr>
          <p:cNvPr id="4" name="Table 3"/>
          <p:cNvGraphicFramePr>
            <a:graphicFrameLocks noGrp="1"/>
          </p:cNvGraphicFramePr>
          <p:nvPr/>
        </p:nvGraphicFramePr>
        <p:xfrm>
          <a:off x="457200" y="1097280"/>
          <a:ext cx="8229600" cy="1463040"/>
        </p:xfrm>
        <a:graphic>
          <a:graphicData uri="http://schemas.openxmlformats.org/drawingml/2006/table">
            <a:tbl>
              <a:tblPr firstRow="1" bandRow="1">
                <a:tableStyleId>{5C22544A-7EE6-4342-B048-85BDC9FD1C3A}</a:tableStyleId>
              </a:tblPr>
              <a:tblGrid>
                <a:gridCol w="2743200"/>
                <a:gridCol w="2743200"/>
                <a:gridCol w="2743200"/>
              </a:tblGrid>
              <a:tr h="365760">
                <a:tc>
                  <a:txBody>
                    <a:bodyPr/>
                    <a:lstStyle/>
                    <a:p>
                      <a:pPr>
                        <a:defRPr sz="1400" b="1">
                          <a:solidFill>
                            <a:srgbClr val="FFFFFF"/>
                          </a:solidFill>
                        </a:defRPr>
                      </a:pPr>
                      <a:r>
                        <a:t>Feature</a:t>
                      </a:r>
                    </a:p>
                  </a:txBody>
                  <a:tcPr>
                    <a:solidFill>
                      <a:srgbClr val="232F3E"/>
                    </a:solidFill>
                  </a:tcPr>
                </a:tc>
                <a:tc>
                  <a:txBody>
                    <a:bodyPr/>
                    <a:lstStyle/>
                    <a:p>
                      <a:pPr>
                        <a:defRPr sz="1400" b="1">
                          <a:solidFill>
                            <a:srgbClr val="FFFFFF"/>
                          </a:solidFill>
                        </a:defRPr>
                      </a:pPr>
                      <a:r>
                        <a:t>GitHub Actions</a:t>
                      </a:r>
                    </a:p>
                  </a:txBody>
                  <a:tcPr>
                    <a:solidFill>
                      <a:srgbClr val="232F3E"/>
                    </a:solidFill>
                  </a:tcPr>
                </a:tc>
                <a:tc>
                  <a:txBody>
                    <a:bodyPr/>
                    <a:lstStyle/>
                    <a:p>
                      <a:pPr>
                        <a:defRPr sz="1400" b="1">
                          <a:solidFill>
                            <a:srgbClr val="FFFFFF"/>
                          </a:solidFill>
                        </a:defRPr>
                      </a:pPr>
                      <a:r>
                        <a:t>CodePipeline</a:t>
                      </a:r>
                    </a:p>
                  </a:txBody>
                  <a:tcPr>
                    <a:solidFill>
                      <a:srgbClr val="232F3E"/>
                    </a:solidFill>
                  </a:tcPr>
                </a:tc>
              </a:tr>
              <a:tr h="365760">
                <a:tc>
                  <a:txBody>
                    <a:bodyPr/>
                    <a:lstStyle/>
                    <a:p>
                      <a:pPr>
                        <a:defRPr sz="1200"/>
                      </a:pPr>
                      <a:r>
                        <a:t>Deployment to AWS</a:t>
                      </a:r>
                    </a:p>
                  </a:txBody>
                  <a:tcPr>
                    <a:solidFill>
                      <a:srgbClr val="F2F3F4"/>
                    </a:solidFill>
                  </a:tcPr>
                </a:tc>
                <a:tc>
                  <a:txBody>
                    <a:bodyPr/>
                    <a:lstStyle/>
                    <a:p>
                      <a:pPr>
                        <a:defRPr sz="1200"/>
                      </a:pPr>
                      <a:r>
                        <a:t>Requires credential config (OIDC)</a:t>
                      </a:r>
                    </a:p>
                  </a:txBody>
                  <a:tcPr>
                    <a:solidFill>
                      <a:srgbClr val="F2F3F4"/>
                    </a:solidFill>
                  </a:tcPr>
                </a:tc>
                <a:tc>
                  <a:txBody>
                    <a:bodyPr/>
                    <a:lstStyle/>
                    <a:p>
                      <a:pPr>
                        <a:defRPr sz="1200"/>
                      </a:pPr>
                      <a:r>
                        <a:t>Native CodeDeploy, CloudFormation, ECS</a:t>
                      </a:r>
                    </a:p>
                  </a:txBody>
                  <a:tcPr>
                    <a:solidFill>
                      <a:srgbClr val="F2F3F4"/>
                    </a:solidFill>
                  </a:tcPr>
                </a:tc>
              </a:tr>
              <a:tr h="365760">
                <a:tc>
                  <a:txBody>
                    <a:bodyPr/>
                    <a:lstStyle/>
                    <a:p>
                      <a:pPr>
                        <a:defRPr sz="1200"/>
                      </a:pPr>
                      <a:r>
                        <a:t>Marketplace</a:t>
                      </a:r>
                    </a:p>
                  </a:txBody>
                  <a:tcPr/>
                </a:tc>
                <a:tc>
                  <a:txBody>
                    <a:bodyPr/>
                    <a:lstStyle/>
                    <a:p>
                      <a:pPr>
                        <a:defRPr sz="1200"/>
                      </a:pPr>
                      <a:r>
                        <a:t>Thousands of community actions</a:t>
                      </a:r>
                    </a:p>
                  </a:txBody>
                  <a:tcPr/>
                </a:tc>
                <a:tc>
                  <a:txBody>
                    <a:bodyPr/>
                    <a:lstStyle/>
                    <a:p>
                      <a:pPr>
                        <a:defRPr sz="1200"/>
                      </a:pPr>
                      <a:r>
                        <a:t>AWS service integrations</a:t>
                      </a:r>
                    </a:p>
                  </a:txBody>
                  <a:tcPr/>
                </a:tc>
              </a:tr>
              <a:tr h="365760">
                <a:tc>
                  <a:txBody>
                    <a:bodyPr/>
                    <a:lstStyle/>
                    <a:p>
                      <a:pPr>
                        <a:defRPr sz="1200"/>
                      </a:pPr>
                      <a:r>
                        <a:t>Best for</a:t>
                      </a:r>
                    </a:p>
                  </a:txBody>
                  <a:tcPr>
                    <a:solidFill>
                      <a:srgbClr val="F2F3F4"/>
                    </a:solidFill>
                  </a:tcPr>
                </a:tc>
                <a:tc>
                  <a:txBody>
                    <a:bodyPr/>
                    <a:lstStyle/>
                    <a:p>
                      <a:pPr>
                        <a:defRPr sz="1200"/>
                      </a:pPr>
                      <a:r>
                        <a:t>GitHub-centric teams, multi-cloud</a:t>
                      </a:r>
                    </a:p>
                  </a:txBody>
                  <a:tcPr>
                    <a:solidFill>
                      <a:srgbClr val="F2F3F4"/>
                    </a:solidFill>
                  </a:tcPr>
                </a:tc>
                <a:tc>
                  <a:txBody>
                    <a:bodyPr/>
                    <a:lstStyle/>
                    <a:p>
                      <a:pPr>
                        <a:defRPr sz="1200"/>
                      </a:pPr>
                      <a:r>
                        <a:t>Deep AWS deployment integration</a:t>
                      </a:r>
                    </a:p>
                  </a:txBody>
                  <a:tcPr>
                    <a:solidFill>
                      <a:srgbClr val="F2F3F4"/>
                    </a:solidFill>
                  </a:tcPr>
                </a:tc>
              </a:tr>
            </a:tbl>
          </a:graphicData>
        </a:graphic>
      </p:graphicFrame>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GitHub Actions vs. CodePipeline</a:t>
            </a:r>
          </a:p>
        </p:txBody>
      </p:sp>
      <p:sp>
        <p:nvSpPr>
          <p:cNvPr id="3" name="Content Placeholder 2"/>
          <p:cNvSpPr>
            <a:spLocks noGrp="1"/>
          </p:cNvSpPr>
          <p:nvPr>
            <p:ph idx="1"/>
          </p:nvPr>
        </p:nvSpPr>
        <p:spPr/>
        <p:txBody>
          <a:bodyPr/>
          <a:lstStyle/>
          <a:p>
            <a:pPr>
              <a:defRPr sz="1400" i="1">
                <a:solidFill>
                  <a:srgbClr val="555555"/>
                </a:solidFill>
              </a:defRPr>
            </a:pPr>
            <a:r>
              <a:t>Many teams use GitHub Actions for CI and CodePipeline for CD (hybrid approach).</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Pipeline best practices</a:t>
            </a:r>
          </a:p>
        </p:txBody>
      </p:sp>
      <p:sp>
        <p:nvSpPr>
          <p:cNvPr id="3" name="Content Placeholder 2"/>
          <p:cNvSpPr>
            <a:spLocks noGrp="1"/>
          </p:cNvSpPr>
          <p:nvPr>
            <p:ph idx="1"/>
          </p:nvPr>
        </p:nvSpPr>
        <p:spPr/>
        <p:txBody>
          <a:bodyPr/>
          <a:lstStyle/>
          <a:p>
            <a:pPr>
              <a:defRPr sz="1800"/>
            </a:pPr>
            <a:r>
              <a:t>Separate stages for separate concerns (build, test, deploy)</a:t>
            </a:r>
          </a:p>
          <a:p>
            <a:pPr>
              <a:defRPr sz="1800"/>
            </a:pPr>
            <a:r>
              <a:t>Automated tests at every level (unit, integration, smoke)</a:t>
            </a:r>
          </a:p>
          <a:p>
            <a:pPr>
              <a:defRPr sz="1800"/>
            </a:pPr>
            <a:r>
              <a:t>Manual approval for production deployments</a:t>
            </a:r>
          </a:p>
          <a:p>
            <a:pPr>
              <a:defRPr sz="1800"/>
            </a:pPr>
            <a:r>
              <a:t>Define pipeline as code (CloudFormation or CDK)</a:t>
            </a:r>
          </a:p>
          <a:p>
            <a:pPr>
              <a:defRPr sz="1800"/>
            </a:pPr>
            <a:r>
              <a:t>Apply least privilege to pipeline IAM roles</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Key takeaways</a:t>
            </a:r>
          </a:p>
        </p:txBody>
      </p:sp>
      <p:sp>
        <p:nvSpPr>
          <p:cNvPr id="3" name="Content Placeholder 2"/>
          <p:cNvSpPr>
            <a:spLocks noGrp="1"/>
          </p:cNvSpPr>
          <p:nvPr>
            <p:ph idx="1"/>
          </p:nvPr>
        </p:nvSpPr>
        <p:spPr/>
        <p:txBody>
          <a:bodyPr/>
          <a:lstStyle/>
          <a:p>
            <a:pPr>
              <a:defRPr sz="1800"/>
            </a:pPr>
            <a:r>
              <a:t>CI/CD automates the build, test, and deploy cycle so every code change follows a consistent path from commit to production</a:t>
            </a:r>
          </a:p>
          <a:p>
            <a:pPr>
              <a:defRPr sz="1800"/>
            </a:pPr>
            <a:r>
              <a:t>CodePipeline orchestrates the release process; CodeBuild handles compilation and testing; CodeDeploy handles deployment</a:t>
            </a:r>
          </a:p>
          <a:p>
            <a:pPr>
              <a:defRPr sz="1800"/>
            </a:pPr>
            <a:r>
              <a:t>Deployment strategies (all-at-once, rolling, blue/green, canary) offer different trade-offs between speed, risk, and cost</a:t>
            </a:r>
          </a:p>
          <a:p>
            <a:pPr>
              <a:defRPr sz="1800"/>
            </a:pPr>
            <a:r>
              <a:t>Always include automated tests and gate production deployments with manual approvals until confidence is high</a:t>
            </a:r>
          </a:p>
          <a:p>
            <a:pPr>
              <a:defRPr sz="1800"/>
            </a:pPr>
            <a:r>
              <a:t>Define your pipeline as code and store it in version control alongside your application</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Lab preview: building a CI/CD pipeline</a:t>
            </a:r>
          </a:p>
        </p:txBody>
      </p:sp>
      <p:sp>
        <p:nvSpPr>
          <p:cNvPr id="3" name="Content Placeholder 2"/>
          <p:cNvSpPr>
            <a:spLocks noGrp="1"/>
          </p:cNvSpPr>
          <p:nvPr>
            <p:ph idx="1"/>
          </p:nvPr>
        </p:nvSpPr>
        <p:spPr/>
        <p:txBody>
          <a:bodyPr/>
          <a:lstStyle/>
          <a:p>
            <a:pPr>
              <a:defRPr sz="1600"/>
            </a:pPr>
            <a:r>
              <a:t>What you will do:</a:t>
            </a:r>
          </a:p>
          <a:p>
            <a:pPr>
              <a:defRPr sz="1800"/>
            </a:pPr>
            <a:r>
              <a:t>Connect a GitHub repository to CodePipeline</a:t>
            </a:r>
          </a:p>
          <a:p>
            <a:pPr>
              <a:defRPr sz="1800"/>
            </a:pPr>
            <a:r>
              <a:t>Configure CodeBuild with a buildspec.yml</a:t>
            </a:r>
          </a:p>
          <a:p>
            <a:pPr>
              <a:defRPr sz="1800"/>
            </a:pPr>
            <a:r>
              <a:t>Set up CodeDeploy for staging and production</a:t>
            </a:r>
          </a:p>
          <a:p>
            <a:pPr>
              <a:defRPr sz="1800"/>
            </a:pPr>
            <a:r>
              <a:t>Add a manual approval gate before production</a:t>
            </a:r>
          </a:p>
          <a:p>
            <a:pPr>
              <a:defRPr sz="1800"/>
            </a:pPr>
            <a:r>
              <a:t>Test the pipeline with a code push</a:t>
            </a:r>
          </a:p>
          <a:p>
            <a:pPr>
              <a:defRPr sz="1600"/>
            </a:pPr>
            <a:r>
              <a:t>Duration: 60 minutes</a:t>
            </a:r>
          </a:p>
          <a:p>
            <a:pPr>
              <a:defRPr sz="1600"/>
            </a:pPr>
            <a:r>
              <a:t>Key services: CodePipeline, CodeBuild, CodeDeploy, S3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Questions?</a:t>
            </a:r>
          </a:p>
        </p:txBody>
      </p:sp>
      <p:sp>
        <p:nvSpPr>
          <p:cNvPr id="3" name="Content Placeholder 2"/>
          <p:cNvSpPr>
            <a:spLocks noGrp="1"/>
          </p:cNvSpPr>
          <p:nvPr>
            <p:ph idx="1"/>
          </p:nvPr>
        </p:nvSpPr>
        <p:spPr/>
        <p:txBody>
          <a:bodyPr/>
          <a:lstStyle/>
          <a:p>
            <a:pPr>
              <a:defRPr sz="1600"/>
            </a:pPr>
            <a:r>
              <a:t>Review `modules/12-cicd-pipelines/resources.md` for further reading.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