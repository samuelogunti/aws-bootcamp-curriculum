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Welcome to Module 13, the first module in Phase 4. This module builds on the IAM foundation from Module 02 and adds encryption, secrets management, web application protection, threat detection, and compliance monitoring. Breakdown: 10 min defense in depth, 15 min KMS, 10 min secrets management, 15 min WAF/Shield, 15 min CloudTrail/GuardDuty, 15 min Config/Security Hub, 10 min wrap-up.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Ask students to list all security controls they configured in previous modules (IAM policies, security groups, NACLs, S3 Block Public Access). Map them to the defense-in-depth layers.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15 minutes. Draw the envelope encryption flow on the whiteboard. The concept of "encrypting the key that encrypts the data" is initially confusing.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Expected answer: Customer managed keys. They provide full control over key policies, rotation schedules, and lifecycle. You can audit all key usage via CloudTrail. AWS managed keys do not allow custom key policies. Compliance requirements typically mandate customer managed keys for regulated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Emphasize: never hardcode credentials in source code.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Start with managed rule groups, then cover rate-based rules.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Answer: No. Security groups operate at Layer 3/4 (IP, port, protocol) and cannot inspect HTTP request content. WAF operates at Layer 7 and inspects headers, body, URI, and query strings. You need WAF for SQL injection protection and security groups for network-level access control. Both are needed for defense in depth.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5 minutes. Most students will use Shield Standard (free). Cover when Shield Advanced is justified.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Emphasize that CloudTrail records who did what, when, and from where.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If time permits, show the GuardDuty console and sample findings.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Expected answer: 1) Identify the EC2 instance and its IAM role. 2) Check CloudTrail for API calls made with those credentials from the external IP. 3) Revoke the role's active sessions by adding a deny policy with a date condition. 4) Investigate how the credentials were exfiltrated (compromised instance, exposed metadata endpoint). 5) Patch the vulnerability and rotate any other credentials on the instance.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This section takes about 10 minutes. Cover Config rules for compliance and Security Hub for aggregation.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The lab has 3 guided steps and 3 semi-guided steps. Remind students that GuardDuty generates sample findings they can explore. Emphasize cleanup: disable GuardDuty and delete the trail to avoid ongoing charges.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Take 5-10 minutes for questions. Common questions: "GuardDuty vs. Security Hub?" (GuardDuty detects threats; Security Hub aggregates findings and runs compliance checks.) "CloudTrail vs. Config?" (CloudTrail records who did what; Config records the resulting resource state.)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Module 13: Security in Depth</a:t>
            </a:r>
          </a:p>
        </p:txBody>
      </p:sp>
      <p:sp>
        <p:nvSpPr>
          <p:cNvPr id="3" name="Content Placeholder 2"/>
          <p:cNvSpPr>
            <a:spLocks noGrp="1"/>
          </p:cNvSpPr>
          <p:nvPr>
            <p:ph idx="1"/>
          </p:nvPr>
        </p:nvSpPr>
        <p:spPr/>
        <p:txBody>
          <a:bodyPr/>
          <a:lstStyle/>
          <a:p>
            <a:pPr>
              <a:defRPr sz="1600"/>
            </a:pPr>
            <a:r>
              <a:t>Phase 4: Production Readiness</a:t>
            </a:r>
          </a:p>
          <a:p>
            <a:pPr>
              <a:defRPr sz="1600"/>
            </a:pPr>
            <a:r>
              <a:t>Estimated lecture time: 90 to 105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p:txBody>
          <a:bodyPr/>
          <a:lstStyle/>
          <a:p>
            <a:pPr>
              <a:defRPr sz="1600"/>
            </a:pPr>
            <a:r>
              <a:t>By the end of this module, you will be able to:</a:t>
            </a:r>
          </a:p>
          <a:p>
            <a:pPr>
              <a:defRPr sz="1800"/>
            </a:pPr>
            <a:r>
              <a:t>Analyze a defense-in-depth strategy and evaluate gaps at each layer</a:t>
            </a:r>
          </a:p>
          <a:p>
            <a:pPr>
              <a:defRPr sz="1800"/>
            </a:pPr>
            <a:r>
              <a:t>Evaluate KMS encryption strategies (customer managed, AWS managed, AWS owned keys)</a:t>
            </a:r>
          </a:p>
          <a:p>
            <a:pPr>
              <a:defRPr sz="1800"/>
            </a:pPr>
            <a:r>
              <a:t>Assess when to use Secrets Manager vs. Parameter Store</a:t>
            </a:r>
          </a:p>
          <a:p>
            <a:pPr>
              <a:defRPr sz="1800"/>
            </a:pPr>
            <a:r>
              <a:t>Recommend AWS WAF rule configurations for common web threats</a:t>
            </a:r>
          </a:p>
          <a:p>
            <a:pPr>
              <a:defRPr sz="1800"/>
            </a:pPr>
            <a:r>
              <a:t>Evaluate security posture using GuardDuty, Security Hub, and CloudTrail</a:t>
            </a:r>
          </a:p>
          <a:p>
            <a:pPr>
              <a:defRPr sz="1800"/>
            </a:pPr>
            <a:r>
              <a:t>Analyze CloudTrail logs to identify unauthorized API calls</a:t>
            </a:r>
          </a:p>
          <a:p>
            <a:pPr>
              <a:defRPr sz="1800"/>
            </a:pPr>
            <a:r>
              <a:t>Assess resource compliance using AWS Config rules</a:t>
            </a:r>
          </a:p>
          <a:p>
            <a:pPr>
              <a:defRPr sz="1800"/>
            </a:pPr>
            <a:r>
              <a:t>Justify Shield Standard vs. Shield Advanced selection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Prerequisites and agenda</a:t>
            </a:r>
          </a:p>
        </p:txBody>
      </p:sp>
      <p:sp>
        <p:nvSpPr>
          <p:cNvPr id="3" name="Content Placeholder 2"/>
          <p:cNvSpPr>
            <a:spLocks noGrp="1"/>
          </p:cNvSpPr>
          <p:nvPr>
            <p:ph idx="1"/>
          </p:nvPr>
        </p:nvSpPr>
        <p:spPr/>
        <p:txBody>
          <a:bodyPr/>
          <a:lstStyle/>
          <a:p>
            <a:pPr>
              <a:defRPr sz="1600"/>
            </a:pPr>
            <a:r>
              <a:t>Prerequisites: Modules 02 (IAM), 03 (VPC), 05 (S3), 07 (ALB/Route 53), 11 (IaC)</a:t>
            </a:r>
          </a:p>
          <a:p>
            <a:pPr>
              <a:defRPr sz="1600"/>
            </a:pPr>
            <a:r>
              <a:t>Agenda:</a:t>
            </a:r>
          </a:p>
          <a:p>
            <a:pPr>
              <a:defRPr sz="1800"/>
            </a:pPr>
            <a:r>
              <a:t>Defense in depth: layered security</a:t>
            </a:r>
          </a:p>
          <a:p>
            <a:pPr>
              <a:defRPr sz="1800"/>
            </a:pPr>
            <a:r>
              <a:t>AWS KMS: managing encryption keys</a:t>
            </a:r>
          </a:p>
          <a:p>
            <a:pPr>
              <a:defRPr sz="1800"/>
            </a:pPr>
            <a:r>
              <a:t>Secrets Manager and Parameter Store</a:t>
            </a:r>
          </a:p>
          <a:p>
            <a:pPr>
              <a:defRPr sz="1800"/>
            </a:pPr>
            <a:r>
              <a:t>AWS WAF: protecting web applications</a:t>
            </a:r>
          </a:p>
          <a:p>
            <a:pPr>
              <a:defRPr sz="1800"/>
            </a:pPr>
            <a:r>
              <a:t>AWS Shield: DDoS protection</a:t>
            </a:r>
          </a:p>
          <a:p>
            <a:pPr>
              <a:defRPr sz="1800"/>
            </a:pPr>
            <a:r>
              <a:t>AWS CloudTrail: auditing API activity</a:t>
            </a:r>
          </a:p>
          <a:p>
            <a:pPr>
              <a:defRPr sz="1800"/>
            </a:pPr>
            <a:r>
              <a:t>Amazon GuardDuty: threat detection</a:t>
            </a:r>
          </a:p>
          <a:p>
            <a:pPr>
              <a:defRPr sz="1800"/>
            </a:pPr>
            <a:r>
              <a:t>AWS Config and Security Hub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Defense in depth</a:t>
            </a:r>
          </a:p>
        </p:txBody>
      </p:sp>
      <p:sp>
        <p:nvSpPr>
          <p:cNvPr id="3" name="Text Placeholder 2"/>
          <p:cNvSpPr>
            <a:spLocks noGrp="1"/>
          </p:cNvSpPr>
          <p:nvPr>
            <p:ph type="body"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Layered security on AWS</a:t>
            </a:r>
          </a:p>
        </p:txBody>
      </p:sp>
      <p:graphicFrame>
        <p:nvGraphicFramePr>
          <p:cNvPr id="4" name="Table 3"/>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Layer</a:t>
                      </a:r>
                    </a:p>
                  </a:txBody>
                  <a:tcPr>
                    <a:solidFill>
                      <a:srgbClr val="232F3E"/>
                    </a:solidFill>
                  </a:tcPr>
                </a:tc>
                <a:tc>
                  <a:txBody>
                    <a:bodyPr/>
                    <a:lstStyle/>
                    <a:p>
                      <a:pPr>
                        <a:defRPr sz="1400" b="1">
                          <a:solidFill>
                            <a:srgbClr val="FFFFFF"/>
                          </a:solidFill>
                        </a:defRPr>
                      </a:pPr>
                      <a:r>
                        <a:t>AWS Controls</a:t>
                      </a:r>
                    </a:p>
                  </a:txBody>
                  <a:tcPr>
                    <a:solidFill>
                      <a:srgbClr val="232F3E"/>
                    </a:solidFill>
                  </a:tcPr>
                </a:tc>
                <a:tc>
                  <a:txBody>
                    <a:bodyPr/>
                    <a:lstStyle/>
                    <a:p>
                      <a:pPr>
                        <a:defRPr sz="1400" b="1">
                          <a:solidFill>
                            <a:srgbClr val="FFFFFF"/>
                          </a:solidFill>
                        </a:defRPr>
                      </a:pPr>
                      <a:r>
                        <a:t>Purpose</a:t>
                      </a:r>
                    </a:p>
                  </a:txBody>
                  <a:tcPr>
                    <a:solidFill>
                      <a:srgbClr val="232F3E"/>
                    </a:solidFill>
                  </a:tcPr>
                </a:tc>
              </a:tr>
              <a:tr h="365760">
                <a:tc>
                  <a:txBody>
                    <a:bodyPr/>
                    <a:lstStyle/>
                    <a:p>
                      <a:pPr>
                        <a:defRPr sz="1200"/>
                      </a:pPr>
                      <a:r>
                        <a:t>Network</a:t>
                      </a:r>
                    </a:p>
                  </a:txBody>
                  <a:tcPr>
                    <a:solidFill>
                      <a:srgbClr val="F2F3F4"/>
                    </a:solidFill>
                  </a:tcPr>
                </a:tc>
                <a:tc>
                  <a:txBody>
                    <a:bodyPr/>
                    <a:lstStyle/>
                    <a:p>
                      <a:pPr>
                        <a:defRPr sz="1200"/>
                      </a:pPr>
                      <a:r>
                        <a:t>VPC, security groups, NACLs</a:t>
                      </a:r>
                    </a:p>
                  </a:txBody>
                  <a:tcPr>
                    <a:solidFill>
                      <a:srgbClr val="F2F3F4"/>
                    </a:solidFill>
                  </a:tcPr>
                </a:tc>
                <a:tc>
                  <a:txBody>
                    <a:bodyPr/>
                    <a:lstStyle/>
                    <a:p>
                      <a:pPr>
                        <a:defRPr sz="1200"/>
                      </a:pPr>
                      <a:r>
                        <a:t>Isolate resources, control traffic flow</a:t>
                      </a:r>
                    </a:p>
                  </a:txBody>
                  <a:tcPr>
                    <a:solidFill>
                      <a:srgbClr val="F2F3F4"/>
                    </a:solidFill>
                  </a:tcPr>
                </a:tc>
              </a:tr>
              <a:tr h="365760">
                <a:tc>
                  <a:txBody>
                    <a:bodyPr/>
                    <a:lstStyle/>
                    <a:p>
                      <a:pPr>
                        <a:defRPr sz="1200"/>
                      </a:pPr>
                      <a:r>
                        <a:t>Compute</a:t>
                      </a:r>
                    </a:p>
                  </a:txBody>
                  <a:tcPr/>
                </a:tc>
                <a:tc>
                  <a:txBody>
                    <a:bodyPr/>
                    <a:lstStyle/>
                    <a:p>
                      <a:pPr>
                        <a:defRPr sz="1200"/>
                      </a:pPr>
                      <a:r>
                        <a:t>IAM roles, Inspector, Patch Manager</a:t>
                      </a:r>
                    </a:p>
                  </a:txBody>
                  <a:tcPr/>
                </a:tc>
                <a:tc>
                  <a:txBody>
                    <a:bodyPr/>
                    <a:lstStyle/>
                    <a:p>
                      <a:pPr>
                        <a:defRPr sz="1200"/>
                      </a:pPr>
                      <a:r>
                        <a:t>Control permissions, scan vulnerabilities</a:t>
                      </a:r>
                    </a:p>
                  </a:txBody>
                  <a:tcPr/>
                </a:tc>
              </a:tr>
              <a:tr h="365760">
                <a:tc>
                  <a:txBody>
                    <a:bodyPr/>
                    <a:lstStyle/>
                    <a:p>
                      <a:pPr>
                        <a:defRPr sz="1200"/>
                      </a:pPr>
                      <a:r>
                        <a:t>Application</a:t>
                      </a:r>
                    </a:p>
                  </a:txBody>
                  <a:tcPr>
                    <a:solidFill>
                      <a:srgbClr val="F2F3F4"/>
                    </a:solidFill>
                  </a:tcPr>
                </a:tc>
                <a:tc>
                  <a:txBody>
                    <a:bodyPr/>
                    <a:lstStyle/>
                    <a:p>
                      <a:pPr>
                        <a:defRPr sz="1200"/>
                      </a:pPr>
                      <a:r>
                        <a:t>WAF rules, input validation, API throttling</a:t>
                      </a:r>
                    </a:p>
                  </a:txBody>
                  <a:tcPr>
                    <a:solidFill>
                      <a:srgbClr val="F2F3F4"/>
                    </a:solidFill>
                  </a:tcPr>
                </a:tc>
                <a:tc>
                  <a:txBody>
                    <a:bodyPr/>
                    <a:lstStyle/>
                    <a:p>
                      <a:pPr>
                        <a:defRPr sz="1200"/>
                      </a:pPr>
                      <a:r>
                        <a:t>Protect against injection and abuse</a:t>
                      </a:r>
                    </a:p>
                  </a:txBody>
                  <a:tcPr>
                    <a:solidFill>
                      <a:srgbClr val="F2F3F4"/>
                    </a:solidFill>
                  </a:tcPr>
                </a:tc>
              </a:tr>
              <a:tr h="365760">
                <a:tc>
                  <a:txBody>
                    <a:bodyPr/>
                    <a:lstStyle/>
                    <a:p>
                      <a:pPr>
                        <a:defRPr sz="1200"/>
                      </a:pPr>
                      <a:r>
                        <a:t>Data</a:t>
                      </a:r>
                    </a:p>
                  </a:txBody>
                  <a:tcPr/>
                </a:tc>
                <a:tc>
                  <a:txBody>
                    <a:bodyPr/>
                    <a:lstStyle/>
                    <a:p>
                      <a:pPr>
                        <a:defRPr sz="1200"/>
                      </a:pPr>
                      <a:r>
                        <a:t>KMS, S3 Block Public Access, encryption</a:t>
                      </a:r>
                    </a:p>
                  </a:txBody>
                  <a:tcPr/>
                </a:tc>
                <a:tc>
                  <a:txBody>
                    <a:bodyPr/>
                    <a:lstStyle/>
                    <a:p>
                      <a:pPr>
                        <a:defRPr sz="1200"/>
                      </a:pPr>
                      <a:r>
                        <a:t>Protect data at rest and in transit</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Defense in depth (continued)</a:t>
            </a:r>
          </a:p>
        </p:txBody>
      </p:sp>
      <p:graphicFrame>
        <p:nvGraphicFramePr>
          <p:cNvPr id="4" name="Table 3"/>
          <p:cNvGraphicFramePr>
            <a:graphicFrameLocks noGrp="1"/>
          </p:cNvGraphicFramePr>
          <p:nvPr/>
        </p:nvGraphicFramePr>
        <p:xfrm>
          <a:off x="457200" y="1097280"/>
          <a:ext cx="8229600" cy="73152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Layer</a:t>
                      </a:r>
                    </a:p>
                  </a:txBody>
                  <a:tcPr>
                    <a:solidFill>
                      <a:srgbClr val="232F3E"/>
                    </a:solidFill>
                  </a:tcPr>
                </a:tc>
                <a:tc>
                  <a:txBody>
                    <a:bodyPr/>
                    <a:lstStyle/>
                    <a:p>
                      <a:pPr>
                        <a:defRPr sz="1400" b="1">
                          <a:solidFill>
                            <a:srgbClr val="FFFFFF"/>
                          </a:solidFill>
                        </a:defRPr>
                      </a:pPr>
                      <a:r>
                        <a:t>AWS Controls</a:t>
                      </a:r>
                    </a:p>
                  </a:txBody>
                  <a:tcPr>
                    <a:solidFill>
                      <a:srgbClr val="232F3E"/>
                    </a:solidFill>
                  </a:tcPr>
                </a:tc>
                <a:tc>
                  <a:txBody>
                    <a:bodyPr/>
                    <a:lstStyle/>
                    <a:p>
                      <a:pPr>
                        <a:defRPr sz="1400" b="1">
                          <a:solidFill>
                            <a:srgbClr val="FFFFFF"/>
                          </a:solidFill>
                        </a:defRPr>
                      </a:pPr>
                      <a:r>
                        <a:t>Purpose</a:t>
                      </a:r>
                    </a:p>
                  </a:txBody>
                  <a:tcPr>
                    <a:solidFill>
                      <a:srgbClr val="232F3E"/>
                    </a:solidFill>
                  </a:tcPr>
                </a:tc>
              </a:tr>
              <a:tr h="365760">
                <a:tc>
                  <a:txBody>
                    <a:bodyPr/>
                    <a:lstStyle/>
                    <a:p>
                      <a:pPr>
                        <a:defRPr sz="1200"/>
                      </a:pPr>
                      <a:r>
                        <a:t>Monitoring</a:t>
                      </a:r>
                    </a:p>
                  </a:txBody>
                  <a:tcPr>
                    <a:solidFill>
                      <a:srgbClr val="F2F3F4"/>
                    </a:solidFill>
                  </a:tcPr>
                </a:tc>
                <a:tc>
                  <a:txBody>
                    <a:bodyPr/>
                    <a:lstStyle/>
                    <a:p>
                      <a:pPr>
                        <a:defRPr sz="1200"/>
                      </a:pPr>
                      <a:r>
                        <a:t>CloudTrail, GuardDuty, Security Hub, Config</a:t>
                      </a:r>
                    </a:p>
                  </a:txBody>
                  <a:tcPr>
                    <a:solidFill>
                      <a:srgbClr val="F2F3F4"/>
                    </a:solidFill>
                  </a:tcPr>
                </a:tc>
                <a:tc>
                  <a:txBody>
                    <a:bodyPr/>
                    <a:lstStyle/>
                    <a:p>
                      <a:pPr>
                        <a:defRPr sz="1200"/>
                      </a:pPr>
                      <a:r>
                        <a:t>Detect threats, audit, assess compliance</a:t>
                      </a:r>
                    </a:p>
                  </a:txBody>
                  <a:tcPr>
                    <a:solidFill>
                      <a:srgbClr val="F2F3F4"/>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Defense in depth (continued)</a:t>
            </a:r>
          </a:p>
        </p:txBody>
      </p:sp>
      <p:sp>
        <p:nvSpPr>
          <p:cNvPr id="3" name="Content Placeholder 2"/>
          <p:cNvSpPr>
            <a:spLocks noGrp="1"/>
          </p:cNvSpPr>
          <p:nvPr>
            <p:ph idx="1"/>
          </p:nvPr>
        </p:nvSpPr>
        <p:spPr/>
        <p:txBody>
          <a:bodyPr/>
          <a:lstStyle/>
          <a:p>
            <a:pPr>
              <a:defRPr sz="1400" i="1">
                <a:solidFill>
                  <a:srgbClr val="555555"/>
                </a:solidFill>
              </a:defRPr>
            </a:pPr>
            <a:r>
              <a:t>No single service protects against all threats. Combine services so each compensates for the limitations of others.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AWS KMS: managing encryption keys</a:t>
            </a:r>
          </a:p>
        </p:txBody>
      </p:sp>
      <p:sp>
        <p:nvSpPr>
          <p:cNvPr id="3" name="Text Placeholder 2"/>
          <p:cNvSpPr>
            <a:spLocks noGrp="1"/>
          </p:cNvSpPr>
          <p:nvPr>
            <p:ph type="body" idx="1"/>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KMS key types</a:t>
            </a:r>
          </a:p>
        </p:txBody>
      </p:sp>
      <p:graphicFrame>
        <p:nvGraphicFramePr>
          <p:cNvPr id="4" name="Table 3"/>
          <p:cNvGraphicFramePr>
            <a:graphicFrameLocks noGrp="1"/>
          </p:cNvGraphicFramePr>
          <p:nvPr/>
        </p:nvGraphicFramePr>
        <p:xfrm>
          <a:off x="457200" y="1097280"/>
          <a:ext cx="8229600" cy="109728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365760">
                <a:tc>
                  <a:txBody>
                    <a:bodyPr/>
                    <a:lstStyle/>
                    <a:p>
                      <a:pPr>
                        <a:defRPr sz="1400" b="1">
                          <a:solidFill>
                            <a:srgbClr val="FFFFFF"/>
                          </a:solidFill>
                        </a:defRPr>
                      </a:pPr>
                      <a:r>
                        <a:t>Key Type</a:t>
                      </a:r>
                    </a:p>
                  </a:txBody>
                  <a:tcPr>
                    <a:solidFill>
                      <a:srgbClr val="232F3E"/>
                    </a:solidFill>
                  </a:tcPr>
                </a:tc>
                <a:tc>
                  <a:txBody>
                    <a:bodyPr/>
                    <a:lstStyle/>
                    <a:p>
                      <a:pPr>
                        <a:defRPr sz="1400" b="1">
                          <a:solidFill>
                            <a:srgbClr val="FFFFFF"/>
                          </a:solidFill>
                        </a:defRPr>
                      </a:pPr>
                      <a:r>
                        <a:t>Who Creates</a:t>
                      </a:r>
                    </a:p>
                  </a:txBody>
                  <a:tcPr>
                    <a:solidFill>
                      <a:srgbClr val="232F3E"/>
                    </a:solidFill>
                  </a:tcPr>
                </a:tc>
                <a:tc>
                  <a:txBody>
                    <a:bodyPr/>
                    <a:lstStyle/>
                    <a:p>
                      <a:pPr>
                        <a:defRPr sz="1400" b="1">
                          <a:solidFill>
                            <a:srgbClr val="FFFFFF"/>
                          </a:solidFill>
                        </a:defRPr>
                      </a:pPr>
                      <a:r>
                        <a:t>Who Manages</a:t>
                      </a:r>
                    </a:p>
                  </a:txBody>
                  <a:tcPr>
                    <a:solidFill>
                      <a:srgbClr val="232F3E"/>
                    </a:solidFill>
                  </a:tcPr>
                </a:tc>
                <a:tc>
                  <a:txBody>
                    <a:bodyPr/>
                    <a:lstStyle/>
                    <a:p>
                      <a:pPr>
                        <a:defRPr sz="1400" b="1">
                          <a:solidFill>
                            <a:srgbClr val="FFFFFF"/>
                          </a:solidFill>
                        </a:defRPr>
                      </a:pPr>
                      <a:r>
                        <a:t>Rotation</a:t>
                      </a:r>
                    </a:p>
                  </a:txBody>
                  <a:tcPr>
                    <a:solidFill>
                      <a:srgbClr val="232F3E"/>
                    </a:solidFill>
                  </a:tcPr>
                </a:tc>
                <a:tc>
                  <a:txBody>
                    <a:bodyPr/>
                    <a:lstStyle/>
                    <a:p>
                      <a:pPr>
                        <a:defRPr sz="1400" b="1">
                          <a:solidFill>
                            <a:srgbClr val="FFFFFF"/>
                          </a:solidFill>
                        </a:defRPr>
                      </a:pPr>
                      <a:r>
                        <a:t>Cost</a:t>
                      </a:r>
                    </a:p>
                  </a:txBody>
                  <a:tcPr>
                    <a:solidFill>
                      <a:srgbClr val="232F3E"/>
                    </a:solidFill>
                  </a:tcPr>
                </a:tc>
              </a:tr>
              <a:tr h="365760">
                <a:tc>
                  <a:txBody>
                    <a:bodyPr/>
                    <a:lstStyle/>
                    <a:p>
                      <a:pPr>
                        <a:defRPr sz="1200"/>
                      </a:pPr>
                      <a:r>
                        <a:t>AWS managed</a:t>
                      </a:r>
                    </a:p>
                  </a:txBody>
                  <a:tcPr>
                    <a:solidFill>
                      <a:srgbClr val="F2F3F4"/>
                    </a:solidFill>
                  </a:tcPr>
                </a:tc>
                <a:tc>
                  <a:txBody>
                    <a:bodyPr/>
                    <a:lstStyle/>
                    <a:p>
                      <a:pPr>
                        <a:defRPr sz="1200"/>
                      </a:pPr>
                      <a:r>
                        <a:t>AWS (on your behalf)</a:t>
                      </a:r>
                    </a:p>
                  </a:txBody>
                  <a:tcPr>
                    <a:solidFill>
                      <a:srgbClr val="F2F3F4"/>
                    </a:solidFill>
                  </a:tcPr>
                </a:tc>
                <a:tc>
                  <a:txBody>
                    <a:bodyPr/>
                    <a:lstStyle/>
                    <a:p>
                      <a:pPr>
                        <a:defRPr sz="1200"/>
                      </a:pPr>
                      <a:r>
                        <a:t>AWS</a:t>
                      </a:r>
                    </a:p>
                  </a:txBody>
                  <a:tcPr>
                    <a:solidFill>
                      <a:srgbClr val="F2F3F4"/>
                    </a:solidFill>
                  </a:tcPr>
                </a:tc>
                <a:tc>
                  <a:txBody>
                    <a:bodyPr/>
                    <a:lstStyle/>
                    <a:p>
                      <a:pPr>
                        <a:defRPr sz="1200"/>
                      </a:pPr>
                      <a:r>
                        <a:t>Automatic (yearly)</a:t>
                      </a:r>
                    </a:p>
                  </a:txBody>
                  <a:tcPr>
                    <a:solidFill>
                      <a:srgbClr val="F2F3F4"/>
                    </a:solidFill>
                  </a:tcPr>
                </a:tc>
                <a:tc>
                  <a:txBody>
                    <a:bodyPr/>
                    <a:lstStyle/>
                    <a:p>
                      <a:pPr>
                        <a:defRPr sz="1200"/>
                      </a:pPr>
                      <a:r>
                        <a:t>Per-request only</a:t>
                      </a:r>
                    </a:p>
                  </a:txBody>
                  <a:tcPr>
                    <a:solidFill>
                      <a:srgbClr val="F2F3F4"/>
                    </a:solidFill>
                  </a:tcPr>
                </a:tc>
              </a:tr>
              <a:tr h="365760">
                <a:tc>
                  <a:txBody>
                    <a:bodyPr/>
                    <a:lstStyle/>
                    <a:p>
                      <a:pPr>
                        <a:defRPr sz="1200"/>
                      </a:pPr>
                      <a:r>
                        <a:t>AWS owned</a:t>
                      </a:r>
                    </a:p>
                  </a:txBody>
                  <a:tcPr/>
                </a:tc>
                <a:tc>
                  <a:txBody>
                    <a:bodyPr/>
                    <a:lstStyle/>
                    <a:p>
                      <a:pPr>
                        <a:defRPr sz="1200"/>
                      </a:pPr>
                      <a:r>
                        <a:t>AWS</a:t>
                      </a:r>
                    </a:p>
                  </a:txBody>
                  <a:tcPr/>
                </a:tc>
                <a:tc>
                  <a:txBody>
                    <a:bodyPr/>
                    <a:lstStyle/>
                    <a:p>
                      <a:pPr>
                        <a:defRPr sz="1200"/>
                      </a:pPr>
                      <a:r>
                        <a:t>AWS</a:t>
                      </a:r>
                    </a:p>
                  </a:txBody>
                  <a:tcPr/>
                </a:tc>
                <a:tc>
                  <a:txBody>
                    <a:bodyPr/>
                    <a:lstStyle/>
                    <a:p>
                      <a:pPr>
                        <a:defRPr sz="1200"/>
                      </a:pPr>
                      <a:r>
                        <a:t>Varies</a:t>
                      </a:r>
                    </a:p>
                  </a:txBody>
                  <a:tcPr/>
                </a:tc>
                <a:tc>
                  <a:txBody>
                    <a:bodyPr/>
                    <a:lstStyle/>
                    <a:p>
                      <a:pPr>
                        <a:defRPr sz="1200"/>
                      </a:pPr>
                      <a:r>
                        <a:t>No charge</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KMS key types</a:t>
            </a:r>
          </a:p>
        </p:txBody>
      </p:sp>
      <p:sp>
        <p:nvSpPr>
          <p:cNvPr id="3" name="Content Placeholder 2"/>
          <p:cNvSpPr>
            <a:spLocks noGrp="1"/>
          </p:cNvSpPr>
          <p:nvPr>
            <p:ph idx="1"/>
          </p:nvPr>
        </p:nvSpPr>
        <p:spPr/>
        <p:txBody>
          <a:bodyPr/>
          <a:lstStyle/>
          <a:p>
            <a:pPr>
              <a:defRPr sz="1800"/>
            </a:pPr>
            <a:r>
              <a:t>Customer managed keys give full control over policy and lifecycle</a:t>
            </a:r>
          </a:p>
          <a:p>
            <a:pPr>
              <a:defRPr sz="1800"/>
            </a:pPr>
            <a:r>
              <a:t>AWS managed keys are convenient but offer less control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Envelope encryption</a:t>
            </a:r>
          </a:p>
        </p:txBody>
      </p:sp>
      <p:sp>
        <p:nvSpPr>
          <p:cNvPr id="4" name="Rounded Rectangle 3"/>
          <p:cNvSpPr/>
          <p:nvPr/>
        </p:nvSpPr>
        <p:spPr>
          <a:xfrm>
            <a:off x="457200" y="1097280"/>
            <a:ext cx="8229600" cy="4572000"/>
          </a:xfrm>
          <a:prstGeom prst="round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CDD6F4"/>
                </a:solidFill>
                <a:latin typeface="Courier New"/>
              </a:defRPr>
            </a:pPr>
            <a:r>
              <a:t>1. Request a data key from KMS</a:t>
            </a:r>
            <a:br/>
            <a:r>
              <a:t>2. KMS returns plaintext key + encrypted copy</a:t>
            </a:r>
            <a:br/>
            <a:r>
              <a:t>3. Encrypt your data with the plaintext key</a:t>
            </a:r>
            <a:br/>
            <a:r>
              <a:t>4. Store encrypted data + encrypted key together</a:t>
            </a:r>
            <a:br/>
            <a:r>
              <a:t>5. Discard the plaintext key from memory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Discussion: which KMS key type for a healthcare app?</a:t>
            </a:r>
          </a:p>
        </p:txBody>
      </p:sp>
      <p:sp>
        <p:nvSpPr>
          <p:cNvPr id="3" name="Content Placeholder 2"/>
          <p:cNvSpPr>
            <a:spLocks noGrp="1"/>
          </p:cNvSpPr>
          <p:nvPr>
            <p:ph idx="1"/>
          </p:nvPr>
        </p:nvSpPr>
        <p:spPr/>
        <p:txBody>
          <a:bodyPr/>
          <a:lstStyle/>
          <a:p>
            <a:pPr>
              <a:defRPr sz="1600"/>
            </a:pPr>
            <a:r>
              <a:t>A healthcare application stores patient records in S3 and RDS. Regulations require that the organization controls encryption keys and can audit all key usage.</a:t>
            </a:r>
          </a:p>
          <a:p>
            <a:pPr>
              <a:defRPr sz="1600"/>
            </a:pPr>
            <a:r>
              <a:t>Which KMS key type should you use, and why?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Secrets Manager and Parameter Store</a:t>
            </a:r>
          </a:p>
        </p:txBody>
      </p:sp>
      <p:sp>
        <p:nvSpPr>
          <p:cNvPr id="3" name="Text Placeholder 2"/>
          <p:cNvSpPr>
            <a:spLocks noGrp="1"/>
          </p:cNvSpPr>
          <p:nvPr>
            <p:ph type="body" idx="1"/>
          </p:nvPr>
        </p:nvSpPr>
        <p:spPr/>
        <p:txBody>
          <a:bodyPr/>
          <a:lstStyle/>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Choosing between Secrets Manager and Parameter Store</a:t>
            </a:r>
          </a:p>
        </p:txBody>
      </p:sp>
      <p:graphicFrame>
        <p:nvGraphicFramePr>
          <p:cNvPr id="4" name="Table 3"/>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Feature</a:t>
                      </a:r>
                    </a:p>
                  </a:txBody>
                  <a:tcPr>
                    <a:solidFill>
                      <a:srgbClr val="232F3E"/>
                    </a:solidFill>
                  </a:tcPr>
                </a:tc>
                <a:tc>
                  <a:txBody>
                    <a:bodyPr/>
                    <a:lstStyle/>
                    <a:p>
                      <a:pPr>
                        <a:defRPr sz="1400" b="1">
                          <a:solidFill>
                            <a:srgbClr val="FFFFFF"/>
                          </a:solidFill>
                        </a:defRPr>
                      </a:pPr>
                      <a:r>
                        <a:t>Secrets Manager</a:t>
                      </a:r>
                    </a:p>
                  </a:txBody>
                  <a:tcPr>
                    <a:solidFill>
                      <a:srgbClr val="232F3E"/>
                    </a:solidFill>
                  </a:tcPr>
                </a:tc>
                <a:tc>
                  <a:txBody>
                    <a:bodyPr/>
                    <a:lstStyle/>
                    <a:p>
                      <a:pPr>
                        <a:defRPr sz="1400" b="1">
                          <a:solidFill>
                            <a:srgbClr val="FFFFFF"/>
                          </a:solidFill>
                        </a:defRPr>
                      </a:pPr>
                      <a:r>
                        <a:t>Parameter Store</a:t>
                      </a:r>
                    </a:p>
                  </a:txBody>
                  <a:tcPr>
                    <a:solidFill>
                      <a:srgbClr val="232F3E"/>
                    </a:solidFill>
                  </a:tcPr>
                </a:tc>
              </a:tr>
              <a:tr h="365760">
                <a:tc>
                  <a:txBody>
                    <a:bodyPr/>
                    <a:lstStyle/>
                    <a:p>
                      <a:pPr>
                        <a:defRPr sz="1200"/>
                      </a:pPr>
                      <a:r>
                        <a:t>Cost</a:t>
                      </a:r>
                    </a:p>
                  </a:txBody>
                  <a:tcPr>
                    <a:solidFill>
                      <a:srgbClr val="F2F3F4"/>
                    </a:solidFill>
                  </a:tcPr>
                </a:tc>
                <a:tc>
                  <a:txBody>
                    <a:bodyPr/>
                    <a:lstStyle/>
                    <a:p>
                      <a:pPr>
                        <a:defRPr sz="1200"/>
                      </a:pPr>
                      <a:r>
                        <a:t>Per-secret monthly fee + API calls</a:t>
                      </a:r>
                    </a:p>
                  </a:txBody>
                  <a:tcPr>
                    <a:solidFill>
                      <a:srgbClr val="F2F3F4"/>
                    </a:solidFill>
                  </a:tcPr>
                </a:tc>
                <a:tc>
                  <a:txBody>
                    <a:bodyPr/>
                    <a:lstStyle/>
                    <a:p>
                      <a:pPr>
                        <a:defRPr sz="1200"/>
                      </a:pPr>
                      <a:r>
                        <a:t>Free (standard) or low cost (advanced)</a:t>
                      </a:r>
                    </a:p>
                  </a:txBody>
                  <a:tcPr>
                    <a:solidFill>
                      <a:srgbClr val="F2F3F4"/>
                    </a:solidFill>
                  </a:tcPr>
                </a:tc>
              </a:tr>
              <a:tr h="365760">
                <a:tc>
                  <a:txBody>
                    <a:bodyPr/>
                    <a:lstStyle/>
                    <a:p>
                      <a:pPr>
                        <a:defRPr sz="1200"/>
                      </a:pPr>
                      <a:r>
                        <a:t>Cross-account sharing</a:t>
                      </a:r>
                    </a:p>
                  </a:txBody>
                  <a:tcPr/>
                </a:tc>
                <a:tc>
                  <a:txBody>
                    <a:bodyPr/>
                    <a:lstStyle/>
                    <a:p>
                      <a:pPr>
                        <a:defRPr sz="1200"/>
                      </a:pPr>
                      <a:r>
                        <a:t>Supported</a:t>
                      </a:r>
                    </a:p>
                  </a:txBody>
                  <a:tcPr/>
                </a:tc>
                <a:tc>
                  <a:txBody>
                    <a:bodyPr/>
                    <a:lstStyle/>
                    <a:p>
                      <a:pPr>
                        <a:defRPr sz="1200"/>
                      </a:pPr>
                      <a:r>
                        <a:t>Not natively supported</a:t>
                      </a:r>
                    </a:p>
                  </a:txBody>
                  <a:tcPr/>
                </a:tc>
              </a:tr>
              <a:tr h="365760">
                <a:tc>
                  <a:txBody>
                    <a:bodyPr/>
                    <a:lstStyle/>
                    <a:p>
                      <a:pPr>
                        <a:defRPr sz="1200"/>
                      </a:pPr>
                      <a:r>
                        <a:t>Max size</a:t>
                      </a:r>
                    </a:p>
                  </a:txBody>
                  <a:tcPr>
                    <a:solidFill>
                      <a:srgbClr val="F2F3F4"/>
                    </a:solidFill>
                  </a:tcPr>
                </a:tc>
                <a:tc>
                  <a:txBody>
                    <a:bodyPr/>
                    <a:lstStyle/>
                    <a:p>
                      <a:pPr>
                        <a:defRPr sz="1200"/>
                      </a:pPr>
                      <a:r>
                        <a:t>64 KB</a:t>
                      </a:r>
                    </a:p>
                  </a:txBody>
                  <a:tcPr>
                    <a:solidFill>
                      <a:srgbClr val="F2F3F4"/>
                    </a:solidFill>
                  </a:tcPr>
                </a:tc>
                <a:tc>
                  <a:txBody>
                    <a:bodyPr/>
                    <a:lstStyle/>
                    <a:p>
                      <a:pPr>
                        <a:defRPr sz="1200"/>
                      </a:pPr>
                      <a:r>
                        <a:t>4 KB (standard), 8 KB (advanced)</a:t>
                      </a:r>
                    </a:p>
                  </a:txBody>
                  <a:tcPr>
                    <a:solidFill>
                      <a:srgbClr val="F2F3F4"/>
                    </a:solidFill>
                  </a:tcPr>
                </a:tc>
              </a:tr>
              <a:tr h="365760">
                <a:tc>
                  <a:txBody>
                    <a:bodyPr/>
                    <a:lstStyle/>
                    <a:p>
                      <a:pPr>
                        <a:defRPr sz="1200"/>
                      </a:pPr>
                      <a:r>
                        <a:t>Best for</a:t>
                      </a:r>
                    </a:p>
                  </a:txBody>
                  <a:tcPr/>
                </a:tc>
                <a:tc>
                  <a:txBody>
                    <a:bodyPr/>
                    <a:lstStyle/>
                    <a:p>
                      <a:pPr>
                        <a:defRPr sz="1200"/>
                      </a:pPr>
                      <a:r>
                        <a:t>Database credentials, API keys needing rotation</a:t>
                      </a:r>
                    </a:p>
                  </a:txBody>
                  <a:tcPr/>
                </a:tc>
                <a:tc>
                  <a:txBody>
                    <a:bodyPr/>
                    <a:lstStyle/>
                    <a:p>
                      <a:pPr>
                        <a:defRPr sz="1200"/>
                      </a:pPr>
                      <a:r>
                        <a:t>Config values, feature flags, non-rotating secrets</a:t>
                      </a:r>
                    </a:p>
                  </a:txBody>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AWS WAF: protecting web applications</a:t>
            </a:r>
          </a:p>
        </p:txBody>
      </p:sp>
      <p:sp>
        <p:nvSpPr>
          <p:cNvPr id="3" name="Text Placeholder 2"/>
          <p:cNvSpPr>
            <a:spLocks noGrp="1"/>
          </p:cNvSpPr>
          <p:nvPr>
            <p:ph type="body" idx="1"/>
          </p:nvPr>
        </p:nvSpPr>
        <p:spPr/>
        <p:txBody>
          <a:bodyPr/>
          <a:lstStyle/>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WAF managed rule groups</a:t>
            </a:r>
          </a:p>
        </p:txBody>
      </p:sp>
      <p:graphicFrame>
        <p:nvGraphicFramePr>
          <p:cNvPr id="4" name="Table 3"/>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4114800"/>
                <a:gridCol w="4114800"/>
              </a:tblGrid>
              <a:tr h="365760">
                <a:tc>
                  <a:txBody>
                    <a:bodyPr/>
                    <a:lstStyle/>
                    <a:p>
                      <a:pPr>
                        <a:defRPr sz="1400" b="1">
                          <a:solidFill>
                            <a:srgbClr val="FFFFFF"/>
                          </a:solidFill>
                        </a:defRPr>
                      </a:pPr>
                      <a:r>
                        <a:t>Managed Rule Group</a:t>
                      </a:r>
                    </a:p>
                  </a:txBody>
                  <a:tcPr>
                    <a:solidFill>
                      <a:srgbClr val="232F3E"/>
                    </a:solidFill>
                  </a:tcPr>
                </a:tc>
                <a:tc>
                  <a:txBody>
                    <a:bodyPr/>
                    <a:lstStyle/>
                    <a:p>
                      <a:pPr>
                        <a:defRPr sz="1400" b="1">
                          <a:solidFill>
                            <a:srgbClr val="FFFFFF"/>
                          </a:solidFill>
                        </a:defRPr>
                      </a:pPr>
                      <a:r>
                        <a:t>Protects Against</a:t>
                      </a:r>
                    </a:p>
                  </a:txBody>
                  <a:tcPr>
                    <a:solidFill>
                      <a:srgbClr val="232F3E"/>
                    </a:solidFill>
                  </a:tcPr>
                </a:tc>
              </a:tr>
              <a:tr h="365760">
                <a:tc>
                  <a:txBody>
                    <a:bodyPr/>
                    <a:lstStyle/>
                    <a:p>
                      <a:pPr>
                        <a:defRPr sz="1200"/>
                      </a:pPr>
                      <a:r>
                        <a:t>AWSManagedRulesSQLiRuleSet</a:t>
                      </a:r>
                    </a:p>
                  </a:txBody>
                  <a:tcPr>
                    <a:solidFill>
                      <a:srgbClr val="F2F3F4"/>
                    </a:solidFill>
                  </a:tcPr>
                </a:tc>
                <a:tc>
                  <a:txBody>
                    <a:bodyPr/>
                    <a:lstStyle/>
                    <a:p>
                      <a:pPr>
                        <a:defRPr sz="1200"/>
                      </a:pPr>
                      <a:r>
                        <a:t>SQL injection attacks</a:t>
                      </a:r>
                    </a:p>
                  </a:txBody>
                  <a:tcPr>
                    <a:solidFill>
                      <a:srgbClr val="F2F3F4"/>
                    </a:solidFill>
                  </a:tcPr>
                </a:tc>
              </a:tr>
              <a:tr h="365760">
                <a:tc>
                  <a:txBody>
                    <a:bodyPr/>
                    <a:lstStyle/>
                    <a:p>
                      <a:pPr>
                        <a:defRPr sz="1200"/>
                      </a:pPr>
                      <a:r>
                        <a:t>AWSManagedRulesKnownBadInputsRuleSet</a:t>
                      </a:r>
                    </a:p>
                  </a:txBody>
                  <a:tcPr/>
                </a:tc>
                <a:tc>
                  <a:txBody>
                    <a:bodyPr/>
                    <a:lstStyle/>
                    <a:p>
                      <a:pPr>
                        <a:defRPr sz="1200"/>
                      </a:pPr>
                      <a:r>
                        <a:t>Known malicious input patterns</a:t>
                      </a:r>
                    </a:p>
                  </a:txBody>
                  <a:tcPr/>
                </a:tc>
              </a:tr>
              <a:tr h="365760">
                <a:tc>
                  <a:txBody>
                    <a:bodyPr/>
                    <a:lstStyle/>
                    <a:p>
                      <a:pPr>
                        <a:defRPr sz="1200"/>
                      </a:pPr>
                      <a:r>
                        <a:t>AWSManagedRulesAmazonIpReputationList</a:t>
                      </a:r>
                    </a:p>
                  </a:txBody>
                  <a:tcPr>
                    <a:solidFill>
                      <a:srgbClr val="F2F3F4"/>
                    </a:solidFill>
                  </a:tcPr>
                </a:tc>
                <a:tc>
                  <a:txBody>
                    <a:bodyPr/>
                    <a:lstStyle/>
                    <a:p>
                      <a:pPr>
                        <a:defRPr sz="1200"/>
                      </a:pPr>
                      <a:r>
                        <a:t>IPs with poor reputation</a:t>
                      </a:r>
                    </a:p>
                  </a:txBody>
                  <a:tcPr>
                    <a:solidFill>
                      <a:srgbClr val="F2F3F4"/>
                    </a:solidFill>
                  </a:tcPr>
                </a:tc>
              </a:tr>
              <a:tr h="365760">
                <a:tc>
                  <a:txBody>
                    <a:bodyPr/>
                    <a:lstStyle/>
                    <a:p>
                      <a:pPr>
                        <a:defRPr sz="1200"/>
                      </a:pPr>
                      <a:r>
                        <a:t>AWSManagedRulesBotControlRuleSet</a:t>
                      </a:r>
                    </a:p>
                  </a:txBody>
                  <a:tcPr/>
                </a:tc>
                <a:tc>
                  <a:txBody>
                    <a:bodyPr/>
                    <a:lstStyle/>
                    <a:p>
                      <a:pPr>
                        <a:defRPr sz="1200"/>
                      </a:pPr>
                      <a:r>
                        <a:t>Bot traffic (scrapers, crawlers)</a:t>
                      </a:r>
                    </a:p>
                  </a:txBody>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WAF managed rule groups</a:t>
            </a:r>
          </a:p>
        </p:txBody>
      </p:sp>
      <p:sp>
        <p:nvSpPr>
          <p:cNvPr id="3" name="Content Placeholder 2"/>
          <p:cNvSpPr>
            <a:spLocks noGrp="1"/>
          </p:cNvSpPr>
          <p:nvPr>
            <p:ph idx="1"/>
          </p:nvPr>
        </p:nvSpPr>
        <p:spPr/>
        <p:txBody>
          <a:bodyPr/>
          <a:lstStyle/>
          <a:p>
            <a:pPr>
              <a:defRPr sz="1800"/>
            </a:pPr>
            <a:r>
              <a:t>WAF protects CloudFront, ALB, API Gateway, and AppSync</a:t>
            </a:r>
          </a:p>
          <a:p>
            <a:pPr>
              <a:defRPr sz="1800"/>
            </a:pPr>
            <a:r>
              <a:t>Rate-based rules block IPs exceeding a request threshold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Quick check: WAF vs. security groups</a:t>
            </a:r>
          </a:p>
        </p:txBody>
      </p:sp>
      <p:sp>
        <p:nvSpPr>
          <p:cNvPr id="3" name="Content Placeholder 2"/>
          <p:cNvSpPr>
            <a:spLocks noGrp="1"/>
          </p:cNvSpPr>
          <p:nvPr>
            <p:ph idx="1"/>
          </p:nvPr>
        </p:nvSpPr>
        <p:spPr/>
        <p:txBody>
          <a:bodyPr/>
          <a:lstStyle/>
          <a:p>
            <a:pPr>
              <a:defRPr sz="1600"/>
            </a:pPr>
            <a:r>
              <a:t>Your web application receives SQL injection attempts in HTTP request bodies. You have security groups configured on your ALB.</a:t>
            </a:r>
          </a:p>
          <a:p>
            <a:pPr>
              <a:defRPr sz="1600"/>
            </a:pPr>
            <a:r>
              <a:t>Will security groups block these attacks? Why or why not?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AWS Shield: DDoS protection</a:t>
            </a:r>
          </a:p>
        </p:txBody>
      </p:sp>
      <p:sp>
        <p:nvSpPr>
          <p:cNvPr id="3" name="Text Placeholder 2"/>
          <p:cNvSpPr>
            <a:spLocks noGrp="1"/>
          </p:cNvSpPr>
          <p:nvPr>
            <p:ph type="body" idx="1"/>
          </p:nvPr>
        </p:nvSpPr>
        <p:spPr/>
        <p:txBody>
          <a:bodyPr/>
          <a:lstStyle/>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Shield Standard vs. Shield Advanced</a:t>
            </a:r>
          </a:p>
        </p:txBody>
      </p:sp>
      <p:graphicFrame>
        <p:nvGraphicFramePr>
          <p:cNvPr id="4" name="Table 3"/>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Feature</a:t>
                      </a:r>
                    </a:p>
                  </a:txBody>
                  <a:tcPr>
                    <a:solidFill>
                      <a:srgbClr val="232F3E"/>
                    </a:solidFill>
                  </a:tcPr>
                </a:tc>
                <a:tc>
                  <a:txBody>
                    <a:bodyPr/>
                    <a:lstStyle/>
                    <a:p>
                      <a:pPr>
                        <a:defRPr sz="1400" b="1">
                          <a:solidFill>
                            <a:srgbClr val="FFFFFF"/>
                          </a:solidFill>
                        </a:defRPr>
                      </a:pPr>
                      <a:r>
                        <a:t>Shield Standard</a:t>
                      </a:r>
                    </a:p>
                  </a:txBody>
                  <a:tcPr>
                    <a:solidFill>
                      <a:srgbClr val="232F3E"/>
                    </a:solidFill>
                  </a:tcPr>
                </a:tc>
                <a:tc>
                  <a:txBody>
                    <a:bodyPr/>
                    <a:lstStyle/>
                    <a:p>
                      <a:pPr>
                        <a:defRPr sz="1400" b="1">
                          <a:solidFill>
                            <a:srgbClr val="FFFFFF"/>
                          </a:solidFill>
                        </a:defRPr>
                      </a:pPr>
                      <a:r>
                        <a:t>Shield Advanced</a:t>
                      </a:r>
                    </a:p>
                  </a:txBody>
                  <a:tcPr>
                    <a:solidFill>
                      <a:srgbClr val="232F3E"/>
                    </a:solidFill>
                  </a:tcPr>
                </a:tc>
              </a:tr>
              <a:tr h="365760">
                <a:tc>
                  <a:txBody>
                    <a:bodyPr/>
                    <a:lstStyle/>
                    <a:p>
                      <a:pPr>
                        <a:defRPr sz="1200"/>
                      </a:pPr>
                      <a:r>
                        <a:t>Protection</a:t>
                      </a:r>
                    </a:p>
                  </a:txBody>
                  <a:tcPr>
                    <a:solidFill>
                      <a:srgbClr val="F2F3F4"/>
                    </a:solidFill>
                  </a:tcPr>
                </a:tc>
                <a:tc>
                  <a:txBody>
                    <a:bodyPr/>
                    <a:lstStyle/>
                    <a:p>
                      <a:pPr>
                        <a:defRPr sz="1200"/>
                      </a:pPr>
                      <a:r>
                        <a:t>Layer 3/4</a:t>
                      </a:r>
                    </a:p>
                  </a:txBody>
                  <a:tcPr>
                    <a:solidFill>
                      <a:srgbClr val="F2F3F4"/>
                    </a:solidFill>
                  </a:tcPr>
                </a:tc>
                <a:tc>
                  <a:txBody>
                    <a:bodyPr/>
                    <a:lstStyle/>
                    <a:p>
                      <a:pPr>
                        <a:defRPr sz="1200"/>
                      </a:pPr>
                      <a:r>
                        <a:t>Layer 3/4 and Layer 7</a:t>
                      </a:r>
                    </a:p>
                  </a:txBody>
                  <a:tcPr>
                    <a:solidFill>
                      <a:srgbClr val="F2F3F4"/>
                    </a:solidFill>
                  </a:tcPr>
                </a:tc>
              </a:tr>
              <a:tr h="365760">
                <a:tc>
                  <a:txBody>
                    <a:bodyPr/>
                    <a:lstStyle/>
                    <a:p>
                      <a:pPr>
                        <a:defRPr sz="1200"/>
                      </a:pPr>
                      <a:r>
                        <a:t>DDoS Response Team</a:t>
                      </a:r>
                    </a:p>
                  </a:txBody>
                  <a:tcPr/>
                </a:tc>
                <a:tc>
                  <a:txBody>
                    <a:bodyPr/>
                    <a:lstStyle/>
                    <a:p>
                      <a:pPr>
                        <a:defRPr sz="1200"/>
                      </a:pPr>
                      <a:r>
                        <a:t>Not included</a:t>
                      </a:r>
                    </a:p>
                  </a:txBody>
                  <a:tcPr/>
                </a:tc>
                <a:tc>
                  <a:txBody>
                    <a:bodyPr/>
                    <a:lstStyle/>
                    <a:p>
                      <a:pPr>
                        <a:defRPr sz="1200"/>
                      </a:pPr>
                      <a:r>
                        <a:t>24/7 access</a:t>
                      </a:r>
                    </a:p>
                  </a:txBody>
                  <a:tcPr/>
                </a:tc>
              </a:tr>
              <a:tr h="365760">
                <a:tc>
                  <a:txBody>
                    <a:bodyPr/>
                    <a:lstStyle/>
                    <a:p>
                      <a:pPr>
                        <a:defRPr sz="1200"/>
                      </a:pPr>
                      <a:r>
                        <a:t>Cost protection</a:t>
                      </a:r>
                    </a:p>
                  </a:txBody>
                  <a:tcPr>
                    <a:solidFill>
                      <a:srgbClr val="F2F3F4"/>
                    </a:solidFill>
                  </a:tcPr>
                </a:tc>
                <a:tc>
                  <a:txBody>
                    <a:bodyPr/>
                    <a:lstStyle/>
                    <a:p>
                      <a:pPr>
                        <a:defRPr sz="1200"/>
                      </a:pPr>
                      <a:r>
                        <a:t>Not included</a:t>
                      </a:r>
                    </a:p>
                  </a:txBody>
                  <a:tcPr>
                    <a:solidFill>
                      <a:srgbClr val="F2F3F4"/>
                    </a:solidFill>
                  </a:tcPr>
                </a:tc>
                <a:tc>
                  <a:txBody>
                    <a:bodyPr/>
                    <a:lstStyle/>
                    <a:p>
                      <a:pPr>
                        <a:defRPr sz="1200"/>
                      </a:pPr>
                      <a:r>
                        <a:t>Credits for DDoS scaling charges</a:t>
                      </a:r>
                    </a:p>
                  </a:txBody>
                  <a:tcPr>
                    <a:solidFill>
                      <a:srgbClr val="F2F3F4"/>
                    </a:solidFill>
                  </a:tcPr>
                </a:tc>
              </a:tr>
              <a:tr h="365760">
                <a:tc>
                  <a:txBody>
                    <a:bodyPr/>
                    <a:lstStyle/>
                    <a:p>
                      <a:pPr>
                        <a:defRPr sz="1200"/>
                      </a:pPr>
                      <a:r>
                        <a:t>WAF included</a:t>
                      </a:r>
                    </a:p>
                  </a:txBody>
                  <a:tcPr/>
                </a:tc>
                <a:tc>
                  <a:txBody>
                    <a:bodyPr/>
                    <a:lstStyle/>
                    <a:p>
                      <a:pPr>
                        <a:defRPr sz="1200"/>
                      </a:pPr>
                      <a:r>
                        <a:t>No</a:t>
                      </a:r>
                    </a:p>
                  </a:txBody>
                  <a:tcPr/>
                </a:tc>
                <a:tc>
                  <a:txBody>
                    <a:bodyPr/>
                    <a:lstStyle/>
                    <a:p>
                      <a:pPr>
                        <a:defRPr sz="1200"/>
                      </a:pPr>
                      <a:r>
                        <a:t>Yes, at no extra cost</a:t>
                      </a:r>
                    </a:p>
                  </a:txBody>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Shield Standard vs. Shield Advanced</a:t>
            </a:r>
          </a:p>
        </p:txBody>
      </p:sp>
      <p:sp>
        <p:nvSpPr>
          <p:cNvPr id="3" name="Content Placeholder 2"/>
          <p:cNvSpPr>
            <a:spLocks noGrp="1"/>
          </p:cNvSpPr>
          <p:nvPr>
            <p:ph idx="1"/>
          </p:nvPr>
        </p:nvSpPr>
        <p:spPr/>
        <p:txBody>
          <a:bodyPr/>
          <a:lstStyle/>
          <a:p>
            <a:pPr>
              <a:defRPr sz="1400" i="1">
                <a:solidFill>
                  <a:srgbClr val="555555"/>
                </a:solidFill>
              </a:defRPr>
            </a:pPr>
            <a:r>
              <a:t>Shield Standard is sufficient for most workloads. Consider Advanced for high-value targets or when you need DDoS cost protection.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AWS CloudTrail: auditing API activity</a:t>
            </a:r>
          </a:p>
        </p:txBody>
      </p:sp>
      <p:sp>
        <p:nvSpPr>
          <p:cNvPr id="3" name="Text Placeholder 2"/>
          <p:cNvSpPr>
            <a:spLocks noGrp="1"/>
          </p:cNvSpPr>
          <p:nvPr>
            <p:ph type="body" idx="1"/>
          </p:nvPr>
        </p:nvSpPr>
        <p:spPr/>
        <p:txBody>
          <a:bodyPr/>
          <a:lstStyle/>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CloudTrail event types</a:t>
            </a:r>
          </a:p>
        </p:txBody>
      </p:sp>
      <p:graphicFrame>
        <p:nvGraphicFramePr>
          <p:cNvPr id="4" name="Table 3"/>
          <p:cNvGraphicFramePr>
            <a:graphicFrameLocks noGrp="1"/>
          </p:cNvGraphicFramePr>
          <p:nvPr/>
        </p:nvGraphicFramePr>
        <p:xfrm>
          <a:off x="457200" y="1097280"/>
          <a:ext cx="8229600" cy="1097280"/>
        </p:xfrm>
        <a:graphic>
          <a:graphicData uri="http://schemas.openxmlformats.org/drawingml/2006/table">
            <a:tbl>
              <a:tblPr firstRow="1" bandRow="1">
                <a:tableStyleId>{5C22544A-7EE6-4342-B048-85BDC9FD1C3A}</a:tableStyleId>
              </a:tblPr>
              <a:tblGrid>
                <a:gridCol w="2743200"/>
                <a:gridCol w="2743200"/>
                <a:gridCol w="2743200"/>
              </a:tblGrid>
              <a:tr h="365760">
                <a:tc>
                  <a:txBody>
                    <a:bodyPr/>
                    <a:lstStyle/>
                    <a:p>
                      <a:pPr>
                        <a:defRPr sz="1400" b="1">
                          <a:solidFill>
                            <a:srgbClr val="FFFFFF"/>
                          </a:solidFill>
                        </a:defRPr>
                      </a:pPr>
                      <a:r>
                        <a:t>Event Type</a:t>
                      </a:r>
                    </a:p>
                  </a:txBody>
                  <a:tcPr>
                    <a:solidFill>
                      <a:srgbClr val="232F3E"/>
                    </a:solidFill>
                  </a:tcPr>
                </a:tc>
                <a:tc>
                  <a:txBody>
                    <a:bodyPr/>
                    <a:lstStyle/>
                    <a:p>
                      <a:pPr>
                        <a:defRPr sz="1400" b="1">
                          <a:solidFill>
                            <a:srgbClr val="FFFFFF"/>
                          </a:solidFill>
                        </a:defRPr>
                      </a:pPr>
                      <a:r>
                        <a:t>What It Records</a:t>
                      </a:r>
                    </a:p>
                  </a:txBody>
                  <a:tcPr>
                    <a:solidFill>
                      <a:srgbClr val="232F3E"/>
                    </a:solidFill>
                  </a:tcPr>
                </a:tc>
                <a:tc>
                  <a:txBody>
                    <a:bodyPr/>
                    <a:lstStyle/>
                    <a:p>
                      <a:pPr>
                        <a:defRPr sz="1400" b="1">
                          <a:solidFill>
                            <a:srgbClr val="FFFFFF"/>
                          </a:solidFill>
                        </a:defRPr>
                      </a:pPr>
                      <a:r>
                        <a:t>Examples</a:t>
                      </a:r>
                    </a:p>
                  </a:txBody>
                  <a:tcPr>
                    <a:solidFill>
                      <a:srgbClr val="232F3E"/>
                    </a:solidFill>
                  </a:tcPr>
                </a:tc>
              </a:tr>
              <a:tr h="365760">
                <a:tc>
                  <a:txBody>
                    <a:bodyPr/>
                    <a:lstStyle/>
                    <a:p>
                      <a:pPr>
                        <a:defRPr sz="1200"/>
                      </a:pPr>
                      <a:r>
                        <a:t>Data events</a:t>
                      </a:r>
                    </a:p>
                  </a:txBody>
                  <a:tcPr>
                    <a:solidFill>
                      <a:srgbClr val="F2F3F4"/>
                    </a:solidFill>
                  </a:tcPr>
                </a:tc>
                <a:tc>
                  <a:txBody>
                    <a:bodyPr/>
                    <a:lstStyle/>
                    <a:p>
                      <a:pPr>
                        <a:defRPr sz="1200"/>
                      </a:pPr>
                      <a:r>
                        <a:t>Data plane operations</a:t>
                      </a:r>
                    </a:p>
                  </a:txBody>
                  <a:tcPr>
                    <a:solidFill>
                      <a:srgbClr val="F2F3F4"/>
                    </a:solidFill>
                  </a:tcPr>
                </a:tc>
                <a:tc>
                  <a:txBody>
                    <a:bodyPr/>
                    <a:lstStyle/>
                    <a:p>
                      <a:pPr>
                        <a:defRPr sz="1200"/>
                      </a:pPr>
                      <a:r>
                        <a:t>S3 `GetObject`/`PutObject`, Lambda `Invoke`</a:t>
                      </a:r>
                    </a:p>
                  </a:txBody>
                  <a:tcPr>
                    <a:solidFill>
                      <a:srgbClr val="F2F3F4"/>
                    </a:solidFill>
                  </a:tcPr>
                </a:tc>
              </a:tr>
              <a:tr h="365760">
                <a:tc>
                  <a:txBody>
                    <a:bodyPr/>
                    <a:lstStyle/>
                    <a:p>
                      <a:pPr>
                        <a:defRPr sz="1200"/>
                      </a:pPr>
                      <a:r>
                        <a:t>Insights events</a:t>
                      </a:r>
                    </a:p>
                  </a:txBody>
                  <a:tcPr/>
                </a:tc>
                <a:tc>
                  <a:txBody>
                    <a:bodyPr/>
                    <a:lstStyle/>
                    <a:p>
                      <a:pPr>
                        <a:defRPr sz="1200"/>
                      </a:pPr>
                      <a:r>
                        <a:t>Unusual API activity patterns</a:t>
                      </a:r>
                    </a:p>
                  </a:txBody>
                  <a:tcPr/>
                </a:tc>
                <a:tc>
                  <a:txBody>
                    <a:bodyPr/>
                    <a:lstStyle/>
                    <a:p>
                      <a:pPr>
                        <a:defRPr sz="1200"/>
                      </a:pPr>
                      <a:r>
                        <a:t>Spike in `RunInstances`, unusual `DeleteBucket`</a:t>
                      </a:r>
                    </a:p>
                  </a:txBody>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CloudTrail event types</a:t>
            </a:r>
          </a:p>
        </p:txBody>
      </p:sp>
      <p:sp>
        <p:nvSpPr>
          <p:cNvPr id="3" name="Content Placeholder 2"/>
          <p:cNvSpPr>
            <a:spLocks noGrp="1"/>
          </p:cNvSpPr>
          <p:nvPr>
            <p:ph idx="1"/>
          </p:nvPr>
        </p:nvSpPr>
        <p:spPr/>
        <p:txBody>
          <a:bodyPr/>
          <a:lstStyle/>
          <a:p>
            <a:pPr>
              <a:defRPr sz="1800"/>
            </a:pPr>
            <a:r>
              <a:t>Management events logged by default (90-day retention, free)</a:t>
            </a:r>
          </a:p>
          <a:p>
            <a:pPr>
              <a:defRPr sz="1800"/>
            </a:pPr>
            <a:r>
              <a:t>Data events require a trail (can generate high volume and cost)</a:t>
            </a:r>
          </a:p>
          <a:p>
            <a:pPr>
              <a:defRPr sz="1400" i="1">
                <a:solidFill>
                  <a:srgbClr val="555555"/>
                </a:solidFill>
              </a:defRPr>
            </a:pPr>
            <a:r>
              <a:t>Enable data events selectively for sensitive buckets and functions, not for all resources.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Amazon GuardDuty: threat detection</a:t>
            </a:r>
          </a:p>
        </p:txBody>
      </p:sp>
      <p:sp>
        <p:nvSpPr>
          <p:cNvPr id="3" name="Text Placeholder 2"/>
          <p:cNvSpPr>
            <a:spLocks noGrp="1"/>
          </p:cNvSpPr>
          <p:nvPr>
            <p:ph type="body" idx="1"/>
          </p:nvPr>
        </p:nvSpPr>
        <p:spPr/>
        <p:txBody>
          <a:bodyPr/>
          <a:lstStyle/>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How GuardDuty works</a:t>
            </a:r>
          </a:p>
        </p:txBody>
      </p:sp>
      <p:graphicFrame>
        <p:nvGraphicFramePr>
          <p:cNvPr id="4" name="Table 3"/>
          <p:cNvGraphicFramePr>
            <a:graphicFrameLocks noGrp="1"/>
          </p:cNvGraphicFramePr>
          <p:nvPr/>
        </p:nvGraphicFramePr>
        <p:xfrm>
          <a:off x="457200" y="1097280"/>
          <a:ext cx="8229600" cy="1097280"/>
        </p:xfrm>
        <a:graphic>
          <a:graphicData uri="http://schemas.openxmlformats.org/drawingml/2006/table">
            <a:tbl>
              <a:tblPr firstRow="1" bandRow="1">
                <a:tableStyleId>{5C22544A-7EE6-4342-B048-85BDC9FD1C3A}</a:tableStyleId>
              </a:tblPr>
              <a:tblGrid>
                <a:gridCol w="4114800"/>
                <a:gridCol w="4114800"/>
              </a:tblGrid>
              <a:tr h="365760">
                <a:tc>
                  <a:txBody>
                    <a:bodyPr/>
                    <a:lstStyle/>
                    <a:p>
                      <a:pPr>
                        <a:defRPr sz="1400" b="1">
                          <a:solidFill>
                            <a:srgbClr val="FFFFFF"/>
                          </a:solidFill>
                        </a:defRPr>
                      </a:pPr>
                      <a:r>
                        <a:t>Finding Category</a:t>
                      </a:r>
                    </a:p>
                  </a:txBody>
                  <a:tcPr>
                    <a:solidFill>
                      <a:srgbClr val="232F3E"/>
                    </a:solidFill>
                  </a:tcPr>
                </a:tc>
                <a:tc>
                  <a:txBody>
                    <a:bodyPr/>
                    <a:lstStyle/>
                    <a:p>
                      <a:pPr>
                        <a:defRPr sz="1400" b="1">
                          <a:solidFill>
                            <a:srgbClr val="FFFFFF"/>
                          </a:solidFill>
                        </a:defRPr>
                      </a:pPr>
                      <a:r>
                        <a:t>Examples</a:t>
                      </a:r>
                    </a:p>
                  </a:txBody>
                  <a:tcPr>
                    <a:solidFill>
                      <a:srgbClr val="232F3E"/>
                    </a:solidFill>
                  </a:tcPr>
                </a:tc>
              </a:tr>
              <a:tr h="365760">
                <a:tc>
                  <a:txBody>
                    <a:bodyPr/>
                    <a:lstStyle/>
                    <a:p>
                      <a:pPr>
                        <a:defRPr sz="1200"/>
                      </a:pPr>
                      <a:r>
                        <a:t>Cryptocurrency mining</a:t>
                      </a:r>
                    </a:p>
                  </a:txBody>
                  <a:tcPr>
                    <a:solidFill>
                      <a:srgbClr val="F2F3F4"/>
                    </a:solidFill>
                  </a:tcPr>
                </a:tc>
                <a:tc>
                  <a:txBody>
                    <a:bodyPr/>
                    <a:lstStyle/>
                    <a:p>
                      <a:pPr>
                        <a:defRPr sz="1200"/>
                      </a:pPr>
                      <a:r>
                        <a:t>EC2 communicating with mining pools</a:t>
                      </a:r>
                    </a:p>
                  </a:txBody>
                  <a:tcPr>
                    <a:solidFill>
                      <a:srgbClr val="F2F3F4"/>
                    </a:solidFill>
                  </a:tcPr>
                </a:tc>
              </a:tr>
              <a:tr h="365760">
                <a:tc>
                  <a:txBody>
                    <a:bodyPr/>
                    <a:lstStyle/>
                    <a:p>
                      <a:pPr>
                        <a:defRPr sz="1200"/>
                      </a:pPr>
                      <a:r>
                        <a:t>Data exfiltration</a:t>
                      </a:r>
                    </a:p>
                  </a:txBody>
                  <a:tcPr/>
                </a:tc>
                <a:tc>
                  <a:txBody>
                    <a:bodyPr/>
                    <a:lstStyle/>
                    <a:p>
                      <a:pPr>
                        <a:defRPr sz="1200"/>
                      </a:pPr>
                      <a:r>
                        <a:t>Unusual data volume from S3 to external IP</a:t>
                      </a:r>
                    </a:p>
                  </a:txBody>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GuardDuty works</a:t>
            </a:r>
          </a:p>
        </p:txBody>
      </p:sp>
      <p:sp>
        <p:nvSpPr>
          <p:cNvPr id="3" name="Content Placeholder 2"/>
          <p:cNvSpPr>
            <a:spLocks noGrp="1"/>
          </p:cNvSpPr>
          <p:nvPr>
            <p:ph idx="1"/>
          </p:nvPr>
        </p:nvSpPr>
        <p:spPr/>
        <p:txBody>
          <a:bodyPr/>
          <a:lstStyle/>
          <a:p>
            <a:pPr>
              <a:defRPr sz="1800"/>
            </a:pPr>
            <a:r>
              <a:t>Analyzes CloudTrail, VPC Flow Logs, DNS logs using ML and threat intelligence</a:t>
            </a:r>
          </a:p>
          <a:p>
            <a:pPr>
              <a:defRPr sz="1800"/>
            </a:pPr>
            <a:r>
              <a:t>Generates findings with type, severity, affected resource, and action details</a:t>
            </a:r>
          </a:p>
          <a:p>
            <a:pPr>
              <a:defRPr sz="1800"/>
            </a:pPr>
            <a:r>
              <a:t>No agents to install, no rules to write, no infrastructure to manage</a:t>
            </a:r>
          </a:p>
          <a:p>
            <a:pPr>
              <a:defRPr sz="1400" i="1">
                <a:solidFill>
                  <a:srgbClr val="555555"/>
                </a:solidFill>
              </a:defRPr>
            </a:pPr>
            <a:r>
              <a:t>Enable GuardDuty in every Region, even Regions where you do not run workloads.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Discussion: assessing a GuardDuty finding</a:t>
            </a:r>
          </a:p>
        </p:txBody>
      </p:sp>
      <p:sp>
        <p:nvSpPr>
          <p:cNvPr id="3" name="Content Placeholder 2"/>
          <p:cNvSpPr>
            <a:spLocks noGrp="1"/>
          </p:cNvSpPr>
          <p:nvPr>
            <p:ph idx="1"/>
          </p:nvPr>
        </p:nvSpPr>
        <p:spPr/>
        <p:txBody>
          <a:bodyPr/>
          <a:lstStyle/>
          <a:p>
            <a:pPr>
              <a:defRPr sz="1600"/>
            </a:pPr>
            <a:r>
              <a:t>GuardDuty reports a High severity finding: `UnauthorizedAccess:IAMUser/InstanceCredentialExfiltration.OutsideAWS`. An EC2 instance's IAM role credentials are being used from an IP address outside AWS.</a:t>
            </a:r>
          </a:p>
          <a:p>
            <a:pPr>
              <a:defRPr sz="1600"/>
            </a:pPr>
            <a:r>
              <a:t>What steps would you take to investigate and remediate?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AWS Config and Security Hub</a:t>
            </a:r>
          </a:p>
        </p:txBody>
      </p:sp>
      <p:sp>
        <p:nvSpPr>
          <p:cNvPr id="3" name="Text Placeholder 2"/>
          <p:cNvSpPr>
            <a:spLocks noGrp="1"/>
          </p:cNvSpPr>
          <p:nvPr>
            <p:ph type="body" idx="1"/>
          </p:nvPr>
        </p:nvSpPr>
        <p:spPr/>
        <p:txBody>
          <a:bodyPr/>
          <a:lstStyle/>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457200" y="182880"/>
            <a:ext cx="8229600" cy="731520"/>
          </a:xfrm>
          <a:prstGeom prst="rect">
            <a:avLst/>
          </a:prstGeom>
          <a:noFill/>
        </p:spPr>
        <p:txBody>
          <a:bodyPr wrap="none">
            <a:spAutoFit/>
          </a:bodyPr>
          <a:lstStyle/>
          <a:p>
            <a:pPr>
              <a:defRPr sz="2800" b="1"/>
            </a:pPr>
            <a:r>
              <a:t>AWS Config: resource compliance</a:t>
            </a:r>
          </a:p>
        </p:txBody>
      </p:sp>
      <p:graphicFrame>
        <p:nvGraphicFramePr>
          <p:cNvPr id="4" name="Table 3"/>
          <p:cNvGraphicFramePr>
            <a:graphicFrameLocks noGrp="1"/>
          </p:cNvGraphicFramePr>
          <p:nvPr/>
        </p:nvGraphicFramePr>
        <p:xfrm>
          <a:off x="457200" y="1097280"/>
          <a:ext cx="8229600" cy="1828800"/>
        </p:xfrm>
        <a:graphic>
          <a:graphicData uri="http://schemas.openxmlformats.org/drawingml/2006/table">
            <a:tbl>
              <a:tblPr firstRow="1" bandRow="1">
                <a:tableStyleId>{5C22544A-7EE6-4342-B048-85BDC9FD1C3A}</a:tableStyleId>
              </a:tblPr>
              <a:tblGrid>
                <a:gridCol w="4114800"/>
                <a:gridCol w="4114800"/>
              </a:tblGrid>
              <a:tr h="365760">
                <a:tc>
                  <a:txBody>
                    <a:bodyPr/>
                    <a:lstStyle/>
                    <a:p>
                      <a:pPr>
                        <a:defRPr sz="1400" b="1">
                          <a:solidFill>
                            <a:srgbClr val="FFFFFF"/>
                          </a:solidFill>
                        </a:defRPr>
                      </a:pPr>
                      <a:r>
                        <a:t>Managed Rule</a:t>
                      </a:r>
                    </a:p>
                  </a:txBody>
                  <a:tcPr>
                    <a:solidFill>
                      <a:srgbClr val="232F3E"/>
                    </a:solidFill>
                  </a:tcPr>
                </a:tc>
                <a:tc>
                  <a:txBody>
                    <a:bodyPr/>
                    <a:lstStyle/>
                    <a:p>
                      <a:pPr>
                        <a:defRPr sz="1400" b="1">
                          <a:solidFill>
                            <a:srgbClr val="FFFFFF"/>
                          </a:solidFill>
                        </a:defRPr>
                      </a:pPr>
                      <a:r>
                        <a:t>What It Checks</a:t>
                      </a:r>
                    </a:p>
                  </a:txBody>
                  <a:tcPr>
                    <a:solidFill>
                      <a:srgbClr val="232F3E"/>
                    </a:solidFill>
                  </a:tcPr>
                </a:tc>
              </a:tr>
              <a:tr h="365760">
                <a:tc>
                  <a:txBody>
                    <a:bodyPr/>
                    <a:lstStyle/>
                    <a:p>
                      <a:pPr>
                        <a:defRPr sz="1200"/>
                      </a:pPr>
                      <a:r>
                        <a:t>`ec2-instance-no-public-ip`</a:t>
                      </a:r>
                    </a:p>
                  </a:txBody>
                  <a:tcPr>
                    <a:solidFill>
                      <a:srgbClr val="F2F3F4"/>
                    </a:solidFill>
                  </a:tcPr>
                </a:tc>
                <a:tc>
                  <a:txBody>
                    <a:bodyPr/>
                    <a:lstStyle/>
                    <a:p>
                      <a:pPr>
                        <a:defRPr sz="1200"/>
                      </a:pPr>
                      <a:r>
                        <a:t>EC2 instances lack public IPs</a:t>
                      </a:r>
                    </a:p>
                  </a:txBody>
                  <a:tcPr>
                    <a:solidFill>
                      <a:srgbClr val="F2F3F4"/>
                    </a:solidFill>
                  </a:tcPr>
                </a:tc>
              </a:tr>
              <a:tr h="365760">
                <a:tc>
                  <a:txBody>
                    <a:bodyPr/>
                    <a:lstStyle/>
                    <a:p>
                      <a:pPr>
                        <a:defRPr sz="1200"/>
                      </a:pPr>
                      <a:r>
                        <a:t>`iam-root-access-key-check`</a:t>
                      </a:r>
                    </a:p>
                  </a:txBody>
                  <a:tcPr/>
                </a:tc>
                <a:tc>
                  <a:txBody>
                    <a:bodyPr/>
                    <a:lstStyle/>
                    <a:p>
                      <a:pPr>
                        <a:defRPr sz="1200"/>
                      </a:pPr>
                      <a:r>
                        <a:t>Root account has no active keys</a:t>
                      </a:r>
                    </a:p>
                  </a:txBody>
                  <a:tcPr/>
                </a:tc>
              </a:tr>
              <a:tr h="365760">
                <a:tc>
                  <a:txBody>
                    <a:bodyPr/>
                    <a:lstStyle/>
                    <a:p>
                      <a:pPr>
                        <a:defRPr sz="1200"/>
                      </a:pPr>
                      <a:r>
                        <a:t>`rds-instance-public-access-check`</a:t>
                      </a:r>
                    </a:p>
                  </a:txBody>
                  <a:tcPr>
                    <a:solidFill>
                      <a:srgbClr val="F2F3F4"/>
                    </a:solidFill>
                  </a:tcPr>
                </a:tc>
                <a:tc>
                  <a:txBody>
                    <a:bodyPr/>
                    <a:lstStyle/>
                    <a:p>
                      <a:pPr>
                        <a:defRPr sz="1200"/>
                      </a:pPr>
                      <a:r>
                        <a:t>RDS is not publicly accessible</a:t>
                      </a:r>
                    </a:p>
                  </a:txBody>
                  <a:tcPr>
                    <a:solidFill>
                      <a:srgbClr val="F2F3F4"/>
                    </a:solidFill>
                  </a:tcPr>
                </a:tc>
              </a:tr>
              <a:tr h="365760">
                <a:tc>
                  <a:txBody>
                    <a:bodyPr/>
                    <a:lstStyle/>
                    <a:p>
                      <a:pPr>
                        <a:defRPr sz="1200"/>
                      </a:pPr>
                      <a:r>
                        <a:t>`cloudtrail-enabled`</a:t>
                      </a:r>
                    </a:p>
                  </a:txBody>
                  <a:tcPr/>
                </a:tc>
                <a:tc>
                  <a:txBody>
                    <a:bodyPr/>
                    <a:lstStyle/>
                    <a:p>
                      <a:pPr>
                        <a:defRPr sz="1200"/>
                      </a:pPr>
                      <a:r>
                        <a:t>CloudTrail is enabled</a:t>
                      </a:r>
                    </a:p>
                  </a:txBody>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AWS Config: resource compliance</a:t>
            </a:r>
          </a:p>
        </p:txBody>
      </p:sp>
      <p:sp>
        <p:nvSpPr>
          <p:cNvPr id="3" name="Content Placeholder 2"/>
          <p:cNvSpPr>
            <a:spLocks noGrp="1"/>
          </p:cNvSpPr>
          <p:nvPr>
            <p:ph idx="1"/>
          </p:nvPr>
        </p:nvSpPr>
        <p:spPr/>
        <p:txBody>
          <a:bodyPr/>
          <a:lstStyle/>
          <a:p>
            <a:pPr>
              <a:defRPr sz="1800"/>
            </a:pPr>
            <a:r>
              <a:t>Config records every configuration change for tracked resources</a:t>
            </a:r>
          </a:p>
          <a:p>
            <a:pPr>
              <a:defRPr sz="1800"/>
            </a:pPr>
            <a:r>
              <a:t>Supports automatic remediation via Systems Manager Automation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AWS Security Hub: centralized view</a:t>
            </a:r>
          </a:p>
        </p:txBody>
      </p:sp>
      <p:sp>
        <p:nvSpPr>
          <p:cNvPr id="3" name="Content Placeholder 2"/>
          <p:cNvSpPr>
            <a:spLocks noGrp="1"/>
          </p:cNvSpPr>
          <p:nvPr>
            <p:ph idx="1"/>
          </p:nvPr>
        </p:nvSpPr>
        <p:spPr/>
        <p:txBody>
          <a:bodyPr/>
          <a:lstStyle/>
          <a:p>
            <a:pPr>
              <a:defRPr sz="1800"/>
            </a:pPr>
            <a:r>
              <a:t>Aggregates findings from GuardDuty, Inspector, Config, and more</a:t>
            </a:r>
          </a:p>
          <a:p>
            <a:pPr>
              <a:defRPr sz="1800"/>
            </a:pPr>
            <a:r>
              <a:t>Normalizes findings into AWS Security Finding Format (ASFF)</a:t>
            </a:r>
          </a:p>
          <a:p>
            <a:pPr>
              <a:defRPr sz="1800"/>
            </a:pPr>
            <a:r>
              <a:t>Runs automated compliance checks against standards:</a:t>
            </a:r>
          </a:p>
          <a:p>
            <a:pPr>
              <a:defRPr sz="1600"/>
            </a:pPr>
            <a:r>
              <a:t>- AWS Foundational Security Best Practices</a:t>
            </a:r>
          </a:p>
          <a:p>
            <a:pPr>
              <a:defRPr sz="1600"/>
            </a:pPr>
            <a:r>
              <a:t>- CIS AWS Foundations Benchmark</a:t>
            </a:r>
          </a:p>
          <a:p>
            <a:pPr>
              <a:defRPr sz="1600"/>
            </a:pPr>
            <a:r>
              <a:t>- PCI DSS, NIST 800-53</a:t>
            </a:r>
          </a:p>
          <a:p>
            <a:pPr>
              <a:defRPr sz="1400" i="1">
                <a:solidFill>
                  <a:srgbClr val="555555"/>
                </a:solidFill>
              </a:defRPr>
            </a:pPr>
            <a:r>
              <a:t>Start with the AWS Foundational Security Best Practices standard as your baseline.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pPr>
              <a:defRPr sz="1800"/>
            </a:pPr>
            <a:r>
              <a:t>Defense in depth applies controls at every layer so no single failure compromises your environment</a:t>
            </a:r>
          </a:p>
          <a:p>
            <a:pPr>
              <a:defRPr sz="1800"/>
            </a:pPr>
            <a:r>
              <a:t>AWS KMS manages encryption centrally; use customer managed keys for full control, AWS managed keys for convenience</a:t>
            </a:r>
          </a:p>
          <a:p>
            <a:pPr>
              <a:defRPr sz="1800"/>
            </a:pPr>
            <a:r>
              <a:t>Store secrets in Secrets Manager (with rotation) or Parameter Store (for simpler config); never hardcode credentials</a:t>
            </a:r>
          </a:p>
          <a:p>
            <a:pPr>
              <a:defRPr sz="1800"/>
            </a:pPr>
            <a:r>
              <a:t>WAF, Shield, CloudTrail, GuardDuty, Config, and Security Hub work together to protect, detect, audit, and assess continuously</a:t>
            </a:r>
          </a:p>
          <a:p>
            <a:pPr>
              <a:defRPr sz="1800"/>
            </a:pPr>
            <a:r>
              <a:t>Enable CloudTrail and GuardDuty in all Regions; use Config rules to enforce compliance baselines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Lab preview: security services configuration</a:t>
            </a:r>
          </a:p>
        </p:txBody>
      </p:sp>
      <p:sp>
        <p:nvSpPr>
          <p:cNvPr id="3" name="Content Placeholder 2"/>
          <p:cNvSpPr>
            <a:spLocks noGrp="1"/>
          </p:cNvSpPr>
          <p:nvPr>
            <p:ph idx="1"/>
          </p:nvPr>
        </p:nvSpPr>
        <p:spPr/>
        <p:txBody>
          <a:bodyPr/>
          <a:lstStyle/>
          <a:p>
            <a:pPr>
              <a:defRPr sz="1600"/>
            </a:pPr>
            <a:r>
              <a:t>What you will do:</a:t>
            </a:r>
          </a:p>
          <a:p>
            <a:pPr>
              <a:defRPr sz="1800"/>
            </a:pPr>
            <a:r>
              <a:t>Create a KMS customer managed key and encrypt an S3 bucket</a:t>
            </a:r>
          </a:p>
          <a:p>
            <a:pPr>
              <a:defRPr sz="1800"/>
            </a:pPr>
            <a:r>
              <a:t>Store a database password in Secrets Manager</a:t>
            </a:r>
          </a:p>
          <a:p>
            <a:pPr>
              <a:defRPr sz="1800"/>
            </a:pPr>
            <a:r>
              <a:t>Create a CloudTrail trail delivering to S3 and CloudWatch Logs</a:t>
            </a:r>
          </a:p>
          <a:p>
            <a:pPr>
              <a:defRPr sz="1800"/>
            </a:pPr>
            <a:r>
              <a:t>Enable GuardDuty and review sample findings</a:t>
            </a:r>
          </a:p>
          <a:p>
            <a:pPr>
              <a:defRPr sz="1800"/>
            </a:pPr>
            <a:r>
              <a:t>Configure Config rules for encryption and public access checks</a:t>
            </a:r>
          </a:p>
          <a:p>
            <a:pPr>
              <a:defRPr sz="1600"/>
            </a:pPr>
            <a:r>
              <a:t>Duration: 60 minutes</a:t>
            </a:r>
          </a:p>
          <a:p>
            <a:pPr>
              <a:defRPr sz="1600"/>
            </a:pPr>
            <a:r>
              <a:t>Key services: KMS, Secrets Manager, CloudTrail, GuardDuty, Config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a:t>
            </a:r>
          </a:p>
        </p:txBody>
      </p:sp>
      <p:sp>
        <p:nvSpPr>
          <p:cNvPr id="3" name="Content Placeholder 2"/>
          <p:cNvSpPr>
            <a:spLocks noGrp="1"/>
          </p:cNvSpPr>
          <p:nvPr>
            <p:ph idx="1"/>
          </p:nvPr>
        </p:nvSpPr>
        <p:spPr/>
        <p:txBody>
          <a:bodyPr/>
          <a:lstStyle/>
          <a:p>
            <a:pPr>
              <a:defRPr sz="1600"/>
            </a:pPr>
            <a:r>
              <a:t>Review `modules/13-security-in-depth/resources.md` for further reading.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