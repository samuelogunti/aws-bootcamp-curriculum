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Welcome to Module 07. This module covers Elastic Load Balancing and Route 53. Breakdown: 10 min ELB overview, 10 min ALB vs NLB vs GLB, 15 min ALB deep dive (listeners, rules, target groups), 10 min health checks, 10 min SSL/TLS, 15 min Route 53 (records, routing policies), 10 min Route 53 health checks, 10 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Connect to Module 04's Auto Scaling concepts. Draw a VPC with two AZs, EC2 instances, and an ALB in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Walk through the comparison table and ask students to match scenarios to load balancer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Answer: ALB. It operates at Layer 7 and supports path-based routing, which is needed to route /api/* and /images/* to different target groups. ALB also supports WebSocket connections natively. NLB operates at Layer 4 and cannot inspect HTTP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15 minutes. Cover listeners, rules, path-based and host-based routing. Use the receptionist analogy.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Cover target types and health check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Answer: HTTP 503 (Service Unavailable). The load balancer has no healthy targets to route to. This is why health checks are critical: they prevent the load balancer from sending traffic to broken instances, but if everything is broken, clients get a 503. Monitoring the HealthyHostCount metric in CloudWatch helps detect this situation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Cover ACM certificates and HTTPS listener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15 minutes. Draw the DNS resolution flow on the whiteboard.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Walk through each policy with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Answer: Latency-based routing. It routes users to the Region with the lowest network latency, which typically corresponds to the nearest Region. Geolocation routing is also a valid answer if they want strict geographic boundaries (e.g., all European users go to eu-west-1 regardless of latency). The key difference: latency-based optimizes for performance, geolocation optimizes for geographic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Cover the three types and how they enable DNS failover.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Students will create a VPC with two public subnets, launch two EC2 instances with different web pages, create a target group and ALB, and observe load balancing and health check behavior. The Route 53 section is optional for students who have a registered domain. Remind students to delete the ALB and instances after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Take 5-10 minutes for questions. Common questions involve ALB vs NLB selection and the difference between ELB and Route 53 health checks. Transition to the lab when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07: Load Balancing and DNS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Phase 2: Core Services</a:t>
            </a:r>
          </a:p>
          <a:p>
            <a:pPr>
              <a:defRPr sz="1600"/>
            </a:pPr>
            <a:r>
              <a:t>Estimated lecture time: 90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By the end of this module, you will be able to:</a:t>
            </a:r>
          </a:p>
          <a:p>
            <a:pPr>
              <a:defRPr sz="1800"/>
            </a:pPr>
            <a:r>
              <a:t>Demonstrate how ELB distributes traffic for high availability and fault tolerance</a:t>
            </a:r>
          </a:p>
          <a:p>
            <a:pPr>
              <a:defRPr sz="1800"/>
            </a:pPr>
            <a:r>
              <a:t>Configure an ALB with listeners, rules, and target groups</a:t>
            </a:r>
          </a:p>
          <a:p>
            <a:pPr>
              <a:defRPr sz="1800"/>
            </a:pPr>
            <a:r>
              <a:t>Implement health checks for load balancer target groups</a:t>
            </a:r>
          </a:p>
          <a:p>
            <a:pPr>
              <a:defRPr sz="1800"/>
            </a:pPr>
            <a:r>
              <a:t>Use SSL/TLS termination on an ALB with ACM certificates</a:t>
            </a:r>
          </a:p>
          <a:p>
            <a:pPr>
              <a:defRPr sz="1800"/>
            </a:pPr>
            <a:r>
              <a:t>Deploy an NLB for TCP/UDP workloads requiring low latency</a:t>
            </a:r>
          </a:p>
          <a:p>
            <a:pPr>
              <a:defRPr sz="1800"/>
            </a:pPr>
            <a:r>
              <a:t>Set up Route 53 hosted zones and DNS records</a:t>
            </a:r>
          </a:p>
          <a:p>
            <a:pPr>
              <a:defRPr sz="1800"/>
            </a:pPr>
            <a:r>
              <a:t>Configure Route 53 routing policies for traffic management</a:t>
            </a:r>
          </a:p>
          <a:p>
            <a:pPr>
              <a:defRPr sz="1800"/>
            </a:pPr>
            <a:r>
              <a:t>Implement Route 53 health checks for DNS failover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Prerequisites and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Prerequisites: Module 03 (VPC, subnets, security groups, AZs), Module 04 (EC2 instances, Auto Scaling)</a:t>
            </a:r>
          </a:p>
          <a:p>
            <a:pPr>
              <a:defRPr sz="1600"/>
            </a:pPr>
            <a:r>
              <a:t>Agenda:</a:t>
            </a:r>
          </a:p>
          <a:p>
            <a:pPr>
              <a:defRPr sz="1800"/>
            </a:pPr>
            <a:r>
              <a:t>Elastic Load Balancing overview</a:t>
            </a:r>
          </a:p>
          <a:p>
            <a:pPr>
              <a:defRPr sz="1800"/>
            </a:pPr>
            <a:r>
              <a:t>ALB vs. NLB vs. GLB</a:t>
            </a:r>
          </a:p>
          <a:p>
            <a:pPr>
              <a:defRPr sz="1800"/>
            </a:pPr>
            <a:r>
              <a:t>Application Load Balancer deep dive</a:t>
            </a:r>
          </a:p>
          <a:p>
            <a:pPr>
              <a:defRPr sz="1800"/>
            </a:pPr>
            <a:r>
              <a:t>Target groups and health checks</a:t>
            </a:r>
          </a:p>
          <a:p>
            <a:pPr>
              <a:defRPr sz="1800"/>
            </a:pPr>
            <a:r>
              <a:t>SSL/TLS termination</a:t>
            </a:r>
          </a:p>
          <a:p>
            <a:pPr>
              <a:defRPr sz="1800"/>
            </a:pPr>
            <a:r>
              <a:t>Route 53 overview and record types</a:t>
            </a:r>
          </a:p>
          <a:p>
            <a:pPr>
              <a:defRPr sz="1800"/>
            </a:pPr>
            <a:r>
              <a:t>Routing policies</a:t>
            </a:r>
          </a:p>
          <a:p>
            <a:pPr>
              <a:defRPr sz="1800"/>
            </a:pPr>
            <a:r>
              <a:t>Route 53 health checks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Elastic Load Balancing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use a load balancer?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Distributes traffic across multiple targets and AZs</a:t>
            </a:r>
          </a:p>
          <a:p>
            <a:pPr>
              <a:defRPr sz="1800"/>
            </a:pPr>
            <a:r>
              <a:t>Routes traffic only to healthy targets (automatic failover)</a:t>
            </a:r>
          </a:p>
          <a:p>
            <a:pPr>
              <a:defRPr sz="1800"/>
            </a:pPr>
            <a:r>
              <a:t>Scales its own capacity automatically</a:t>
            </a:r>
          </a:p>
          <a:p>
            <a:pPr>
              <a:defRPr sz="1800"/>
            </a:pPr>
            <a:r>
              <a:t>Integrates with Auto Scaling (Module 04)</a:t>
            </a:r>
          </a:p>
          <a:p>
            <a:pPr>
              <a:defRPr sz="1800"/>
            </a:pPr>
            <a:r>
              <a:t>Supports SSL/TLS termination and security groups (Module 03)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ALB vs. NLB vs. GLB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Load balancer types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ALB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NLB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GLB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Protocols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HTTP, HTTPS, gRPC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TCP, UDP, TLS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IP (all traffic)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Path, host, header-based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Port-based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Transparent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Static IP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 (one per AZ)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Use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Web apps, APIs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Gaming, IoT, trading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Firewalls, IDS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Load balancer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For most web applications, start with an ALB. Use NLB for TCP/UDP or when you need static IPs.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Discussion: choosing a load balancer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Your application needs to handle WebSocket connections and route requests to different backend services based on the URL path (`/api/*` vs. `/images/*`).</a:t>
            </a:r>
          </a:p>
          <a:p>
            <a:pPr>
              <a:defRPr sz="1600"/>
            </a:pPr>
            <a:r>
              <a:t>Which load balancer type would you choose?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Load Balancer deep dive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ALB components: listeners and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Listener: checks for connections on a protocol and port (HTTP:80, HTTPS:443)</a:t>
            </a:r>
          </a:p>
          <a:p>
            <a:pPr>
              <a:defRPr sz="1800"/>
            </a:pPr>
            <a:r>
              <a:t>Rules: determine how requests are routed to target groups</a:t>
            </a:r>
          </a:p>
          <a:p>
            <a:pPr>
              <a:defRPr sz="1800"/>
            </a:pPr>
            <a:r>
              <a:t>Rules have a priority, conditions, and actions</a:t>
            </a:r>
          </a:p>
          <a:p>
            <a:pPr>
              <a:defRPr sz="1800"/>
            </a:pPr>
            <a:r>
              <a:t>Every listener has a default rule for unmatched requests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Path-based and host-based routing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ALB Listener (port 443)</a:t>
            </a:r>
            <a:br/>
            <a:r>
              <a:t>├── Rule 1: Path = /api/*    --&gt; Target Group A</a:t>
            </a:r>
            <a:br/>
            <a:r>
              <a:t>├── Rule 2: Path = /images/* --&gt; Target Group B</a:t>
            </a:r>
            <a:br/>
            <a:r>
              <a:t>└── Default Rule             --&gt; Target Group 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groups and health checks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Target types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Target Type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IP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Specific IP addresses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Containers, on-premises servers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Lambda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Lambda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Serverless backends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Health check parameters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Default (ALB)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Interval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 seconds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Time between checks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Healthy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Consecutive successes to mark healthy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Unhealthy threshold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Consecutive failures to mark unhealthy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Timeout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 seconds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Wait time for response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Health check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Create a dedicated `/health` endpoint that verifies your app can reach its dependencies.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check: health check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All targets in a target group fail their health checks.</a:t>
            </a:r>
          </a:p>
          <a:p>
            <a:pPr>
              <a:defRPr sz="1600"/>
            </a:pPr>
            <a:r>
              <a:t>What does the load balancer return to clients?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SSL/TLS termination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SSL/TLS termination with ACM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ALB handles encryption/decryption on behalf of backend targets</a:t>
            </a:r>
          </a:p>
          <a:p>
            <a:pPr>
              <a:defRPr sz="1800"/>
            </a:pPr>
            <a:r>
              <a:t>AWS Certificate Manager (ACM) provides free public certificates</a:t>
            </a:r>
          </a:p>
          <a:p>
            <a:pPr>
              <a:defRPr sz="1800"/>
            </a:pPr>
            <a:r>
              <a:t>ACM handles provisioning, renewal, and deployment automatically</a:t>
            </a:r>
          </a:p>
          <a:p>
            <a:pPr>
              <a:defRPr sz="1600"/>
            </a:pPr>
            <a:r>
              <a:t>Setup steps:</a:t>
            </a:r>
          </a:p>
          <a:p>
            <a:pPr>
              <a:defRPr sz="1800"/>
            </a:pPr>
            <a:r>
              <a:t>Request a certificate in ACM for your domain</a:t>
            </a:r>
          </a:p>
          <a:p>
            <a:pPr>
              <a:defRPr sz="1800"/>
            </a:pPr>
            <a:r>
              <a:t>Validate domain ownership (DNS or email)</a:t>
            </a:r>
          </a:p>
          <a:p>
            <a:pPr>
              <a:defRPr sz="1800"/>
            </a:pPr>
            <a:r>
              <a:t>Create an HTTPS listener on the ALB with the ACM certificate</a:t>
            </a:r>
          </a:p>
          <a:p>
            <a:pPr>
              <a:defRPr sz="1800"/>
            </a:pPr>
            <a:r>
              <a:t>Optionally redirect HTTP to HTTPS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Connection draining (deregistration delay)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Allows in-flight requests to complete before removing a target</a:t>
            </a:r>
          </a:p>
          <a:p>
            <a:pPr>
              <a:defRPr sz="1800"/>
            </a:pPr>
            <a:r>
              <a:t>Default: 300 seconds (configurable 0 to 3600 seconds)</a:t>
            </a:r>
          </a:p>
          <a:p>
            <a:pPr>
              <a:defRPr sz="1800"/>
            </a:pPr>
            <a:r>
              <a:t>During the delay, no new requests are sent to the target</a:t>
            </a:r>
          </a:p>
          <a:p>
            <a:pPr>
              <a:defRPr sz="1800"/>
            </a:pPr>
            <a:r>
              <a:t>Set shorter delays for stateless apps, longer for long-lived connections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 53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Route 53?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Three main functions:</a:t>
            </a:r>
          </a:p>
          <a:p>
            <a:pPr>
              <a:defRPr sz="1800"/>
            </a:pPr>
            <a:r>
              <a:t>Domain registration: register new domain names</a:t>
            </a:r>
          </a:p>
          <a:p>
            <a:pPr>
              <a:defRPr sz="1800"/>
            </a:pPr>
            <a:r>
              <a:t>DNS routing: translate domain names to IP addresses</a:t>
            </a:r>
          </a:p>
          <a:p>
            <a:pPr>
              <a:defRPr sz="1800"/>
            </a:pPr>
            <a:r>
              <a:t>Health checking: monitor resource health for failover</a:t>
            </a:r>
          </a:p>
          <a:p>
            <a:pPr>
              <a:defRPr sz="1600"/>
            </a:pPr>
            <a:r>
              <a:t>Hosted zones contain DNS records for a domain:</a:t>
            </a:r>
          </a:p>
          <a:p>
            <a:pPr>
              <a:defRPr sz="1800"/>
            </a:pPr>
            <a:r>
              <a:t>Public hosted zone: routes traffic on the internet</a:t>
            </a:r>
          </a:p>
          <a:p>
            <a:pPr>
              <a:defRPr sz="1800"/>
            </a:pPr>
            <a:r>
              <a:t>Private hosted zone: routes traffic within VPCs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Record types and Alias records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Record Type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AAAA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Domain to IPv6 address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`2001:0db8::7334`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Domain to another 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`app.example.com`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Alias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Domain to AWS resource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ALB DNS name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Record types and Alias records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Always use Alias records when pointing to AWS resources (ALB, CloudFront, S3).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Routing policies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Route 53 routing policies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Policy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How It Works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Weighted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Distributes by assigned weights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A/B testing, gradual deployments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Latency-based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Routes to lowest-latency 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Multi-Region performance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Failover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Primary with health check; secondary backup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Disaster recovery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Geolocation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Routes by user's geographic 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Content localization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Multivalue answer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Returns up to 8 healthy records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Simple load balancing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Think about it: routing policy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 company has users in North America and Europe. They deploy their application in us-east-1 and eu-west-1 and want each user group routed to the nearest Region.</a:t>
            </a:r>
          </a:p>
          <a:p>
            <a:pPr>
              <a:defRPr sz="1600"/>
            </a:pPr>
            <a:r>
              <a:t>Which routing policy should they use?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 53 health checks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Health check types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Primary (us-east-1) --&gt; Health check monitors ALB</a:t>
            </a:r>
            <a:br/>
            <a:r>
              <a:t>Secondary (us-west-2) --&gt; Activated when primary fails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ELB distributes traffic across targets and AZs for high availability. Use ALB for HTTP/HTTPS, NLB for TCP/UDP with low latency, GLB for network appliances.</a:t>
            </a:r>
          </a:p>
          <a:p>
            <a:pPr>
              <a:defRPr sz="1800"/>
            </a:pPr>
            <a:r>
              <a:t>Health checks are essential for both load balancers and DNS. ELB health checks remove unhealthy targets; Route 53 health checks enable DNS failover across Regions.</a:t>
            </a:r>
          </a:p>
          <a:p>
            <a:pPr>
              <a:defRPr sz="1800"/>
            </a:pPr>
            <a:r>
              <a:t>Route 53 Alias records are preferred for AWS resources: free queries, zone apex support, automatic IP tracking.</a:t>
            </a:r>
          </a:p>
          <a:p>
            <a:pPr>
              <a:defRPr sz="1800"/>
            </a:pPr>
            <a:r>
              <a:t>Route 53 routing policies control traffic distribution: weighted for gradual deployments, latency-based for multi-Region, failover for disaster recovery.</a:t>
            </a:r>
          </a:p>
          <a:p>
            <a:pPr>
              <a:defRPr sz="1800"/>
            </a:pPr>
            <a:r>
              <a:t>SSL/TLS termination at the ALB with ACM certificates simplifies certificate management and offloads encryption from backend targets.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preview: ALB and Route 53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Objective: Create an ALB with target groups, configure health checks, test load balancing across EC2 instances, and optionally set up Route 53 records</a:t>
            </a:r>
          </a:p>
          <a:p>
            <a:pPr>
              <a:defRPr sz="1600"/>
            </a:pPr>
            <a:r>
              <a:t>Key services: Elastic Load Balancing (ALB), EC2, VPC, Route 53</a:t>
            </a:r>
          </a:p>
          <a:p>
            <a:pPr>
              <a:defRPr sz="1600"/>
            </a:pPr>
            <a:r>
              <a:t>Duration: 60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Review `modules/07-load-balancing-and-dns/resources.md` for further reading.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