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20, the capstone. This session is a project kickoff, not a traditional lecture. Walk through requirements, deliverables, evaluation criteria, timeline, and project ideas. Encourage students to ask questions throughout. Total kickoff time: ~60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sets the stage. Emphasize that the capstone synthesizes knowledge from every module. The goal is a working application with proper infrastructure, not a commercial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Walk through each requirement. Emphasize that these are minimum requirements, not maximum scope.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Walk through each technical requirement. These are the production-readiness standards from Modules 11-16.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Walk through each deliverable. Share the evaluation rubric so students know exactly what is expected.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Walk through each idea briefly. Students can also propose their own with instructor approval.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Go around the room and have each student share their choice. This helps identify common interests for potential team formation (if teams are allowed). Encourage students to pick a project that is complex enough to demonstrate all technical requirements but not so ambitious that they cannot finish in three weeks.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Share this rubric at the start so students can prioritize their effort.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Emphasize the Week 1 architecture review. Catching design issues early prevents wasted implementation effort.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Walk through the guiding questions for each pillar. Students do not need perfection; they need to demonstrate critical self-evaluation.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a preview of what students will face during their capstone presentation. Expected approach: justify each choice against specific pillars. DynamoDB for key-value access patterns (performance efficiency), Lambda for variable traffic (cost optimization), multi-service architecture for independent scaling (reliability). A single EC2 instance is a single point of failure (reliability), requires OS patching (operational excellence), and cannot scale independently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A simple CRUD API with a web frontend. For example, a task list or bookmark manager. The application itself can be simple; the infrastructure around it (IaC, CI/CD, multi-AZ, monitoring, security, cost tagging) is what demonstrates mastery. Students who choose overly complex applications often run out of time on the infrastructure requirements. Encourage students to get the infrastructure right first, then add application features if time permits.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Remind students to set up an AWS Budget with a low threshold ($10-$20) and monitor daily. Most capstone projects can be built within $20-$50 if resources are managed carefully. Schedule office hours during Week 2 for implementation blockers. Common issues: IAM permission errors, VPC networking, CI/CD pipeline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10-15 minutes for questions. This is the most important Q&amp;A session because students need clarity on requirements before starting. Common questions: "Can I use a service not covered in the bootcamp?" (Yes, if you can explain why.) "Can I work in a team?" (Instructor's preference; if teams, each member owns a component.) "What if I exceed Free Tier?" (Set a budget alert, use smallest instances, clean up when not developing.)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20: Capstone Project</a:t>
            </a:r>
          </a:p>
        </p:txBody>
      </p:sp>
      <p:sp>
        <p:nvSpPr>
          <p:cNvPr id="3" name="Content Placeholder 2"/>
          <p:cNvSpPr>
            <a:spLocks noGrp="1"/>
          </p:cNvSpPr>
          <p:nvPr>
            <p:ph idx="1"/>
          </p:nvPr>
        </p:nvSpPr>
        <p:spPr/>
        <p:txBody>
          <a:bodyPr/>
          <a:lstStyle/>
          <a:p>
            <a:pPr>
              <a:defRPr sz="1600"/>
            </a:pPr>
            <a:r>
              <a:t>Phase 5: Architecting</a:t>
            </a:r>
          </a:p>
          <a:p>
            <a:pPr>
              <a:defRPr sz="1600"/>
            </a:pPr>
            <a:r>
              <a:t>Estimated project time: 3 weeks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Design a complete, production-ready AWS architecture for a real-world application</a:t>
            </a:r>
          </a:p>
          <a:p>
            <a:pPr>
              <a:defRPr sz="1800"/>
            </a:pPr>
            <a:r>
              <a:t>Architect infrastructure as code using CloudFormation, SAM, or CDK</a:t>
            </a:r>
          </a:p>
          <a:p>
            <a:pPr>
              <a:defRPr sz="1800"/>
            </a:pPr>
            <a:r>
              <a:t>Create a CI/CD pipeline automating build, test, and deployment</a:t>
            </a:r>
          </a:p>
          <a:p>
            <a:pPr>
              <a:defRPr sz="1800"/>
            </a:pPr>
            <a:r>
              <a:t>Defend architectural decisions against the six Well-Architected pillars</a:t>
            </a:r>
          </a:p>
          <a:p>
            <a:pPr>
              <a:defRPr sz="1800"/>
            </a:pPr>
            <a:r>
              <a:t>Propose a monitoring strategy covering the four golden signals</a:t>
            </a:r>
          </a:p>
          <a:p>
            <a:pPr>
              <a:defRPr sz="1800"/>
            </a:pPr>
            <a:r>
              <a:t>Critique your own architecture by identifying trade-offs and limitations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All modules 01 through 19</a:t>
            </a:r>
          </a:p>
          <a:p>
            <a:pPr>
              <a:defRPr sz="1600"/>
            </a:pPr>
            <a:r>
              <a:t>Agenda:</a:t>
            </a:r>
          </a:p>
          <a:p>
            <a:pPr>
              <a:defRPr sz="1800"/>
            </a:pPr>
            <a:r>
              <a:t>Project overview and goals</a:t>
            </a:r>
          </a:p>
          <a:p>
            <a:pPr>
              <a:defRPr sz="1800"/>
            </a:pPr>
            <a:r>
              <a:t>Functional requirements</a:t>
            </a:r>
          </a:p>
          <a:p>
            <a:pPr>
              <a:defRPr sz="1800"/>
            </a:pPr>
            <a:r>
              <a:t>Technical requirements</a:t>
            </a:r>
          </a:p>
          <a:p>
            <a:pPr>
              <a:defRPr sz="1800"/>
            </a:pPr>
            <a:r>
              <a:t>Deliverables</a:t>
            </a:r>
          </a:p>
          <a:p>
            <a:pPr>
              <a:defRPr sz="1800"/>
            </a:pPr>
            <a:r>
              <a:t>Suggested project ideas</a:t>
            </a:r>
          </a:p>
          <a:p>
            <a:pPr>
              <a:defRPr sz="1800"/>
            </a:pPr>
            <a:r>
              <a:t>Evaluation criteria</a:t>
            </a:r>
          </a:p>
          <a:p>
            <a:pPr>
              <a:defRPr sz="1800"/>
            </a:pPr>
            <a:r>
              <a:t>Three-week timeline</a:t>
            </a:r>
          </a:p>
          <a:p>
            <a:pPr>
              <a:defRPr sz="1800"/>
            </a:pPr>
            <a:r>
              <a:t>Well-Architected self-assessment guide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overview</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capstone demonstrates</a:t>
            </a:r>
          </a:p>
        </p:txBody>
      </p:sp>
      <p:sp>
        <p:nvSpPr>
          <p:cNvPr id="3" name="Content Placeholder 2"/>
          <p:cNvSpPr>
            <a:spLocks noGrp="1"/>
          </p:cNvSpPr>
          <p:nvPr>
            <p:ph idx="1"/>
          </p:nvPr>
        </p:nvSpPr>
        <p:spPr/>
        <p:txBody>
          <a:bodyPr/>
          <a:lstStyle/>
          <a:p>
            <a:pPr>
              <a:defRPr sz="1800"/>
            </a:pPr>
            <a:r>
              <a:t>You can design an architecture and justify service choices</a:t>
            </a:r>
          </a:p>
          <a:p>
            <a:pPr>
              <a:defRPr sz="1800"/>
            </a:pPr>
            <a:r>
              <a:t>You can implement IaC, CI/CD, monitoring, and security</a:t>
            </a:r>
          </a:p>
          <a:p>
            <a:pPr>
              <a:defRPr sz="1800"/>
            </a:pPr>
            <a:r>
              <a:t>You can evaluate your own work against the Well-Architected Framework</a:t>
            </a:r>
          </a:p>
          <a:p>
            <a:pPr>
              <a:defRPr sz="1800"/>
            </a:pPr>
            <a:r>
              <a:t>You can communicate and defend technical decisions</a:t>
            </a:r>
          </a:p>
          <a:p>
            <a:pPr>
              <a:defRPr sz="1400" i="1">
                <a:solidFill>
                  <a:srgbClr val="555555"/>
                </a:solidFill>
              </a:defRPr>
            </a:pPr>
            <a:r>
              <a:t>A well-designed URL shortener with proper infrastructure is better than a half-finished e-commerce platform.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Functional requirements</a:t>
            </a:r>
          </a:p>
        </p:txBody>
      </p:sp>
      <p:sp>
        <p:nvSpPr>
          <p:cNvPr id="3" name="Text Placeholder 2"/>
          <p:cNvSpPr>
            <a:spLocks noGrp="1"/>
          </p:cNvSpPr>
          <p:nvPr>
            <p:ph type="body"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functional requirements</a:t>
            </a:r>
          </a:p>
        </p:txBody>
      </p:sp>
      <p:sp>
        <p:nvSpPr>
          <p:cNvPr id="3" name="Content Placeholder 2"/>
          <p:cNvSpPr>
            <a:spLocks noGrp="1"/>
          </p:cNvSpPr>
          <p:nvPr>
            <p:ph idx="1"/>
          </p:nvPr>
        </p:nvSpPr>
        <p:spPr/>
        <p:txBody>
          <a:bodyPr/>
          <a:lstStyle/>
          <a:p>
            <a:pPr>
              <a:defRPr sz="1800"/>
            </a:pPr>
            <a:r>
              <a:t>User-facing interface: Web page, mobile app, or CLI that users interact with (S3 + CloudFront, or ECS/EC2)</a:t>
            </a:r>
          </a:p>
          <a:p>
            <a:pPr>
              <a:defRPr sz="1800"/>
            </a:pPr>
            <a:r>
              <a:t>Backend API: At least three endpoints for create, read, and update operations (API Gateway + Lambda, or ALB + ECS)</a:t>
            </a:r>
          </a:p>
          <a:p>
            <a:pPr>
              <a:defRPr sz="1800"/>
            </a:pPr>
            <a:r>
              <a:t>Data persistence: At least one database (RDS for relational, DynamoDB for key-value)</a:t>
            </a:r>
          </a:p>
          <a:p>
            <a:pPr>
              <a:defRPr sz="1800"/>
            </a:pPr>
            <a:r>
              <a:t>Asynchronous processing: At least one async workflow (SQS, SNS, or Step Functions)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requirements</a:t>
            </a:r>
          </a:p>
        </p:txBody>
      </p:sp>
      <p:sp>
        <p:nvSpPr>
          <p:cNvPr id="3" name="Text Placeholder 2"/>
          <p:cNvSpPr>
            <a:spLocks noGrp="1"/>
          </p:cNvSpPr>
          <p:nvPr>
            <p:ph type="body"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Infrastructure as Code</a:t>
            </a:r>
          </a:p>
        </p:txBody>
      </p:sp>
      <p:sp>
        <p:nvSpPr>
          <p:cNvPr id="3" name="Content Placeholder 2"/>
          <p:cNvSpPr>
            <a:spLocks noGrp="1"/>
          </p:cNvSpPr>
          <p:nvPr>
            <p:ph idx="1"/>
          </p:nvPr>
        </p:nvSpPr>
        <p:spPr/>
        <p:txBody>
          <a:bodyPr/>
          <a:lstStyle/>
          <a:p>
            <a:pPr>
              <a:defRPr sz="1800"/>
            </a:pPr>
            <a:r>
              <a:t>All resources defined in CloudFormation, SAM, or CDK</a:t>
            </a:r>
          </a:p>
          <a:p>
            <a:pPr>
              <a:defRPr sz="1800"/>
            </a:pPr>
            <a:r>
              <a:t>No resources created manually through the console</a:t>
            </a:r>
          </a:p>
          <a:p>
            <a:pPr>
              <a:defRPr sz="1800"/>
            </a:pPr>
            <a:r>
              <a:t>Templates stored in a Git repository</a:t>
            </a:r>
          </a:p>
          <a:p>
            <a:pPr>
              <a:defRPr sz="1800"/>
            </a:pPr>
            <a:r>
              <a:t>Instructor must be able to deploy from scratch using templates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CI/CD pipeline</a:t>
            </a:r>
          </a:p>
        </p:txBody>
      </p:sp>
      <p:sp>
        <p:nvSpPr>
          <p:cNvPr id="3" name="Content Placeholder 2"/>
          <p:cNvSpPr>
            <a:spLocks noGrp="1"/>
          </p:cNvSpPr>
          <p:nvPr>
            <p:ph idx="1"/>
          </p:nvPr>
        </p:nvSpPr>
        <p:spPr/>
        <p:txBody>
          <a:bodyPr/>
          <a:lstStyle/>
          <a:p>
            <a:pPr>
              <a:defRPr sz="1800"/>
            </a:pPr>
            <a:r>
              <a:t>Automated pipeline using CodePipeline, GitHub Actions, or equivalent</a:t>
            </a:r>
          </a:p>
          <a:p>
            <a:pPr>
              <a:defRPr sz="1800"/>
            </a:pPr>
            <a:r>
              <a:t>Must include: source stage, build/test stage, deploy stage</a:t>
            </a:r>
          </a:p>
          <a:p>
            <a:pPr>
              <a:defRPr sz="1800"/>
            </a:pPr>
            <a:r>
              <a:t>Application deploys when code is pushed to the main branch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Multi-AZ, monitoring, and security</a:t>
            </a:r>
          </a:p>
        </p:txBody>
      </p:sp>
      <p:sp>
        <p:nvSpPr>
          <p:cNvPr id="3" name="Content Placeholder 2"/>
          <p:cNvSpPr>
            <a:spLocks noGrp="1"/>
          </p:cNvSpPr>
          <p:nvPr>
            <p:ph idx="1"/>
          </p:nvPr>
        </p:nvSpPr>
        <p:spPr/>
        <p:txBody>
          <a:bodyPr/>
          <a:lstStyle/>
          <a:p>
            <a:pPr>
              <a:defRPr sz="1600"/>
            </a:pPr>
            <a:r>
              <a:t>Multi-AZ deployment:</a:t>
            </a:r>
          </a:p>
          <a:p>
            <a:pPr>
              <a:defRPr sz="1800"/>
            </a:pPr>
            <a:r>
              <a:t>At least two Availability Zones for high availability</a:t>
            </a:r>
          </a:p>
          <a:p>
            <a:pPr>
              <a:defRPr sz="1600"/>
            </a:pPr>
            <a:r>
              <a:t>Monitoring and observability:</a:t>
            </a:r>
          </a:p>
          <a:p>
            <a:pPr>
              <a:defRPr sz="1800"/>
            </a:pPr>
            <a:r>
              <a:t>CloudWatch dashboards with the four golden signals</a:t>
            </a:r>
          </a:p>
          <a:p>
            <a:pPr>
              <a:defRPr sz="1800"/>
            </a:pPr>
            <a:r>
              <a:t>Alarms on error rate and latency</a:t>
            </a:r>
          </a:p>
          <a:p>
            <a:pPr>
              <a:defRPr sz="1800"/>
            </a:pPr>
            <a:r>
              <a:t>Structured JSON logging to CloudWatch Logs</a:t>
            </a:r>
          </a:p>
          <a:p>
            <a:pPr>
              <a:defRPr sz="1800"/>
            </a:pPr>
            <a:r>
              <a:t>X-Ray tracing on at least one service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and cost awareness</a:t>
            </a:r>
          </a:p>
        </p:txBody>
      </p:sp>
      <p:sp>
        <p:nvSpPr>
          <p:cNvPr id="3" name="Content Placeholder 2"/>
          <p:cNvSpPr>
            <a:spLocks noGrp="1"/>
          </p:cNvSpPr>
          <p:nvPr>
            <p:ph idx="1"/>
          </p:nvPr>
        </p:nvSpPr>
        <p:spPr/>
        <p:txBody>
          <a:bodyPr/>
          <a:lstStyle/>
          <a:p>
            <a:pPr>
              <a:defRPr sz="1600"/>
            </a:pPr>
            <a:r>
              <a:t>Security best practices:</a:t>
            </a:r>
          </a:p>
          <a:p>
            <a:pPr>
              <a:defRPr sz="1800"/>
            </a:pPr>
            <a:r>
              <a:t>IAM roles with least-privilege policies</a:t>
            </a:r>
          </a:p>
          <a:p>
            <a:pPr>
              <a:defRPr sz="1800"/>
            </a:pPr>
            <a:r>
              <a:t>Encryption at rest using KMS</a:t>
            </a:r>
          </a:p>
          <a:p>
            <a:pPr>
              <a:defRPr sz="1800"/>
            </a:pPr>
            <a:r>
              <a:t>Secrets in Secrets Manager or Parameter Store</a:t>
            </a:r>
          </a:p>
          <a:p>
            <a:pPr>
              <a:defRPr sz="1800"/>
            </a:pPr>
            <a:r>
              <a:t>Security groups with no `0.0.0.0/0` on non-public ports</a:t>
            </a:r>
          </a:p>
          <a:p>
            <a:pPr>
              <a:defRPr sz="1600"/>
            </a:pPr>
            <a:r>
              <a:t>Cost-conscious design:</a:t>
            </a:r>
          </a:p>
          <a:p>
            <a:pPr>
              <a:defRPr sz="1800"/>
            </a:pPr>
            <a:r>
              <a:t>All resources tagged with `Project`, `Environment`, `Owner`</a:t>
            </a:r>
          </a:p>
          <a:p>
            <a:pPr>
              <a:defRPr sz="1800"/>
            </a:pPr>
            <a:r>
              <a:t>AWS Budget configured with alert thresholds</a:t>
            </a:r>
          </a:p>
          <a:p>
            <a:pPr>
              <a:defRPr sz="1800"/>
            </a:pPr>
            <a:r>
              <a:t>Cost estimate from the AWS Pricing Calculator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Deliverables</a:t>
            </a:r>
          </a:p>
        </p:txBody>
      </p:sp>
      <p:sp>
        <p:nvSpPr>
          <p:cNvPr id="3" name="Text Placeholder 2"/>
          <p:cNvSpPr>
            <a:spLocks noGrp="1"/>
          </p:cNvSpPr>
          <p:nvPr>
            <p:ph type="body"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Seven deliverables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Deliverable</a:t>
                      </a:r>
                    </a:p>
                  </a:txBody>
                  <a:tcPr>
                    <a:solidFill>
                      <a:srgbClr val="232F3E"/>
                    </a:solidFill>
                  </a:tcPr>
                </a:tc>
                <a:tc>
                  <a:txBody>
                    <a:bodyPr/>
                    <a:lstStyle/>
                    <a:p>
                      <a:pPr>
                        <a:defRPr sz="1400" b="1">
                          <a:solidFill>
                            <a:srgbClr val="FFFFFF"/>
                          </a:solidFill>
                        </a:defRPr>
                      </a:pPr>
                      <a:r>
                        <a:t>Description</a:t>
                      </a:r>
                    </a:p>
                  </a:txBody>
                  <a:tcPr>
                    <a:solidFill>
                      <a:srgbClr val="232F3E"/>
                    </a:solidFill>
                  </a:tcPr>
                </a:tc>
              </a:tr>
              <a:tr h="365760">
                <a:tc>
                  <a:txBody>
                    <a:bodyPr/>
                    <a:lstStyle/>
                    <a:p>
                      <a:pPr>
                        <a:defRPr sz="1200"/>
                      </a:pPr>
                      <a:r>
                        <a:t>Working application</a:t>
                      </a:r>
                    </a:p>
                  </a:txBody>
                  <a:tcPr>
                    <a:solidFill>
                      <a:srgbClr val="F2F3F4"/>
                    </a:solidFill>
                  </a:tcPr>
                </a:tc>
                <a:tc>
                  <a:txBody>
                    <a:bodyPr/>
                    <a:lstStyle/>
                    <a:p>
                      <a:pPr>
                        <a:defRPr sz="1200"/>
                      </a:pPr>
                      <a:r>
                        <a:t>Deployed and accessible; instructor can interact with it</a:t>
                      </a:r>
                    </a:p>
                  </a:txBody>
                  <a:tcPr>
                    <a:solidFill>
                      <a:srgbClr val="F2F3F4"/>
                    </a:solidFill>
                  </a:tcPr>
                </a:tc>
              </a:tr>
              <a:tr h="365760">
                <a:tc>
                  <a:txBody>
                    <a:bodyPr/>
                    <a:lstStyle/>
                    <a:p>
                      <a:pPr>
                        <a:defRPr sz="1200"/>
                      </a:pPr>
                      <a:r>
                        <a:t>IaC templates</a:t>
                      </a:r>
                    </a:p>
                  </a:txBody>
                  <a:tcPr/>
                </a:tc>
                <a:tc>
                  <a:txBody>
                    <a:bodyPr/>
                    <a:lstStyle/>
                    <a:p>
                      <a:pPr>
                        <a:defRPr sz="1200"/>
                      </a:pPr>
                      <a:r>
                        <a:t>All templates in Git; deployable from scratch</a:t>
                      </a:r>
                    </a:p>
                  </a:txBody>
                  <a:tcPr/>
                </a:tc>
              </a:tr>
              <a:tr h="365760">
                <a:tc>
                  <a:txBody>
                    <a:bodyPr/>
                    <a:lstStyle/>
                    <a:p>
                      <a:pPr>
                        <a:defRPr sz="1200"/>
                      </a:pPr>
                      <a:r>
                        <a:t>CI/CD pipeline</a:t>
                      </a:r>
                    </a:p>
                  </a:txBody>
                  <a:tcPr>
                    <a:solidFill>
                      <a:srgbClr val="F2F3F4"/>
                    </a:solidFill>
                  </a:tcPr>
                </a:tc>
                <a:tc>
                  <a:txBody>
                    <a:bodyPr/>
                    <a:lstStyle/>
                    <a:p>
                      <a:pPr>
                        <a:defRPr sz="1200"/>
                      </a:pPr>
                      <a:r>
                        <a:t>Working pipeline that deploys on push to main</a:t>
                      </a:r>
                    </a:p>
                  </a:txBody>
                  <a:tcPr>
                    <a:solidFill>
                      <a:srgbClr val="F2F3F4"/>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Seven deliverables (continued)</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Deliverable</a:t>
                      </a:r>
                    </a:p>
                  </a:txBody>
                  <a:tcPr>
                    <a:solidFill>
                      <a:srgbClr val="232F3E"/>
                    </a:solidFill>
                  </a:tcPr>
                </a:tc>
                <a:tc>
                  <a:txBody>
                    <a:bodyPr/>
                    <a:lstStyle/>
                    <a:p>
                      <a:pPr>
                        <a:defRPr sz="1400" b="1">
                          <a:solidFill>
                            <a:srgbClr val="FFFFFF"/>
                          </a:solidFill>
                        </a:defRPr>
                      </a:pPr>
                      <a:r>
                        <a:t>Description</a:t>
                      </a:r>
                    </a:p>
                  </a:txBody>
                  <a:tcPr>
                    <a:solidFill>
                      <a:srgbClr val="232F3E"/>
                    </a:solidFill>
                  </a:tcPr>
                </a:tc>
              </a:tr>
              <a:tr h="365760">
                <a:tc>
                  <a:txBody>
                    <a:bodyPr/>
                    <a:lstStyle/>
                    <a:p>
                      <a:pPr>
                        <a:defRPr sz="1200"/>
                      </a:pPr>
                      <a:r>
                        <a:t>Cost estimate</a:t>
                      </a:r>
                    </a:p>
                  </a:txBody>
                  <a:tcPr>
                    <a:solidFill>
                      <a:srgbClr val="F2F3F4"/>
                    </a:solidFill>
                  </a:tcPr>
                </a:tc>
                <a:tc>
                  <a:txBody>
                    <a:bodyPr/>
                    <a:lstStyle/>
                    <a:p>
                      <a:pPr>
                        <a:defRPr sz="1200"/>
                      </a:pPr>
                      <a:r>
                        <a:t>Monthly estimate from Pricing Calculator, by service</a:t>
                      </a:r>
                    </a:p>
                  </a:txBody>
                  <a:tcPr>
                    <a:solidFill>
                      <a:srgbClr val="F2F3F4"/>
                    </a:solidFill>
                  </a:tcPr>
                </a:tc>
              </a:tr>
              <a:tr h="365760">
                <a:tc>
                  <a:txBody>
                    <a:bodyPr/>
                    <a:lstStyle/>
                    <a:p>
                      <a:pPr>
                        <a:defRPr sz="1200"/>
                      </a:pPr>
                      <a:r>
                        <a:t>Presentation</a:t>
                      </a:r>
                    </a:p>
                  </a:txBody>
                  <a:tcPr/>
                </a:tc>
                <a:tc>
                  <a:txBody>
                    <a:bodyPr/>
                    <a:lstStyle/>
                    <a:p>
                      <a:pPr>
                        <a:defRPr sz="1200"/>
                      </a:pPr>
                      <a:r>
                        <a:t>15 minutes: problem, architecture, live demo, trade-offs, lessons</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Suggested project ideas</a:t>
            </a:r>
          </a:p>
        </p:txBody>
      </p:sp>
      <p:sp>
        <p:nvSpPr>
          <p:cNvPr id="3" name="Text Placeholder 2"/>
          <p:cNvSpPr>
            <a:spLocks noGrp="1"/>
          </p:cNvSpPr>
          <p:nvPr>
            <p:ph type="body"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 1: Event ticketing system</a:t>
            </a:r>
          </a:p>
        </p:txBody>
      </p:sp>
      <p:sp>
        <p:nvSpPr>
          <p:cNvPr id="3" name="Content Placeholder 2"/>
          <p:cNvSpPr>
            <a:spLocks noGrp="1"/>
          </p:cNvSpPr>
          <p:nvPr>
            <p:ph idx="1"/>
          </p:nvPr>
        </p:nvSpPr>
        <p:spPr/>
        <p:txBody>
          <a:bodyPr/>
          <a:lstStyle/>
          <a:p>
            <a:pPr>
              <a:defRPr sz="1600"/>
            </a:pPr>
            <a:r>
              <a:t>Users browse events, purchase tickets, receive email confirmations. Tracks inventory in real time, prevents overselling.</a:t>
            </a:r>
          </a:p>
          <a:p>
            <a:pPr>
              <a:defRPr sz="1600"/>
            </a:pPr>
            <a:r>
              <a:t>Key services: API Gateway, Lambda, DynamoDB, SQS, SNS, S3 + CloudFront, Step Functions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 2: URL shortener with analytics</a:t>
            </a:r>
          </a:p>
        </p:txBody>
      </p:sp>
      <p:sp>
        <p:nvSpPr>
          <p:cNvPr id="3" name="Content Placeholder 2"/>
          <p:cNvSpPr>
            <a:spLocks noGrp="1"/>
          </p:cNvSpPr>
          <p:nvPr>
            <p:ph idx="1"/>
          </p:nvPr>
        </p:nvSpPr>
        <p:spPr/>
        <p:txBody>
          <a:bodyPr/>
          <a:lstStyle/>
          <a:p>
            <a:pPr>
              <a:defRPr sz="1600"/>
            </a:pPr>
            <a:r>
              <a:t>Users create shortened URLs, share them, view click analytics (total clicks, by country, over time). Short URLs expire after a configurable period.</a:t>
            </a:r>
          </a:p>
          <a:p>
            <a:pPr>
              <a:defRPr sz="1600"/>
            </a:pPr>
            <a:r>
              <a:t>Key services: API Gateway, Lambda, DynamoDB (with TTL), CloudFront, S3, Athena, CloudWatch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 3: Image processing pipeline</a:t>
            </a:r>
          </a:p>
        </p:txBody>
      </p:sp>
      <p:sp>
        <p:nvSpPr>
          <p:cNvPr id="3" name="Content Placeholder 2"/>
          <p:cNvSpPr>
            <a:spLocks noGrp="1"/>
          </p:cNvSpPr>
          <p:nvPr>
            <p:ph idx="1"/>
          </p:nvPr>
        </p:nvSpPr>
        <p:spPr/>
        <p:txBody>
          <a:bodyPr/>
          <a:lstStyle/>
          <a:p>
            <a:pPr>
              <a:defRPr sz="1600"/>
            </a:pPr>
            <a:r>
              <a:t>Users upload images. System generates thumbnails, extracts metadata, stores processed images. Users browse and search their library.</a:t>
            </a:r>
          </a:p>
          <a:p>
            <a:pPr>
              <a:defRPr sz="1600"/>
            </a:pPr>
            <a:r>
              <a:t>Key services: S3, Lambda, SQS, DynamoDB, API Gateway, CloudFront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 4: Real-time chat application</a:t>
            </a:r>
          </a:p>
        </p:txBody>
      </p:sp>
      <p:sp>
        <p:nvSpPr>
          <p:cNvPr id="3" name="Content Placeholder 2"/>
          <p:cNvSpPr>
            <a:spLocks noGrp="1"/>
          </p:cNvSpPr>
          <p:nvPr>
            <p:ph idx="1"/>
          </p:nvPr>
        </p:nvSpPr>
        <p:spPr/>
        <p:txBody>
          <a:bodyPr/>
          <a:lstStyle/>
          <a:p>
            <a:pPr>
              <a:defRPr sz="1600"/>
            </a:pPr>
            <a:r>
              <a:t>Users create chat rooms, send messages, see messages in real time. Persists history and supports user presence (online/offline).</a:t>
            </a:r>
          </a:p>
          <a:p>
            <a:pPr>
              <a:defRPr sz="1600"/>
            </a:pPr>
            <a:r>
              <a:t>Key services: API Gateway WebSocket, Lambda, DynamoDB, SNS, S3 + CloudFront, CloudWatch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 5: IoT sensor dashboard</a:t>
            </a:r>
          </a:p>
        </p:txBody>
      </p:sp>
      <p:sp>
        <p:nvSpPr>
          <p:cNvPr id="3" name="Content Placeholder 2"/>
          <p:cNvSpPr>
            <a:spLocks noGrp="1"/>
          </p:cNvSpPr>
          <p:nvPr>
            <p:ph idx="1"/>
          </p:nvPr>
        </p:nvSpPr>
        <p:spPr/>
        <p:txBody>
          <a:bodyPr/>
          <a:lstStyle/>
          <a:p>
            <a:pPr>
              <a:defRPr sz="1600"/>
            </a:pPr>
            <a:r>
              <a:t>Simulated devices send sensor readings. System processes in near-real-time, stores for historical analysis, displays live dashboards.</a:t>
            </a:r>
          </a:p>
          <a:p>
            <a:pPr>
              <a:defRPr sz="1600"/>
            </a:pPr>
            <a:r>
              <a:t>Key services: API Gateway, Lambda, DynamoDB, S3 (Parquet), Athena, CloudWatch, SNS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which project idea?</a:t>
            </a:r>
          </a:p>
        </p:txBody>
      </p:sp>
      <p:sp>
        <p:nvSpPr>
          <p:cNvPr id="3" name="Content Placeholder 2"/>
          <p:cNvSpPr>
            <a:spLocks noGrp="1"/>
          </p:cNvSpPr>
          <p:nvPr>
            <p:ph idx="1"/>
          </p:nvPr>
        </p:nvSpPr>
        <p:spPr/>
        <p:txBody>
          <a:bodyPr/>
          <a:lstStyle/>
          <a:p>
            <a:pPr>
              <a:defRPr sz="1600"/>
            </a:pPr>
            <a:r>
              <a:t>Review the five project ideas (or propose your own). Consider: which idea exercises the most bootcamp skills? Which interests you most? Which is achievable in three weeks?</a:t>
            </a:r>
          </a:p>
          <a:p>
            <a:pPr>
              <a:defRPr sz="1600"/>
            </a:pPr>
            <a:r>
              <a:t>Share your top choice and one reason why.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criteria</a:t>
            </a:r>
          </a:p>
        </p:txBody>
      </p:sp>
      <p:sp>
        <p:nvSpPr>
          <p:cNvPr id="3" name="Text Placeholder 2"/>
          <p:cNvSpPr>
            <a:spLocks noGrp="1"/>
          </p:cNvSpPr>
          <p:nvPr>
            <p:ph type="body" idx="1"/>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How your project will be evaluated</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Criteria</a:t>
                      </a:r>
                    </a:p>
                  </a:txBody>
                  <a:tcPr>
                    <a:solidFill>
                      <a:srgbClr val="232F3E"/>
                    </a:solidFill>
                  </a:tcPr>
                </a:tc>
                <a:tc>
                  <a:txBody>
                    <a:bodyPr/>
                    <a:lstStyle/>
                    <a:p>
                      <a:pPr>
                        <a:defRPr sz="1400" b="1">
                          <a:solidFill>
                            <a:srgbClr val="FFFFFF"/>
                          </a:solidFill>
                        </a:defRPr>
                      </a:pPr>
                      <a:r>
                        <a:t>Weight</a:t>
                      </a:r>
                    </a:p>
                  </a:txBody>
                  <a:tcPr>
                    <a:solidFill>
                      <a:srgbClr val="232F3E"/>
                    </a:solidFill>
                  </a:tcPr>
                </a:tc>
                <a:tc>
                  <a:txBody>
                    <a:bodyPr/>
                    <a:lstStyle/>
                    <a:p>
                      <a:pPr>
                        <a:defRPr sz="1400" b="1">
                          <a:solidFill>
                            <a:srgbClr val="FFFFFF"/>
                          </a:solidFill>
                        </a:defRPr>
                      </a:pPr>
                      <a:r>
                        <a:t>What the Instructor Evaluates</a:t>
                      </a:r>
                    </a:p>
                  </a:txBody>
                  <a:tcPr>
                    <a:solidFill>
                      <a:srgbClr val="232F3E"/>
                    </a:solidFill>
                  </a:tcPr>
                </a:tc>
              </a:tr>
              <a:tr h="365760">
                <a:tc>
                  <a:txBody>
                    <a:bodyPr/>
                    <a:lstStyle/>
                    <a:p>
                      <a:pPr>
                        <a:defRPr sz="1200"/>
                      </a:pPr>
                      <a:r>
                        <a:t>Implementation quality</a:t>
                      </a:r>
                    </a:p>
                  </a:txBody>
                  <a:tcPr>
                    <a:solidFill>
                      <a:srgbClr val="F2F3F4"/>
                    </a:solidFill>
                  </a:tcPr>
                </a:tc>
                <a:tc>
                  <a:txBody>
                    <a:bodyPr/>
                    <a:lstStyle/>
                    <a:p>
                      <a:pPr>
                        <a:defRPr sz="1200"/>
                      </a:pPr>
                      <a:r>
                        <a:t>25%</a:t>
                      </a:r>
                    </a:p>
                  </a:txBody>
                  <a:tcPr>
                    <a:solidFill>
                      <a:srgbClr val="F2F3F4"/>
                    </a:solidFill>
                  </a:tcPr>
                </a:tc>
                <a:tc>
                  <a:txBody>
                    <a:bodyPr/>
                    <a:lstStyle/>
                    <a:p>
                      <a:pPr>
                        <a:defRPr sz="1200"/>
                      </a:pPr>
                      <a:r>
                        <a:t>Does it work? Requirements met? Code clean?</a:t>
                      </a:r>
                    </a:p>
                  </a:txBody>
                  <a:tcPr>
                    <a:solidFill>
                      <a:srgbClr val="F2F3F4"/>
                    </a:solidFill>
                  </a:tcPr>
                </a:tc>
              </a:tr>
              <a:tr h="365760">
                <a:tc>
                  <a:txBody>
                    <a:bodyPr/>
                    <a:lstStyle/>
                    <a:p>
                      <a:pPr>
                        <a:defRPr sz="1200"/>
                      </a:pPr>
                      <a:r>
                        <a:t>Security and best practices</a:t>
                      </a:r>
                    </a:p>
                  </a:txBody>
                  <a:tcPr/>
                </a:tc>
                <a:tc>
                  <a:txBody>
                    <a:bodyPr/>
                    <a:lstStyle/>
                    <a:p>
                      <a:pPr>
                        <a:defRPr sz="1200"/>
                      </a:pPr>
                      <a:r>
                        <a:t>20%</a:t>
                      </a:r>
                    </a:p>
                  </a:txBody>
                  <a:tcPr/>
                </a:tc>
                <a:tc>
                  <a:txBody>
                    <a:bodyPr/>
                    <a:lstStyle/>
                    <a:p>
                      <a:pPr>
                        <a:defRPr sz="1200"/>
                      </a:pPr>
                      <a:r>
                        <a:t>Least-privilege IAM? Encryption? Secrets managed?</a:t>
                      </a:r>
                    </a:p>
                  </a:txBody>
                  <a:tcPr/>
                </a:tc>
              </a:tr>
              <a:tr h="365760">
                <a:tc>
                  <a:txBody>
                    <a:bodyPr/>
                    <a:lstStyle/>
                    <a:p>
                      <a:pPr>
                        <a:defRPr sz="1200"/>
                      </a:pPr>
                      <a:r>
                        <a:t>Operational readiness</a:t>
                      </a:r>
                    </a:p>
                  </a:txBody>
                  <a:tcPr>
                    <a:solidFill>
                      <a:srgbClr val="F2F3F4"/>
                    </a:solidFill>
                  </a:tcPr>
                </a:tc>
                <a:tc>
                  <a:txBody>
                    <a:bodyPr/>
                    <a:lstStyle/>
                    <a:p>
                      <a:pPr>
                        <a:defRPr sz="1200"/>
                      </a:pPr>
                      <a:r>
                        <a:t>15%</a:t>
                      </a:r>
                    </a:p>
                  </a:txBody>
                  <a:tcPr>
                    <a:solidFill>
                      <a:srgbClr val="F2F3F4"/>
                    </a:solidFill>
                  </a:tcPr>
                </a:tc>
                <a:tc>
                  <a:txBody>
                    <a:bodyPr/>
                    <a:lstStyle/>
                    <a:p>
                      <a:pPr>
                        <a:defRPr sz="1200"/>
                      </a:pPr>
                      <a:r>
                        <a:t>Dashboards, alarms, logging? CI/CD functional? Redeployable from IaC?</a:t>
                      </a:r>
                    </a:p>
                  </a:txBody>
                  <a:tcPr>
                    <a:solidFill>
                      <a:srgbClr val="F2F3F4"/>
                    </a:solidFill>
                  </a:tcPr>
                </a:tc>
              </a:tr>
              <a:tr h="365760">
                <a:tc>
                  <a:txBody>
                    <a:bodyPr/>
                    <a:lstStyle/>
                    <a:p>
                      <a:pPr>
                        <a:defRPr sz="1200"/>
                      </a:pPr>
                      <a:r>
                        <a:t>Presentation</a:t>
                      </a:r>
                    </a:p>
                  </a:txBody>
                  <a:tcPr/>
                </a:tc>
                <a:tc>
                  <a:txBody>
                    <a:bodyPr/>
                    <a:lstStyle/>
                    <a:p>
                      <a:pPr>
                        <a:defRPr sz="1200"/>
                      </a:pPr>
                      <a:r>
                        <a:t>15%</a:t>
                      </a:r>
                    </a:p>
                  </a:txBody>
                  <a:tcPr/>
                </a:tc>
                <a:tc>
                  <a:txBody>
                    <a:bodyPr/>
                    <a:lstStyle/>
                    <a:p>
                      <a:pPr>
                        <a:defRPr sz="1200"/>
                      </a:pPr>
                      <a:r>
                        <a:t>Clear? Demo works? Can you explain and defend decisions?</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Three-week timeline</a:t>
            </a:r>
          </a:p>
        </p:txBody>
      </p:sp>
      <p:sp>
        <p:nvSpPr>
          <p:cNvPr id="3" name="Text Placeholder 2"/>
          <p:cNvSpPr>
            <a:spLocks noGrp="1"/>
          </p:cNvSpPr>
          <p:nvPr>
            <p:ph type="body" idx="1"/>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Week-by-week plan</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Week</a:t>
                      </a:r>
                    </a:p>
                  </a:txBody>
                  <a:tcPr>
                    <a:solidFill>
                      <a:srgbClr val="232F3E"/>
                    </a:solidFill>
                  </a:tcPr>
                </a:tc>
                <a:tc>
                  <a:txBody>
                    <a:bodyPr/>
                    <a:lstStyle/>
                    <a:p>
                      <a:pPr>
                        <a:defRPr sz="1400" b="1">
                          <a:solidFill>
                            <a:srgbClr val="FFFFFF"/>
                          </a:solidFill>
                        </a:defRPr>
                      </a:pPr>
                      <a:r>
                        <a:t>Activities</a:t>
                      </a:r>
                    </a:p>
                  </a:txBody>
                  <a:tcPr>
                    <a:solidFill>
                      <a:srgbClr val="232F3E"/>
                    </a:solidFill>
                  </a:tcPr>
                </a:tc>
              </a:tr>
              <a:tr h="365760">
                <a:tc>
                  <a:txBody>
                    <a:bodyPr/>
                    <a:lstStyle/>
                    <a:p>
                      <a:pPr>
                        <a:defRPr sz="1200"/>
                      </a:pPr>
                      <a:r>
                        <a:t>Week 2</a:t>
                      </a:r>
                    </a:p>
                  </a:txBody>
                  <a:tcPr>
                    <a:solidFill>
                      <a:srgbClr val="F2F3F4"/>
                    </a:solidFill>
                  </a:tcPr>
                </a:tc>
                <a:tc>
                  <a:txBody>
                    <a:bodyPr/>
                    <a:lstStyle/>
                    <a:p>
                      <a:pPr>
                        <a:defRPr sz="1200"/>
                      </a:pPr>
                      <a:r>
                        <a:t>Implement app code and remaining IaC. Set up CI/CD pipeline. Deploy application. Begin Well-Architected self-assessment.</a:t>
                      </a:r>
                    </a:p>
                  </a:txBody>
                  <a:tcPr>
                    <a:solidFill>
                      <a:srgbClr val="F2F3F4"/>
                    </a:solidFill>
                  </a:tcPr>
                </a:tc>
              </a:tr>
              <a:tr h="365760">
                <a:tc>
                  <a:txBody>
                    <a:bodyPr/>
                    <a:lstStyle/>
                    <a:p>
                      <a:pPr>
                        <a:defRPr sz="1200"/>
                      </a:pPr>
                      <a:r>
                        <a:t>Week 3</a:t>
                      </a:r>
                    </a:p>
                  </a:txBody>
                  <a:tcPr/>
                </a:tc>
                <a:tc>
                  <a:txBody>
                    <a:bodyPr/>
                    <a:lstStyle/>
                    <a:p>
                      <a:pPr>
                        <a:defRPr sz="1200"/>
                      </a:pPr>
                      <a:r>
                        <a:t>Add monitoring (dashboards, alarms, logging, tracing). Complete self-assessment. Create cost estimate. Polish and fix bugs. Prepare presentation.</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Week-by-week plan</a:t>
            </a:r>
          </a:p>
        </p:txBody>
      </p:sp>
      <p:sp>
        <p:nvSpPr>
          <p:cNvPr id="3" name="Content Placeholder 2"/>
          <p:cNvSpPr>
            <a:spLocks noGrp="1"/>
          </p:cNvSpPr>
          <p:nvPr>
            <p:ph idx="1"/>
          </p:nvPr>
        </p:nvSpPr>
        <p:spPr/>
        <p:txBody>
          <a:bodyPr/>
          <a:lstStyle/>
          <a:p>
            <a:pPr>
              <a:defRPr sz="1600"/>
            </a:pPr>
            <a:r>
              <a:t>Final day: Deliver 15-minute capstone presentation with live demo.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1 checkpoint: architecture review</a:t>
            </a:r>
          </a:p>
        </p:txBody>
      </p:sp>
      <p:sp>
        <p:nvSpPr>
          <p:cNvPr id="3" name="Content Placeholder 2"/>
          <p:cNvSpPr>
            <a:spLocks noGrp="1"/>
          </p:cNvSpPr>
          <p:nvPr>
            <p:ph idx="1"/>
          </p:nvPr>
        </p:nvSpPr>
        <p:spPr/>
        <p:txBody>
          <a:bodyPr/>
          <a:lstStyle/>
          <a:p>
            <a:pPr>
              <a:defRPr sz="1800"/>
            </a:pPr>
            <a:r>
              <a:t>This is the most important checkpoint</a:t>
            </a:r>
          </a:p>
          <a:p>
            <a:pPr>
              <a:defRPr sz="1800"/>
            </a:pPr>
            <a:r>
              <a:t>Submit your architecture diagram and IaC approach</a:t>
            </a:r>
          </a:p>
          <a:p>
            <a:pPr>
              <a:defRPr sz="1800"/>
            </a:pPr>
            <a:r>
              <a:t>Instructor reviews service choices and identifies design issues</a:t>
            </a:r>
          </a:p>
          <a:p>
            <a:pPr>
              <a:defRPr sz="1800"/>
            </a:pPr>
            <a:r>
              <a:t>Catching problems early prevents wasted implementation effort</a:t>
            </a:r>
          </a:p>
          <a:p>
            <a:pPr>
              <a:defRPr sz="1400" i="1">
                <a:solidFill>
                  <a:srgbClr val="555555"/>
                </a:solidFill>
              </a:defRPr>
            </a:pPr>
            <a:r>
              <a:t>Start with IaC templates and CI/CD before writing application code. This ensures infrastructure is repeatable from the start.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Well-Architected self-assessment</a:t>
            </a:r>
          </a:p>
        </p:txBody>
      </p:sp>
      <p:sp>
        <p:nvSpPr>
          <p:cNvPr id="3" name="Text Placeholder 2"/>
          <p:cNvSpPr>
            <a:spLocks noGrp="1"/>
          </p:cNvSpPr>
          <p:nvPr>
            <p:ph type="body" idx="1"/>
          </p:nvPr>
        </p:nvSpPr>
        <p:spPr/>
        <p:txBody>
          <a:bodyP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Self-assessment guide</a:t>
            </a:r>
          </a:p>
        </p:txBody>
      </p:sp>
      <p:graphicFrame>
        <p:nvGraphicFramePr>
          <p:cNvPr id="4" name="Table 3"/>
          <p:cNvGraphicFramePr>
            <a:graphicFrameLocks noGrp="1"/>
          </p:cNvGraphicFramePr>
          <p:nvPr/>
        </p:nvGraphicFramePr>
        <p:xfrm>
          <a:off x="457200" y="1097280"/>
          <a:ext cx="8229600" cy="219456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Pillar</a:t>
                      </a:r>
                    </a:p>
                  </a:txBody>
                  <a:tcPr>
                    <a:solidFill>
                      <a:srgbClr val="232F3E"/>
                    </a:solidFill>
                  </a:tcPr>
                </a:tc>
                <a:tc>
                  <a:txBody>
                    <a:bodyPr/>
                    <a:lstStyle/>
                    <a:p>
                      <a:pPr>
                        <a:defRPr sz="1400" b="1">
                          <a:solidFill>
                            <a:srgbClr val="FFFFFF"/>
                          </a:solidFill>
                        </a:defRPr>
                      </a:pPr>
                      <a:r>
                        <a:t>Guiding Questions</a:t>
                      </a:r>
                    </a:p>
                  </a:txBody>
                  <a:tcPr>
                    <a:solidFill>
                      <a:srgbClr val="232F3E"/>
                    </a:solidFill>
                  </a:tcPr>
                </a:tc>
              </a:tr>
              <a:tr h="365760">
                <a:tc>
                  <a:txBody>
                    <a:bodyPr/>
                    <a:lstStyle/>
                    <a:p>
                      <a:pPr>
                        <a:defRPr sz="1200"/>
                      </a:pPr>
                      <a:r>
                        <a:t>Security</a:t>
                      </a:r>
                    </a:p>
                  </a:txBody>
                  <a:tcPr>
                    <a:solidFill>
                      <a:srgbClr val="F2F3F4"/>
                    </a:solidFill>
                  </a:tcPr>
                </a:tc>
                <a:tc>
                  <a:txBody>
                    <a:bodyPr/>
                    <a:lstStyle/>
                    <a:p>
                      <a:pPr>
                        <a:defRPr sz="1200"/>
                      </a:pPr>
                      <a:r>
                        <a:t>Least-privilege IAM? Encryption at rest/transit? Secrets managed?</a:t>
                      </a:r>
                    </a:p>
                  </a:txBody>
                  <a:tcPr>
                    <a:solidFill>
                      <a:srgbClr val="F2F3F4"/>
                    </a:solidFill>
                  </a:tcPr>
                </a:tc>
              </a:tr>
              <a:tr h="365760">
                <a:tc>
                  <a:txBody>
                    <a:bodyPr/>
                    <a:lstStyle/>
                    <a:p>
                      <a:pPr>
                        <a:defRPr sz="1200"/>
                      </a:pPr>
                      <a:r>
                        <a:t>Reliability</a:t>
                      </a:r>
                    </a:p>
                  </a:txBody>
                  <a:tcPr/>
                </a:tc>
                <a:tc>
                  <a:txBody>
                    <a:bodyPr/>
                    <a:lstStyle/>
                    <a:p>
                      <a:pPr>
                        <a:defRPr sz="1200"/>
                      </a:pPr>
                      <a:r>
                        <a:t>Multi-AZ? How does it recover from failures? Backups?</a:t>
                      </a:r>
                    </a:p>
                  </a:txBody>
                  <a:tcPr/>
                </a:tc>
              </a:tr>
              <a:tr h="365760">
                <a:tc>
                  <a:txBody>
                    <a:bodyPr/>
                    <a:lstStyle/>
                    <a:p>
                      <a:pPr>
                        <a:defRPr sz="1200"/>
                      </a:pPr>
                      <a:r>
                        <a:t>Performance Efficiency</a:t>
                      </a:r>
                    </a:p>
                  </a:txBody>
                  <a:tcPr>
                    <a:solidFill>
                      <a:srgbClr val="F2F3F4"/>
                    </a:solidFill>
                  </a:tcPr>
                </a:tc>
                <a:tc>
                  <a:txBody>
                    <a:bodyPr/>
                    <a:lstStyle/>
                    <a:p>
                      <a:pPr>
                        <a:defRPr sz="1200"/>
                      </a:pPr>
                      <a:r>
                        <a:t>Right compute and database? Caching considered? How does it scale?</a:t>
                      </a:r>
                    </a:p>
                  </a:txBody>
                  <a:tcPr>
                    <a:solidFill>
                      <a:srgbClr val="F2F3F4"/>
                    </a:solidFill>
                  </a:tcPr>
                </a:tc>
              </a:tr>
              <a:tr h="365760">
                <a:tc>
                  <a:txBody>
                    <a:bodyPr/>
                    <a:lstStyle/>
                    <a:p>
                      <a:pPr>
                        <a:defRPr sz="1200"/>
                      </a:pPr>
                      <a:r>
                        <a:t>Cost Optimization</a:t>
                      </a:r>
                    </a:p>
                  </a:txBody>
                  <a:tcPr/>
                </a:tc>
                <a:tc>
                  <a:txBody>
                    <a:bodyPr/>
                    <a:lstStyle/>
                    <a:p>
                      <a:pPr>
                        <a:defRPr sz="1200"/>
                      </a:pPr>
                      <a:r>
                        <a:t>Resources tagged? Budget with alerts? Cost-effective service choices?</a:t>
                      </a:r>
                    </a:p>
                  </a:txBody>
                  <a:tcPr/>
                </a:tc>
              </a:tr>
              <a:tr h="365760">
                <a:tc>
                  <a:txBody>
                    <a:bodyPr/>
                    <a:lstStyle/>
                    <a:p>
                      <a:pPr>
                        <a:defRPr sz="1200"/>
                      </a:pPr>
                      <a:r>
                        <a:t>Sustainability</a:t>
                      </a:r>
                    </a:p>
                  </a:txBody>
                  <a:tcPr>
                    <a:solidFill>
                      <a:srgbClr val="F2F3F4"/>
                    </a:solidFill>
                  </a:tcPr>
                </a:tc>
                <a:tc>
                  <a:txBody>
                    <a:bodyPr/>
                    <a:lstStyle/>
                    <a:p>
                      <a:pPr>
                        <a:defRPr sz="1200"/>
                      </a:pPr>
                      <a:r>
                        <a:t>Resources right-sized? Using managed/serverless services?</a:t>
                      </a:r>
                    </a:p>
                  </a:txBody>
                  <a:tcPr>
                    <a:solidFill>
                      <a:srgbClr val="F2F3F4"/>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Self-assessment guide</a:t>
            </a:r>
          </a:p>
        </p:txBody>
      </p:sp>
      <p:sp>
        <p:nvSpPr>
          <p:cNvPr id="3" name="Content Placeholder 2"/>
          <p:cNvSpPr>
            <a:spLocks noGrp="1"/>
          </p:cNvSpPr>
          <p:nvPr>
            <p:ph idx="1"/>
          </p:nvPr>
        </p:nvSpPr>
        <p:spPr/>
        <p:txBody>
          <a:bodyPr/>
          <a:lstStyle/>
          <a:p>
            <a:pPr>
              <a:defRPr sz="1400" i="1">
                <a:solidFill>
                  <a:srgbClr val="555555"/>
                </a:solidFill>
              </a:defRPr>
            </a:pPr>
            <a:r>
              <a:t>Documenting a known limitation with a plan to address it is more valuable than claiming perfection.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 challenge: defending your architecture</a:t>
            </a:r>
          </a:p>
        </p:txBody>
      </p:sp>
      <p:sp>
        <p:nvSpPr>
          <p:cNvPr id="3" name="Content Placeholder 2"/>
          <p:cNvSpPr>
            <a:spLocks noGrp="1"/>
          </p:cNvSpPr>
          <p:nvPr>
            <p:ph idx="1"/>
          </p:nvPr>
        </p:nvSpPr>
        <p:spPr/>
        <p:txBody>
          <a:bodyPr/>
          <a:lstStyle/>
          <a:p>
            <a:pPr>
              <a:defRPr sz="1600"/>
            </a:pPr>
            <a:r>
              <a:t>After selecting your project idea, a colleague asks: "Why did you choose DynamoDB instead of RDS? Why Lambda instead of ECS? Why not just deploy everything on a single EC2 instance?"</a:t>
            </a:r>
          </a:p>
          <a:p>
            <a:pPr>
              <a:defRPr sz="1600"/>
            </a:pPr>
            <a:r>
              <a:t>How would you defend your service choices using the Well-Architected pillars?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scoping your capstone</a:t>
            </a:r>
          </a:p>
        </p:txBody>
      </p:sp>
      <p:sp>
        <p:nvSpPr>
          <p:cNvPr id="3" name="Content Placeholder 2"/>
          <p:cNvSpPr>
            <a:spLocks noGrp="1"/>
          </p:cNvSpPr>
          <p:nvPr>
            <p:ph idx="1"/>
          </p:nvPr>
        </p:nvSpPr>
        <p:spPr/>
        <p:txBody>
          <a:bodyPr/>
          <a:lstStyle/>
          <a:p>
            <a:pPr>
              <a:defRPr sz="1600"/>
            </a:pPr>
            <a:r>
              <a:t>A common mistake is choosing a project that is too ambitious. You have three weeks, and the technical requirements (IaC, CI/CD, monitoring, security) take significant time regardless of application complexity.</a:t>
            </a:r>
          </a:p>
          <a:p>
            <a:pPr>
              <a:defRPr sz="1600"/>
            </a:pPr>
            <a:r>
              <a:t>What is the minimum viable application that demonstrates all technical requirements?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Capstone kickoff</a:t>
            </a:r>
          </a:p>
        </p:txBody>
      </p:sp>
      <p:sp>
        <p:nvSpPr>
          <p:cNvPr id="3" name="Content Placeholder 2"/>
          <p:cNvSpPr>
            <a:spLocks noGrp="1"/>
          </p:cNvSpPr>
          <p:nvPr>
            <p:ph idx="1"/>
          </p:nvPr>
        </p:nvSpPr>
        <p:spPr/>
        <p:txBody>
          <a:bodyPr/>
          <a:lstStyle/>
          <a:p>
            <a:pPr>
              <a:defRPr sz="1600"/>
            </a:pPr>
            <a:r>
              <a:t>You are now ready to begin your capstone project.</a:t>
            </a:r>
          </a:p>
          <a:p>
            <a:pPr>
              <a:defRPr sz="1600"/>
            </a:pPr>
            <a:r>
              <a:t>Next steps:</a:t>
            </a:r>
          </a:p>
          <a:p>
            <a:pPr>
              <a:defRPr sz="1800"/>
            </a:pPr>
            <a:r>
              <a:t>Choose your project idea (or propose your own)</a:t>
            </a:r>
          </a:p>
          <a:p>
            <a:pPr>
              <a:defRPr sz="1800"/>
            </a:pPr>
            <a:r>
              <a:t>Start designing the architecture diagram</a:t>
            </a:r>
          </a:p>
          <a:p>
            <a:pPr>
              <a:defRPr sz="1800"/>
            </a:pPr>
            <a:r>
              <a:t>Set up your Git repository</a:t>
            </a:r>
          </a:p>
          <a:p>
            <a:pPr>
              <a:defRPr sz="1800"/>
            </a:pPr>
            <a:r>
              <a:t>Begin writing IaC templates for the networking layer</a:t>
            </a:r>
          </a:p>
          <a:p>
            <a:pPr>
              <a:defRPr sz="1800"/>
            </a:pPr>
            <a:r>
              <a:t>Submit your architecture for instructor review by end of Week 1</a:t>
            </a:r>
          </a:p>
          <a:p>
            <a:pPr>
              <a:defRPr sz="1600"/>
            </a:pPr>
            <a:r>
              <a:t>Remember: Clean up all resources after presentations to avoid charges.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`modules/20-capstone-project/resources.md`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