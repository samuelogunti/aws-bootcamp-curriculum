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Welcome to Module 17, the first module in Phase 5. This module synthesizes everything from Modules 01-16 into a structured evaluation framework. Start by asking students to describe the architecture they built in previous modules, then evaluate it against each pillar. Breakdown: 10 min framework overview, 10 min per pillar (60 min total), 10 min trade-offs, 10 min WA Tool, 5 min wrap-up.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Emphasize that the Framework is a conversation tool, not a compliance checklist. The value comes from the discussion it generates.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Connect to Module 11 (IaC) and Module 12 (CI/CD).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Connect to Module 02 (IAM) and Module 13 (Security in Depth).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Connect to Module 16 (Reliability and DR).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Emphasize "mechanical sympathy": use services the way they were designed.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Connect to Module 15 (Cost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5 minutes. Note that sustainability and cost optimization often align.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answer: Multi-AZ RDS. Database failure causes data loss and extended downtime, which is harder to recover from than slower performance. Performance can be improved later with caching (ElastiCache) or query optimization. Data loss from a single-AZ database failure may be unrecoverable. This illustrates the reliability vs. performance trade-off.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answer: Measure the actual latency impact of KMS encryption. For most services (S3, RDS, DynamoDB), the latency added by KMS is negligible (single-digit milliseconds). Use S3 Bucket Keys to reduce KMS API calls and cost. The security benefit far outweighs the minimal performance impact. If latency is measurable for high-throughput workloads, consider using AWS managed keys (slightly less control but same encryption strength with potentially better caching). Document the trade-off decision in an ADR.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If time permits, demo the tool in the console. Create a workload, answer a few questions, show the HRI/MRI output.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answers: Operational Excellence: no IaC or CI/CD (fix: CloudFormation + CodePipeline). Security: no mention of encryption or IAM review (fix: KMS encryption, least-privilege audit). Reliability: single AZ, no backups (fix: multi-AZ, enable RDS backups). Performance: no Auto Scaling (fix: ASG with target tracking). Cost: no tagging or budgets (fix: tagging strategy + budget alerts). Sustainability: no right-sizing data (fix: enable Compute Optimizer).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is an open-ended lab. Students evaluate the architecture they have built throughout the bootcamp. Deliverables include a review report, improvement plan, and milestone. Encourage students to be honest in their self-assessment; documenting a known gap with a plan is more valuable than claiming perfection.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Take 5-10 minutes for questions. Common questions: "Is this on the certification exam?" (Yes, heavily tested on SA Associate and Professional.) "Do I need to implement every best practice?" (No. Prioritize by risk and workload requirements. A dev environment does not need the same reliability as production.)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17: The AWS Well-Architected Framework</a:t>
            </a:r>
          </a:p>
        </p:txBody>
      </p:sp>
      <p:sp>
        <p:nvSpPr>
          <p:cNvPr id="3" name="Content Placeholder 2"/>
          <p:cNvSpPr>
            <a:spLocks noGrp="1"/>
          </p:cNvSpPr>
          <p:nvPr>
            <p:ph idx="1"/>
          </p:nvPr>
        </p:nvSpPr>
        <p:spPr/>
        <p:txBody>
          <a:bodyPr/>
          <a:lstStyle/>
          <a:p>
            <a:pPr>
              <a:defRPr sz="1600"/>
            </a:pPr>
            <a:r>
              <a:t>Phase 5: Architecting</a:t>
            </a:r>
          </a:p>
          <a:p>
            <a:pPr>
              <a:defRPr sz="1600"/>
            </a:pPr>
            <a:r>
              <a:t>Estimated lecture time: 90 to 105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a:defRPr sz="1600"/>
            </a:pPr>
            <a:r>
              <a:t>By the end of this module, you will be able to:</a:t>
            </a:r>
          </a:p>
          <a:p>
            <a:pPr>
              <a:defRPr sz="1800"/>
            </a:pPr>
            <a:r>
              <a:t>Critique an architecture against each of the six Well-Architected pillars</a:t>
            </a:r>
          </a:p>
          <a:p>
            <a:pPr>
              <a:defRPr sz="1800"/>
            </a:pPr>
            <a:r>
              <a:t>Design improvement plans prioritized by business impact and effort</a:t>
            </a:r>
          </a:p>
          <a:p>
            <a:pPr>
              <a:defRPr sz="1800"/>
            </a:pPr>
            <a:r>
              <a:t>Evaluate trade-offs between pillars and defend balanced decisions</a:t>
            </a:r>
          </a:p>
          <a:p>
            <a:pPr>
              <a:defRPr sz="1800"/>
            </a:pPr>
            <a:r>
              <a:t>Propose changes that satisfy multiple pillars simultaneously</a:t>
            </a:r>
          </a:p>
          <a:p>
            <a:pPr>
              <a:defRPr sz="1800"/>
            </a:pPr>
            <a:r>
              <a:t>Architect a Well-Architected review process for an organization</a:t>
            </a:r>
          </a:p>
          <a:p>
            <a:pPr>
              <a:defRPr sz="1800"/>
            </a:pPr>
            <a:r>
              <a:t>Critique the use of Well-Architected lenses for specialized workloads</a:t>
            </a:r>
          </a:p>
          <a:p>
            <a:pPr>
              <a:defRPr sz="1800"/>
            </a:pPr>
            <a:r>
              <a:t>Design a remediation roadmap sequenced by risk and dependencies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Prerequisites and agenda</a:t>
            </a:r>
          </a:p>
        </p:txBody>
      </p:sp>
      <p:sp>
        <p:nvSpPr>
          <p:cNvPr id="3" name="Content Placeholder 2"/>
          <p:cNvSpPr>
            <a:spLocks noGrp="1"/>
          </p:cNvSpPr>
          <p:nvPr>
            <p:ph idx="1"/>
          </p:nvPr>
        </p:nvSpPr>
        <p:spPr/>
        <p:txBody>
          <a:bodyPr/>
          <a:lstStyle/>
          <a:p>
            <a:pPr>
              <a:defRPr sz="1600"/>
            </a:pPr>
            <a:r>
              <a:t>Prerequisites: All modules from Phase 1 through Phase 4 (Modules 01-16)</a:t>
            </a:r>
          </a:p>
          <a:p>
            <a:pPr>
              <a:defRPr sz="1600"/>
            </a:pPr>
            <a:r>
              <a:t>Agenda:</a:t>
            </a:r>
          </a:p>
          <a:p>
            <a:pPr>
              <a:defRPr sz="1800"/>
            </a:pPr>
            <a:r>
              <a:t>What is the Well-Architected Framework?</a:t>
            </a:r>
          </a:p>
          <a:p>
            <a:pPr>
              <a:defRPr sz="1800"/>
            </a:pPr>
            <a:r>
              <a:t>Pillar 1: Operational Excellence</a:t>
            </a:r>
          </a:p>
          <a:p>
            <a:pPr>
              <a:defRPr sz="1800"/>
            </a:pPr>
            <a:r>
              <a:t>Pillar 2: Security</a:t>
            </a:r>
          </a:p>
          <a:p>
            <a:pPr>
              <a:defRPr sz="1800"/>
            </a:pPr>
            <a:r>
              <a:t>Pillar 3: Reliability</a:t>
            </a:r>
          </a:p>
          <a:p>
            <a:pPr>
              <a:defRPr sz="1800"/>
            </a:pPr>
            <a:r>
              <a:t>Pillar 4: Performance Efficiency</a:t>
            </a:r>
          </a:p>
          <a:p>
            <a:pPr>
              <a:defRPr sz="1800"/>
            </a:pPr>
            <a:r>
              <a:t>Pillar 5: Cost Optimization</a:t>
            </a:r>
          </a:p>
          <a:p>
            <a:pPr>
              <a:defRPr sz="1800"/>
            </a:pPr>
            <a:r>
              <a:t>Pillar 6: Sustainability</a:t>
            </a:r>
          </a:p>
          <a:p>
            <a:pPr>
              <a:defRPr sz="1800"/>
            </a:pPr>
            <a:r>
              <a:t>Trade-offs between pillars</a:t>
            </a:r>
          </a:p>
          <a:p>
            <a:pPr>
              <a:defRPr sz="1800"/>
            </a:pPr>
            <a:r>
              <a:t>The AWS Well-Architected Tool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the Well-Architected Framework?</a:t>
            </a:r>
          </a:p>
        </p:txBody>
      </p:sp>
      <p:sp>
        <p:nvSpPr>
          <p:cNvPr id="3" name="Text Placeholder 2"/>
          <p:cNvSpPr>
            <a:spLocks noGrp="1"/>
          </p:cNvSpPr>
          <p:nvPr>
            <p:ph type="body"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Six pillars of the Framework</a:t>
            </a:r>
          </a:p>
        </p:txBody>
      </p:sp>
      <p:graphicFrame>
        <p:nvGraphicFramePr>
          <p:cNvPr id="4" name="Table 3"/>
          <p:cNvGraphicFramePr>
            <a:graphicFrameLocks noGrp="1"/>
          </p:cNvGraphicFramePr>
          <p:nvPr/>
        </p:nvGraphicFramePr>
        <p:xfrm>
          <a:off x="457200" y="1097280"/>
          <a:ext cx="8229600" cy="219456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Pillar</a:t>
                      </a:r>
                    </a:p>
                  </a:txBody>
                  <a:tcPr>
                    <a:solidFill>
                      <a:srgbClr val="232F3E"/>
                    </a:solidFill>
                  </a:tcPr>
                </a:tc>
                <a:tc>
                  <a:txBody>
                    <a:bodyPr/>
                    <a:lstStyle/>
                    <a:p>
                      <a:pPr>
                        <a:defRPr sz="1400" b="1">
                          <a:solidFill>
                            <a:srgbClr val="FFFFFF"/>
                          </a:solidFill>
                        </a:defRPr>
                      </a:pPr>
                      <a:r>
                        <a:t>Focus</a:t>
                      </a:r>
                    </a:p>
                  </a:txBody>
                  <a:tcPr>
                    <a:solidFill>
                      <a:srgbClr val="232F3E"/>
                    </a:solidFill>
                  </a:tcPr>
                </a:tc>
                <a:tc>
                  <a:txBody>
                    <a:bodyPr/>
                    <a:lstStyle/>
                    <a:p>
                      <a:pPr>
                        <a:defRPr sz="1400" b="1">
                          <a:solidFill>
                            <a:srgbClr val="FFFFFF"/>
                          </a:solidFill>
                        </a:defRPr>
                      </a:pPr>
                      <a:r>
                        <a:t>Key Question</a:t>
                      </a:r>
                    </a:p>
                  </a:txBody>
                  <a:tcPr>
                    <a:solidFill>
                      <a:srgbClr val="232F3E"/>
                    </a:solidFill>
                  </a:tcPr>
                </a:tc>
              </a:tr>
              <a:tr h="365760">
                <a:tc>
                  <a:txBody>
                    <a:bodyPr/>
                    <a:lstStyle/>
                    <a:p>
                      <a:pPr>
                        <a:defRPr sz="1200"/>
                      </a:pPr>
                      <a:r>
                        <a:t>Security</a:t>
                      </a:r>
                    </a:p>
                  </a:txBody>
                  <a:tcPr>
                    <a:solidFill>
                      <a:srgbClr val="F2F3F4"/>
                    </a:solidFill>
                  </a:tcPr>
                </a:tc>
                <a:tc>
                  <a:txBody>
                    <a:bodyPr/>
                    <a:lstStyle/>
                    <a:p>
                      <a:pPr>
                        <a:defRPr sz="1200"/>
                      </a:pPr>
                      <a:r>
                        <a:t>Protecting information and systems</a:t>
                      </a:r>
                    </a:p>
                  </a:txBody>
                  <a:tcPr>
                    <a:solidFill>
                      <a:srgbClr val="F2F3F4"/>
                    </a:solidFill>
                  </a:tcPr>
                </a:tc>
                <a:tc>
                  <a:txBody>
                    <a:bodyPr/>
                    <a:lstStyle/>
                    <a:p>
                      <a:pPr>
                        <a:defRPr sz="1200"/>
                      </a:pPr>
                      <a:r>
                        <a:t>"How do you protect data?"</a:t>
                      </a:r>
                    </a:p>
                  </a:txBody>
                  <a:tcPr>
                    <a:solidFill>
                      <a:srgbClr val="F2F3F4"/>
                    </a:solidFill>
                  </a:tcPr>
                </a:tc>
              </a:tr>
              <a:tr h="365760">
                <a:tc>
                  <a:txBody>
                    <a:bodyPr/>
                    <a:lstStyle/>
                    <a:p>
                      <a:pPr>
                        <a:defRPr sz="1200"/>
                      </a:pPr>
                      <a:r>
                        <a:t>Reliability</a:t>
                      </a:r>
                    </a:p>
                  </a:txBody>
                  <a:tcPr/>
                </a:tc>
                <a:tc>
                  <a:txBody>
                    <a:bodyPr/>
                    <a:lstStyle/>
                    <a:p>
                      <a:pPr>
                        <a:defRPr sz="1200"/>
                      </a:pPr>
                      <a:r>
                        <a:t>Recovering from failures</a:t>
                      </a:r>
                    </a:p>
                  </a:txBody>
                  <a:tcPr/>
                </a:tc>
                <a:tc>
                  <a:txBody>
                    <a:bodyPr/>
                    <a:lstStyle/>
                    <a:p>
                      <a:pPr>
                        <a:defRPr sz="1200"/>
                      </a:pPr>
                      <a:r>
                        <a:t>"Does the workload perform its function?"</a:t>
                      </a:r>
                    </a:p>
                  </a:txBody>
                  <a:tcPr/>
                </a:tc>
              </a:tr>
              <a:tr h="365760">
                <a:tc>
                  <a:txBody>
                    <a:bodyPr/>
                    <a:lstStyle/>
                    <a:p>
                      <a:pPr>
                        <a:defRPr sz="1200"/>
                      </a:pPr>
                      <a:r>
                        <a:t>Performance Efficiency</a:t>
                      </a:r>
                    </a:p>
                  </a:txBody>
                  <a:tcPr>
                    <a:solidFill>
                      <a:srgbClr val="F2F3F4"/>
                    </a:solidFill>
                  </a:tcPr>
                </a:tc>
                <a:tc>
                  <a:txBody>
                    <a:bodyPr/>
                    <a:lstStyle/>
                    <a:p>
                      <a:pPr>
                        <a:defRPr sz="1200"/>
                      </a:pPr>
                      <a:r>
                        <a:t>Using resources efficiently</a:t>
                      </a:r>
                    </a:p>
                  </a:txBody>
                  <a:tcPr>
                    <a:solidFill>
                      <a:srgbClr val="F2F3F4"/>
                    </a:solidFill>
                  </a:tcPr>
                </a:tc>
                <a:tc>
                  <a:txBody>
                    <a:bodyPr/>
                    <a:lstStyle/>
                    <a:p>
                      <a:pPr>
                        <a:defRPr sz="1200"/>
                      </a:pPr>
                      <a:r>
                        <a:t>"How do you select the right resources?"</a:t>
                      </a:r>
                    </a:p>
                  </a:txBody>
                  <a:tcPr>
                    <a:solidFill>
                      <a:srgbClr val="F2F3F4"/>
                    </a:solidFill>
                  </a:tcPr>
                </a:tc>
              </a:tr>
              <a:tr h="365760">
                <a:tc>
                  <a:txBody>
                    <a:bodyPr/>
                    <a:lstStyle/>
                    <a:p>
                      <a:pPr>
                        <a:defRPr sz="1200"/>
                      </a:pPr>
                      <a:r>
                        <a:t>Cost Optimization</a:t>
                      </a:r>
                    </a:p>
                  </a:txBody>
                  <a:tcPr/>
                </a:tc>
                <a:tc>
                  <a:txBody>
                    <a:bodyPr/>
                    <a:lstStyle/>
                    <a:p>
                      <a:pPr>
                        <a:defRPr sz="1200"/>
                      </a:pPr>
                      <a:r>
                        <a:t>Avoiding unnecessary costs</a:t>
                      </a:r>
                    </a:p>
                  </a:txBody>
                  <a:tcPr/>
                </a:tc>
                <a:tc>
                  <a:txBody>
                    <a:bodyPr/>
                    <a:lstStyle/>
                    <a:p>
                      <a:pPr>
                        <a:defRPr sz="1200"/>
                      </a:pPr>
                      <a:r>
                        <a:t>"How do you manage costs?"</a:t>
                      </a:r>
                    </a:p>
                  </a:txBody>
                  <a:tcPr/>
                </a:tc>
              </a:tr>
              <a:tr h="365760">
                <a:tc>
                  <a:txBody>
                    <a:bodyPr/>
                    <a:lstStyle/>
                    <a:p>
                      <a:pPr>
                        <a:defRPr sz="1200"/>
                      </a:pPr>
                      <a:r>
                        <a:t>Sustainability</a:t>
                      </a:r>
                    </a:p>
                  </a:txBody>
                  <a:tcPr>
                    <a:solidFill>
                      <a:srgbClr val="F2F3F4"/>
                    </a:solidFill>
                  </a:tcPr>
                </a:tc>
                <a:tc>
                  <a:txBody>
                    <a:bodyPr/>
                    <a:lstStyle/>
                    <a:p>
                      <a:pPr>
                        <a:defRPr sz="1200"/>
                      </a:pPr>
                      <a:r>
                        <a:t>Minimizing environmental impact</a:t>
                      </a:r>
                    </a:p>
                  </a:txBody>
                  <a:tcPr>
                    <a:solidFill>
                      <a:srgbClr val="F2F3F4"/>
                    </a:solidFill>
                  </a:tcPr>
                </a:tc>
                <a:tc>
                  <a:txBody>
                    <a:bodyPr/>
                    <a:lstStyle/>
                    <a:p>
                      <a:pPr>
                        <a:defRPr sz="1200"/>
                      </a:pPr>
                      <a:r>
                        <a:t>"How do you reduce environmental impact?"</a:t>
                      </a:r>
                    </a:p>
                  </a:txBody>
                  <a:tcPr>
                    <a:solidFill>
                      <a:srgbClr val="F2F3F4"/>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Six pillars of the Framework</a:t>
            </a:r>
          </a:p>
        </p:txBody>
      </p:sp>
      <p:sp>
        <p:nvSpPr>
          <p:cNvPr id="3" name="Content Placeholder 2"/>
          <p:cNvSpPr>
            <a:spLocks noGrp="1"/>
          </p:cNvSpPr>
          <p:nvPr>
            <p:ph idx="1"/>
          </p:nvPr>
        </p:nvSpPr>
        <p:spPr/>
        <p:txBody>
          <a:bodyPr/>
          <a:lstStyle/>
          <a:p>
            <a:pPr>
              <a:defRPr sz="1400" i="1">
                <a:solidFill>
                  <a:srgbClr val="555555"/>
                </a:solidFill>
              </a:defRPr>
            </a:pPr>
            <a:r>
              <a:t>The Framework is most valuable as a regular practice, not a one-time assessment.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Pillar 1: Operational Excellence</a:t>
            </a:r>
          </a:p>
        </p:txBody>
      </p:sp>
      <p:sp>
        <p:nvSpPr>
          <p:cNvPr id="3" name="Text Placeholder 2"/>
          <p:cNvSpPr>
            <a:spLocks noGrp="1"/>
          </p:cNvSpPr>
          <p:nvPr>
            <p:ph type="body" idx="1"/>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Operational Excellence design principles</a:t>
            </a:r>
          </a:p>
        </p:txBody>
      </p:sp>
      <p:sp>
        <p:nvSpPr>
          <p:cNvPr id="3" name="Content Placeholder 2"/>
          <p:cNvSpPr>
            <a:spLocks noGrp="1"/>
          </p:cNvSpPr>
          <p:nvPr>
            <p:ph idx="1"/>
          </p:nvPr>
        </p:nvSpPr>
        <p:spPr/>
        <p:txBody>
          <a:bodyPr/>
          <a:lstStyle/>
          <a:p>
            <a:pPr>
              <a:defRPr sz="1800"/>
            </a:pPr>
            <a:r>
              <a:t>Perform operations as code: IaC templates (Module 11), CI/CD pipelines (Module 12)</a:t>
            </a:r>
          </a:p>
          <a:p>
            <a:pPr>
              <a:defRPr sz="1800"/>
            </a:pPr>
            <a:r>
              <a:t>Make frequent, small, reversible changes: Deploy through pipelines with automated rollback</a:t>
            </a:r>
          </a:p>
          <a:p>
            <a:pPr>
              <a:defRPr sz="1800"/>
            </a:pPr>
            <a:r>
              <a:t>Refine operations procedures frequently: Update runbooks after every incident</a:t>
            </a:r>
          </a:p>
          <a:p>
            <a:pPr>
              <a:defRPr sz="1800"/>
            </a:pPr>
            <a:r>
              <a:t>Anticipate failure: Pre-mortems and chaos engineering (Module 16)</a:t>
            </a:r>
          </a:p>
          <a:p>
            <a:pPr>
              <a:defRPr sz="1800"/>
            </a:pPr>
            <a:r>
              <a:t>Learn from all operational failures: Blameless post-incident reviews</a:t>
            </a:r>
          </a:p>
          <a:p>
            <a:pPr>
              <a:defRPr sz="1600"/>
            </a:pPr>
            <a:r>
              <a:t>Key services: CloudFormation, CDK, CodePipeline, CloudWatch, Systems Manager, Config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Pillar 2: Security</a:t>
            </a:r>
          </a:p>
        </p:txBody>
      </p:sp>
      <p:sp>
        <p:nvSpPr>
          <p:cNvPr id="3" name="Text Placeholder 2"/>
          <p:cNvSpPr>
            <a:spLocks noGrp="1"/>
          </p:cNvSpPr>
          <p:nvPr>
            <p:ph type="body" idx="1"/>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design principles</a:t>
            </a:r>
          </a:p>
        </p:txBody>
      </p:sp>
      <p:sp>
        <p:nvSpPr>
          <p:cNvPr id="3" name="Content Placeholder 2"/>
          <p:cNvSpPr>
            <a:spLocks noGrp="1"/>
          </p:cNvSpPr>
          <p:nvPr>
            <p:ph idx="1"/>
          </p:nvPr>
        </p:nvSpPr>
        <p:spPr/>
        <p:txBody>
          <a:bodyPr/>
          <a:lstStyle/>
          <a:p>
            <a:pPr>
              <a:defRPr sz="1800"/>
            </a:pPr>
            <a:r>
              <a:t>Strong identity foundation: Least privilege, IAM roles, MFA (Module 02)</a:t>
            </a:r>
          </a:p>
          <a:p>
            <a:pPr>
              <a:defRPr sz="1800"/>
            </a:pPr>
            <a:r>
              <a:t>Maintain traceability: CloudTrail, Config, VPC Flow Logs (Module 13)</a:t>
            </a:r>
          </a:p>
          <a:p>
            <a:pPr>
              <a:defRPr sz="1800"/>
            </a:pPr>
            <a:r>
              <a:t>Apply security at all layers: Defense in depth across edge, network, compute, data</a:t>
            </a:r>
          </a:p>
          <a:p>
            <a:pPr>
              <a:defRPr sz="1800"/>
            </a:pPr>
            <a:r>
              <a:t>Automate security best practices: Config rules, Security Hub, automated remediation</a:t>
            </a:r>
          </a:p>
          <a:p>
            <a:pPr>
              <a:defRPr sz="1800"/>
            </a:pPr>
            <a:r>
              <a:t>Protect data in transit and at rest: KMS encryption, TLS, bucket policies</a:t>
            </a:r>
          </a:p>
          <a:p>
            <a:pPr>
              <a:defRPr sz="1800"/>
            </a:pPr>
            <a:r>
              <a:t>Prepare for security events: Incident response procedures, GuardDuty automation</a:t>
            </a:r>
          </a:p>
          <a:p>
            <a:pPr>
              <a:defRPr sz="1600"/>
            </a:pPr>
            <a:r>
              <a:t>Key services: IAM, KMS, WAF, Shield, GuardDuty, Security Hub, Config, CloudTrail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Pillar 3: Reliability</a:t>
            </a:r>
          </a:p>
        </p:txBody>
      </p:sp>
      <p:sp>
        <p:nvSpPr>
          <p:cNvPr id="3" name="Text Placeholder 2"/>
          <p:cNvSpPr>
            <a:spLocks noGrp="1"/>
          </p:cNvSpPr>
          <p:nvPr>
            <p:ph type="body" idx="1"/>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Reliability design principles</a:t>
            </a:r>
          </a:p>
        </p:txBody>
      </p:sp>
      <p:sp>
        <p:nvSpPr>
          <p:cNvPr id="3" name="Content Placeholder 2"/>
          <p:cNvSpPr>
            <a:spLocks noGrp="1"/>
          </p:cNvSpPr>
          <p:nvPr>
            <p:ph idx="1"/>
          </p:nvPr>
        </p:nvSpPr>
        <p:spPr/>
        <p:txBody>
          <a:bodyPr/>
          <a:lstStyle/>
          <a:p>
            <a:pPr>
              <a:defRPr sz="1800"/>
            </a:pPr>
            <a:r>
              <a:t>Automatically recover from failure: Health checks, Auto Scaling, multi-AZ</a:t>
            </a:r>
          </a:p>
          <a:p>
            <a:pPr>
              <a:defRPr sz="1800"/>
            </a:pPr>
            <a:r>
              <a:t>Test recovery procedures: Chaos engineering with AWS FIS (Module 16)</a:t>
            </a:r>
          </a:p>
          <a:p>
            <a:pPr>
              <a:defRPr sz="1800"/>
            </a:pPr>
            <a:r>
              <a:t>Scale horizontally: Multiple small resources instead of one large resource</a:t>
            </a:r>
          </a:p>
          <a:p>
            <a:pPr>
              <a:defRPr sz="1800"/>
            </a:pPr>
            <a:r>
              <a:t>Stop guessing capacity: Auto Scaling matches capacity to demand</a:t>
            </a:r>
          </a:p>
          <a:p>
            <a:pPr>
              <a:defRPr sz="1800"/>
            </a:pPr>
            <a:r>
              <a:t>Manage change through automation: CI/CD with automated testing and rollback</a:t>
            </a:r>
          </a:p>
          <a:p>
            <a:pPr>
              <a:defRPr sz="1600"/>
            </a:pPr>
            <a:r>
              <a:t>Key services: Auto Scaling, ALB, Route 53, RDS Multi-AZ, DynamoDB Global Tables, AWS Backup, FIS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Pillar 4: Performance Efficiency</a:t>
            </a:r>
          </a:p>
        </p:txBody>
      </p:sp>
      <p:sp>
        <p:nvSpPr>
          <p:cNvPr id="3" name="Text Placeholder 2"/>
          <p:cNvSpPr>
            <a:spLocks noGrp="1"/>
          </p:cNvSpPr>
          <p:nvPr>
            <p:ph type="body" idx="1"/>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Performance Efficiency design principles</a:t>
            </a:r>
          </a:p>
        </p:txBody>
      </p:sp>
      <p:sp>
        <p:nvSpPr>
          <p:cNvPr id="3" name="Content Placeholder 2"/>
          <p:cNvSpPr>
            <a:spLocks noGrp="1"/>
          </p:cNvSpPr>
          <p:nvPr>
            <p:ph idx="1"/>
          </p:nvPr>
        </p:nvSpPr>
        <p:spPr/>
        <p:txBody>
          <a:bodyPr/>
          <a:lstStyle/>
          <a:p>
            <a:pPr>
              <a:defRPr sz="1800"/>
            </a:pPr>
            <a:r>
              <a:t>Democratize advanced technologies: Use managed services (RDS, Lambda, Fargate)</a:t>
            </a:r>
          </a:p>
          <a:p>
            <a:pPr>
              <a:defRPr sz="1800"/>
            </a:pPr>
            <a:r>
              <a:t>Go global in minutes: CloudFront, Route 53, DynamoDB Global Tables</a:t>
            </a:r>
          </a:p>
          <a:p>
            <a:pPr>
              <a:defRPr sz="1800"/>
            </a:pPr>
            <a:r>
              <a:t>Use serverless architectures: Lambda, Fargate, API Gateway, DynamoDB</a:t>
            </a:r>
          </a:p>
          <a:p>
            <a:pPr>
              <a:defRPr sz="1800"/>
            </a:pPr>
            <a:r>
              <a:t>Experiment more often: Test different instance types and configurations</a:t>
            </a:r>
          </a:p>
          <a:p>
            <a:pPr>
              <a:defRPr sz="1800"/>
            </a:pPr>
            <a:r>
              <a:t>Consider mechanical sympathy: DynamoDB for key-value, RDS for relational queries</a:t>
            </a:r>
          </a:p>
          <a:p>
            <a:pPr>
              <a:defRPr sz="1600"/>
            </a:pPr>
            <a:r>
              <a:t>Key services: EC2 (Graviton), Lambda, Fargate, CloudFront, ElastiCache, DynamoDB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Pillar 5: Cost Optimization</a:t>
            </a:r>
          </a:p>
        </p:txBody>
      </p:sp>
      <p:sp>
        <p:nvSpPr>
          <p:cNvPr id="3" name="Text Placeholder 2"/>
          <p:cNvSpPr>
            <a:spLocks noGrp="1"/>
          </p:cNvSpPr>
          <p:nvPr>
            <p:ph type="body" idx="1"/>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Cost Optimization design principles</a:t>
            </a:r>
          </a:p>
        </p:txBody>
      </p:sp>
      <p:sp>
        <p:nvSpPr>
          <p:cNvPr id="3" name="Content Placeholder 2"/>
          <p:cNvSpPr>
            <a:spLocks noGrp="1"/>
          </p:cNvSpPr>
          <p:nvPr>
            <p:ph idx="1"/>
          </p:nvPr>
        </p:nvSpPr>
        <p:spPr/>
        <p:txBody>
          <a:bodyPr/>
          <a:lstStyle/>
          <a:p>
            <a:pPr>
              <a:defRPr sz="1800"/>
            </a:pPr>
            <a:r>
              <a:t>Implement cloud financial management: Tags, Cost Explorer, Budgets (Module 15)</a:t>
            </a:r>
          </a:p>
          <a:p>
            <a:pPr>
              <a:defRPr sz="1800"/>
            </a:pPr>
            <a:r>
              <a:t>Adopt a consumption model: Pay only for what you use; Auto Scaling, serverless</a:t>
            </a:r>
          </a:p>
          <a:p>
            <a:pPr>
              <a:defRPr sz="1800"/>
            </a:pPr>
            <a:r>
              <a:t>Measure overall efficiency: Cost per transaction, not just total spend</a:t>
            </a:r>
          </a:p>
          <a:p>
            <a:pPr>
              <a:defRPr sz="1800"/>
            </a:pPr>
            <a:r>
              <a:t>Stop spending on undifferentiated heavy lifting: Managed services over self-managed</a:t>
            </a:r>
          </a:p>
          <a:p>
            <a:pPr>
              <a:defRPr sz="1800"/>
            </a:pPr>
            <a:r>
              <a:t>Analyze and attribute expenditure: Tag all resources, use Compute Optimizer</a:t>
            </a:r>
          </a:p>
          <a:p>
            <a:pPr>
              <a:defRPr sz="1600"/>
            </a:pPr>
            <a:r>
              <a:t>Key services: Cost Explorer, Budgets, Compute Optimizer, Savings Plans, Trusted Advisor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Pillar 6: Sustainability</a:t>
            </a:r>
          </a:p>
        </p:txBody>
      </p:sp>
      <p:sp>
        <p:nvSpPr>
          <p:cNvPr id="3" name="Text Placeholder 2"/>
          <p:cNvSpPr>
            <a:spLocks noGrp="1"/>
          </p:cNvSpPr>
          <p:nvPr>
            <p:ph type="body" idx="1"/>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Sustainability design principles</a:t>
            </a:r>
          </a:p>
        </p:txBody>
      </p:sp>
      <p:sp>
        <p:nvSpPr>
          <p:cNvPr id="3" name="Content Placeholder 2"/>
          <p:cNvSpPr>
            <a:spLocks noGrp="1"/>
          </p:cNvSpPr>
          <p:nvPr>
            <p:ph idx="1"/>
          </p:nvPr>
        </p:nvSpPr>
        <p:spPr/>
        <p:txBody>
          <a:bodyPr/>
          <a:lstStyle/>
          <a:p>
            <a:pPr>
              <a:defRPr sz="1800"/>
            </a:pPr>
            <a:r>
              <a:t>Understand your impact: AWS Customer Carbon Footprint Tool</a:t>
            </a:r>
          </a:p>
          <a:p>
            <a:pPr>
              <a:defRPr sz="1800"/>
            </a:pPr>
            <a:r>
              <a:t>Maximize utilization: Right-size, Auto Scaling, consolidate workloads</a:t>
            </a:r>
          </a:p>
          <a:p>
            <a:pPr>
              <a:defRPr sz="1800"/>
            </a:pPr>
            <a:r>
              <a:t>Adopt efficient hardware: Graviton (ARM) instances, better performance per watt</a:t>
            </a:r>
          </a:p>
          <a:p>
            <a:pPr>
              <a:defRPr sz="1800"/>
            </a:pPr>
            <a:r>
              <a:t>Reduce downstream impact: Minimize data transfer, compress data, efficient formats</a:t>
            </a:r>
          </a:p>
          <a:p>
            <a:pPr>
              <a:defRPr sz="1400" i="1">
                <a:solidFill>
                  <a:srgbClr val="555555"/>
                </a:solidFill>
              </a:defRPr>
            </a:pPr>
            <a:r>
              <a:t>Sustainability and cost optimization often align. Right-sizing reduces both cost and energy consumption.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Think about it: pillar trade-offs</a:t>
            </a:r>
          </a:p>
        </p:txBody>
      </p:sp>
      <p:sp>
        <p:nvSpPr>
          <p:cNvPr id="3" name="Content Placeholder 2"/>
          <p:cNvSpPr>
            <a:spLocks noGrp="1"/>
          </p:cNvSpPr>
          <p:nvPr>
            <p:ph idx="1"/>
          </p:nvPr>
        </p:nvSpPr>
        <p:spPr/>
        <p:txBody>
          <a:bodyPr/>
          <a:lstStyle/>
          <a:p>
            <a:pPr>
              <a:defRPr sz="1600"/>
            </a:pPr>
            <a:r>
              <a:t>Your startup has $5,000/month for AWS. You must choose between Multi-AZ RDS ($200/month extra for reliability) and a larger EC2 instance ($150/month extra for performance). You cannot afford both.</a:t>
            </a:r>
          </a:p>
          <a:p>
            <a:pPr>
              <a:defRPr sz="1600"/>
            </a:pPr>
            <a:r>
              <a:t>Which do you choose, and how do you justify the trade-off?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Think about it: conflicting pillar recommendations</a:t>
            </a:r>
          </a:p>
        </p:txBody>
      </p:sp>
      <p:sp>
        <p:nvSpPr>
          <p:cNvPr id="3" name="Content Placeholder 2"/>
          <p:cNvSpPr>
            <a:spLocks noGrp="1"/>
          </p:cNvSpPr>
          <p:nvPr>
            <p:ph idx="1"/>
          </p:nvPr>
        </p:nvSpPr>
        <p:spPr/>
        <p:txBody>
          <a:bodyPr/>
          <a:lstStyle/>
          <a:p>
            <a:pPr>
              <a:defRPr sz="1600"/>
            </a:pPr>
            <a:r>
              <a:t>The Security team wants to encrypt all data with customer managed KMS keys (Security Pillar). The Development team says this adds latency to every read/write and slows their iteration speed (Performance Efficiency, Operational Excellence).</a:t>
            </a:r>
          </a:p>
          <a:p>
            <a:pPr>
              <a:defRPr sz="1600"/>
            </a:pPr>
            <a:r>
              <a:t>How do you resolve this conflict?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Common trade-offs</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Trade-Off</a:t>
                      </a:r>
                    </a:p>
                  </a:txBody>
                  <a:tcPr>
                    <a:solidFill>
                      <a:srgbClr val="232F3E"/>
                    </a:solidFill>
                  </a:tcPr>
                </a:tc>
                <a:tc>
                  <a:txBody>
                    <a:bodyPr/>
                    <a:lstStyle/>
                    <a:p>
                      <a:pPr>
                        <a:defRPr sz="1400" b="1">
                          <a:solidFill>
                            <a:srgbClr val="FFFFFF"/>
                          </a:solidFill>
                        </a:defRPr>
                      </a:pPr>
                      <a:r>
                        <a:t>Example</a:t>
                      </a:r>
                    </a:p>
                  </a:txBody>
                  <a:tcPr>
                    <a:solidFill>
                      <a:srgbClr val="232F3E"/>
                    </a:solidFill>
                  </a:tcPr>
                </a:tc>
                <a:tc>
                  <a:txBody>
                    <a:bodyPr/>
                    <a:lstStyle/>
                    <a:p>
                      <a:pPr>
                        <a:defRPr sz="1400" b="1">
                          <a:solidFill>
                            <a:srgbClr val="FFFFFF"/>
                          </a:solidFill>
                        </a:defRPr>
                      </a:pPr>
                      <a:r>
                        <a:t>How to Decide</a:t>
                      </a:r>
                    </a:p>
                  </a:txBody>
                  <a:tcPr>
                    <a:solidFill>
                      <a:srgbClr val="232F3E"/>
                    </a:solidFill>
                  </a:tcPr>
                </a:tc>
              </a:tr>
              <a:tr h="365760">
                <a:tc>
                  <a:txBody>
                    <a:bodyPr/>
                    <a:lstStyle/>
                    <a:p>
                      <a:pPr>
                        <a:defRPr sz="1200"/>
                      </a:pPr>
                      <a:r>
                        <a:t>Security vs. Agility</a:t>
                      </a:r>
                    </a:p>
                  </a:txBody>
                  <a:tcPr>
                    <a:solidFill>
                      <a:srgbClr val="F2F3F4"/>
                    </a:solidFill>
                  </a:tcPr>
                </a:tc>
                <a:tc>
                  <a:txBody>
                    <a:bodyPr/>
                    <a:lstStyle/>
                    <a:p>
                      <a:pPr>
                        <a:defRPr sz="1200"/>
                      </a:pPr>
                      <a:r>
                        <a:t>Strict approvals slow deployments</a:t>
                      </a:r>
                    </a:p>
                  </a:txBody>
                  <a:tcPr>
                    <a:solidFill>
                      <a:srgbClr val="F2F3F4"/>
                    </a:solidFill>
                  </a:tcPr>
                </a:tc>
                <a:tc>
                  <a:txBody>
                    <a:bodyPr/>
                    <a:lstStyle/>
                    <a:p>
                      <a:pPr>
                        <a:defRPr sz="1200"/>
                      </a:pPr>
                      <a:r>
                        <a:t>Automate security checks in CI/CD</a:t>
                      </a:r>
                    </a:p>
                  </a:txBody>
                  <a:tcPr>
                    <a:solidFill>
                      <a:srgbClr val="F2F3F4"/>
                    </a:solidFill>
                  </a:tcPr>
                </a:tc>
              </a:tr>
              <a:tr h="365760">
                <a:tc>
                  <a:txBody>
                    <a:bodyPr/>
                    <a:lstStyle/>
                    <a:p>
                      <a:pPr>
                        <a:defRPr sz="1200"/>
                      </a:pPr>
                      <a:r>
                        <a:t>Performance vs. Cost</a:t>
                      </a:r>
                    </a:p>
                  </a:txBody>
                  <a:tcPr/>
                </a:tc>
                <a:tc>
                  <a:txBody>
                    <a:bodyPr/>
                    <a:lstStyle/>
                    <a:p>
                      <a:pPr>
                        <a:defRPr sz="1200"/>
                      </a:pPr>
                      <a:r>
                        <a:t>Provisioned IOPS costs more</a:t>
                      </a:r>
                    </a:p>
                  </a:txBody>
                  <a:tcPr/>
                </a:tc>
                <a:tc>
                  <a:txBody>
                    <a:bodyPr/>
                    <a:lstStyle/>
                    <a:p>
                      <a:pPr>
                        <a:defRPr sz="1200"/>
                      </a:pPr>
                      <a:r>
                        <a:t>Measure actual I/O needs first</a:t>
                      </a:r>
                    </a:p>
                  </a:txBody>
                  <a:tcPr/>
                </a:tc>
              </a:tr>
              <a:tr h="365760">
                <a:tc>
                  <a:txBody>
                    <a:bodyPr/>
                    <a:lstStyle/>
                    <a:p>
                      <a:pPr>
                        <a:defRPr sz="1200"/>
                      </a:pPr>
                      <a:r>
                        <a:t>Reliability vs. Cost</a:t>
                      </a:r>
                    </a:p>
                  </a:txBody>
                  <a:tcPr>
                    <a:solidFill>
                      <a:srgbClr val="F2F3F4"/>
                    </a:solidFill>
                  </a:tcPr>
                </a:tc>
                <a:tc>
                  <a:txBody>
                    <a:bodyPr/>
                    <a:lstStyle/>
                    <a:p>
                      <a:pPr>
                        <a:defRPr sz="1200"/>
                      </a:pPr>
                      <a:r>
                        <a:t>Multi-Region doubles infrastructure</a:t>
                      </a:r>
                    </a:p>
                  </a:txBody>
                  <a:tcPr>
                    <a:solidFill>
                      <a:srgbClr val="F2F3F4"/>
                    </a:solidFill>
                  </a:tcPr>
                </a:tc>
                <a:tc>
                  <a:txBody>
                    <a:bodyPr/>
                    <a:lstStyle/>
                    <a:p>
                      <a:pPr>
                        <a:defRPr sz="1200"/>
                      </a:pPr>
                      <a:r>
                        <a:t>Match DR strategy to RTO/RPO</a:t>
                      </a:r>
                    </a:p>
                  </a:txBody>
                  <a:tcPr>
                    <a:solidFill>
                      <a:srgbClr val="F2F3F4"/>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AWS Well-Architected Tool</a:t>
            </a:r>
          </a:p>
        </p:txBody>
      </p:sp>
      <p:sp>
        <p:nvSpPr>
          <p:cNvPr id="3" name="Text Placeholder 2"/>
          <p:cNvSpPr>
            <a:spLocks noGrp="1"/>
          </p:cNvSpPr>
          <p:nvPr>
            <p:ph type="body" idx="1"/>
          </p:nvPr>
        </p:nvSpPr>
        <p:spPr/>
        <p:txBody>
          <a:bodyPr/>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a review works</a:t>
            </a:r>
          </a:p>
        </p:txBody>
      </p:sp>
      <p:sp>
        <p:nvSpPr>
          <p:cNvPr id="3" name="Content Placeholder 2"/>
          <p:cNvSpPr>
            <a:spLocks noGrp="1"/>
          </p:cNvSpPr>
          <p:nvPr>
            <p:ph idx="1"/>
          </p:nvPr>
        </p:nvSpPr>
        <p:spPr/>
        <p:txBody>
          <a:bodyPr/>
          <a:lstStyle/>
          <a:p>
            <a:pPr>
              <a:defRPr sz="1800"/>
            </a:pPr>
            <a:r>
              <a:t>Define the workload in the WA Tool (name, environment, Regions)</a:t>
            </a:r>
          </a:p>
          <a:p>
            <a:pPr>
              <a:defRPr sz="1800"/>
            </a:pPr>
            <a:r>
              <a:t>Select lenses (default Framework, plus Serverless, SaaS, etc.)</a:t>
            </a:r>
          </a:p>
          <a:p>
            <a:pPr>
              <a:defRPr sz="1800"/>
            </a:pPr>
            <a:r>
              <a:t>Answer questions for each pillar about your architecture</a:t>
            </a:r>
          </a:p>
          <a:p>
            <a:pPr>
              <a:defRPr sz="1800"/>
            </a:pPr>
            <a:r>
              <a:t>Review findings (High-Risk Issues and Medium-Risk Issues)</a:t>
            </a:r>
          </a:p>
          <a:p>
            <a:pPr>
              <a:defRPr sz="1800"/>
            </a:pPr>
            <a:r>
              <a:t>Create an improvement plan prioritized by risk</a:t>
            </a:r>
          </a:p>
          <a:p>
            <a:pPr>
              <a:defRPr sz="1800"/>
            </a:pPr>
            <a:r>
              <a:t>Track progress with milestones over time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Well-Architected lenses</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Lens</a:t>
                      </a:r>
                    </a:p>
                  </a:txBody>
                  <a:tcPr>
                    <a:solidFill>
                      <a:srgbClr val="232F3E"/>
                    </a:solidFill>
                  </a:tcPr>
                </a:tc>
                <a:tc>
                  <a:txBody>
                    <a:bodyPr/>
                    <a:lstStyle/>
                    <a:p>
                      <a:pPr>
                        <a:defRPr sz="1400" b="1">
                          <a:solidFill>
                            <a:srgbClr val="FFFFFF"/>
                          </a:solidFill>
                        </a:defRPr>
                      </a:pPr>
                      <a:r>
                        <a:t>Focus</a:t>
                      </a:r>
                    </a:p>
                  </a:txBody>
                  <a:tcPr>
                    <a:solidFill>
                      <a:srgbClr val="232F3E"/>
                    </a:solidFill>
                  </a:tcPr>
                </a:tc>
              </a:tr>
              <a:tr h="365760">
                <a:tc>
                  <a:txBody>
                    <a:bodyPr/>
                    <a:lstStyle/>
                    <a:p>
                      <a:pPr>
                        <a:defRPr sz="1200"/>
                      </a:pPr>
                      <a:r>
                        <a:t>SaaS</a:t>
                      </a:r>
                    </a:p>
                  </a:txBody>
                  <a:tcPr>
                    <a:solidFill>
                      <a:srgbClr val="F2F3F4"/>
                    </a:solidFill>
                  </a:tcPr>
                </a:tc>
                <a:tc>
                  <a:txBody>
                    <a:bodyPr/>
                    <a:lstStyle/>
                    <a:p>
                      <a:pPr>
                        <a:defRPr sz="1200"/>
                      </a:pPr>
                      <a:r>
                        <a:t>Multi-tenant application architecture</a:t>
                      </a:r>
                    </a:p>
                  </a:txBody>
                  <a:tcPr>
                    <a:solidFill>
                      <a:srgbClr val="F2F3F4"/>
                    </a:solidFill>
                  </a:tcPr>
                </a:tc>
              </a:tr>
              <a:tr h="365760">
                <a:tc>
                  <a:txBody>
                    <a:bodyPr/>
                    <a:lstStyle/>
                    <a:p>
                      <a:pPr>
                        <a:defRPr sz="1200"/>
                      </a:pPr>
                      <a:r>
                        <a:t>Data Analytics</a:t>
                      </a:r>
                    </a:p>
                  </a:txBody>
                  <a:tcPr/>
                </a:tc>
                <a:tc>
                  <a:txBody>
                    <a:bodyPr/>
                    <a:lstStyle/>
                    <a:p>
                      <a:pPr>
                        <a:defRPr sz="1200"/>
                      </a:pPr>
                      <a:r>
                        <a:t>Data lakes, ETL pipelines, analytics</a:t>
                      </a:r>
                    </a:p>
                  </a:txBody>
                  <a:tcPr/>
                </a:tc>
              </a:tr>
              <a:tr h="365760">
                <a:tc>
                  <a:txBody>
                    <a:bodyPr/>
                    <a:lstStyle/>
                    <a:p>
                      <a:pPr>
                        <a:defRPr sz="1200"/>
                      </a:pPr>
                      <a:r>
                        <a:t>Machine Learning</a:t>
                      </a:r>
                    </a:p>
                  </a:txBody>
                  <a:tcPr>
                    <a:solidFill>
                      <a:srgbClr val="F2F3F4"/>
                    </a:solidFill>
                  </a:tcPr>
                </a:tc>
                <a:tc>
                  <a:txBody>
                    <a:bodyPr/>
                    <a:lstStyle/>
                    <a:p>
                      <a:pPr>
                        <a:defRPr sz="1200"/>
                      </a:pPr>
                      <a:r>
                        <a:t>Model training, inference, MLOps</a:t>
                      </a:r>
                    </a:p>
                  </a:txBody>
                  <a:tcPr>
                    <a:solidFill>
                      <a:srgbClr val="F2F3F4"/>
                    </a:solidFill>
                  </a:tcPr>
                </a:tc>
              </a:tr>
              <a:tr h="365760">
                <a:tc>
                  <a:txBody>
                    <a:bodyPr/>
                    <a:lstStyle/>
                    <a:p>
                      <a:pPr>
                        <a:defRPr sz="1200"/>
                      </a:pPr>
                      <a:r>
                        <a:t>Container Build</a:t>
                      </a:r>
                    </a:p>
                  </a:txBody>
                  <a:tcPr/>
                </a:tc>
                <a:tc>
                  <a:txBody>
                    <a:bodyPr/>
                    <a:lstStyle/>
                    <a:p>
                      <a:pPr>
                        <a:defRPr sz="1200"/>
                      </a:pPr>
                      <a:r>
                        <a:t>Container images and CI/CD for containers</a:t>
                      </a:r>
                    </a:p>
                  </a:txBody>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Well-Architected lenses</a:t>
            </a:r>
          </a:p>
        </p:txBody>
      </p:sp>
      <p:sp>
        <p:nvSpPr>
          <p:cNvPr id="3" name="Content Placeholder 2"/>
          <p:cNvSpPr>
            <a:spLocks noGrp="1"/>
          </p:cNvSpPr>
          <p:nvPr>
            <p:ph idx="1"/>
          </p:nvPr>
        </p:nvSpPr>
        <p:spPr/>
        <p:txBody>
          <a:bodyPr/>
          <a:lstStyle/>
          <a:p>
            <a:pPr>
              <a:defRPr sz="1400" i="1">
                <a:solidFill>
                  <a:srgbClr val="555555"/>
                </a:solidFill>
              </a:defRPr>
            </a:pPr>
            <a:r>
              <a:t>Use the WA Tool as a living document. Save milestones after each review to demonstrate continuous improvement.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Design challenge: Well-Architected review</a:t>
            </a:r>
          </a:p>
        </p:txBody>
      </p:sp>
      <p:sp>
        <p:nvSpPr>
          <p:cNvPr id="3" name="Content Placeholder 2"/>
          <p:cNvSpPr>
            <a:spLocks noGrp="1"/>
          </p:cNvSpPr>
          <p:nvPr>
            <p:ph idx="1"/>
          </p:nvPr>
        </p:nvSpPr>
        <p:spPr/>
        <p:txBody>
          <a:bodyPr/>
          <a:lstStyle/>
          <a:p>
            <a:pPr>
              <a:defRPr sz="1600"/>
            </a:pPr>
            <a:r>
              <a:t>You are reviewing a web application: ALB, EC2 (single AZ, no Auto Scaling), RDS (single AZ, no backups), no monitoring dashboards, no IaC, manual deployments.</a:t>
            </a:r>
          </a:p>
          <a:p>
            <a:pPr>
              <a:defRPr sz="1600"/>
            </a:pPr>
            <a:r>
              <a:t>Identify one high-risk issue per pillar and propose a fix.</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a:defRPr sz="1800"/>
            </a:pPr>
            <a:r>
              <a:t>The Well-Architected Framework provides six pillars for evaluating and improving cloud architectures</a:t>
            </a:r>
          </a:p>
          <a:p>
            <a:pPr>
              <a:defRPr sz="1800"/>
            </a:pPr>
            <a:r>
              <a:t>Every architecture involves trade-offs between pillars; the Framework helps you make them consciously</a:t>
            </a:r>
          </a:p>
          <a:p>
            <a:pPr>
              <a:defRPr sz="1800"/>
            </a:pPr>
            <a:r>
              <a:t>Use the AWS Well-Architected Tool for structured reviews, identifying high-risk issues, and tracking improvement</a:t>
            </a:r>
          </a:p>
          <a:p>
            <a:pPr>
              <a:defRPr sz="1800"/>
            </a:pPr>
            <a:r>
              <a:t>The Framework is most valuable as a regular practice (quarterly reviews), not a one-time assessment</a:t>
            </a:r>
          </a:p>
          <a:p>
            <a:pPr>
              <a:defRPr sz="1800"/>
            </a:pPr>
            <a:r>
              <a:t>Well-Architected lenses extend the Framework with specialized guidance for serverless, SaaS, and analytics workloads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preview: Well-Architected review</a:t>
            </a:r>
          </a:p>
        </p:txBody>
      </p:sp>
      <p:sp>
        <p:nvSpPr>
          <p:cNvPr id="3" name="Content Placeholder 2"/>
          <p:cNvSpPr>
            <a:spLocks noGrp="1"/>
          </p:cNvSpPr>
          <p:nvPr>
            <p:ph idx="1"/>
          </p:nvPr>
        </p:nvSpPr>
        <p:spPr/>
        <p:txBody>
          <a:bodyPr/>
          <a:lstStyle/>
          <a:p>
            <a:pPr>
              <a:defRPr sz="1600"/>
            </a:pPr>
            <a:r>
              <a:t>What you will do:</a:t>
            </a:r>
          </a:p>
          <a:p>
            <a:pPr>
              <a:defRPr sz="1800"/>
            </a:pPr>
            <a:r>
              <a:t>Create a workload in the AWS Well-Architected Tool</a:t>
            </a:r>
          </a:p>
          <a:p>
            <a:pPr>
              <a:defRPr sz="1800"/>
            </a:pPr>
            <a:r>
              <a:t>Answer questions for each of the six pillars</a:t>
            </a:r>
          </a:p>
          <a:p>
            <a:pPr>
              <a:defRPr sz="1800"/>
            </a:pPr>
            <a:r>
              <a:t>Review the generated findings (HRIs and MRIs)</a:t>
            </a:r>
          </a:p>
          <a:p>
            <a:pPr>
              <a:defRPr sz="1800"/>
            </a:pPr>
            <a:r>
              <a:t>Create an improvement plan with prioritized actions</a:t>
            </a:r>
          </a:p>
          <a:p>
            <a:pPr>
              <a:defRPr sz="1800"/>
            </a:pPr>
            <a:r>
              <a:t>Save a milestone to track your baseline</a:t>
            </a:r>
          </a:p>
          <a:p>
            <a:pPr>
              <a:defRPr sz="1600"/>
            </a:pPr>
            <a:r>
              <a:t>Duration: 60 minutes (open-ended format)</a:t>
            </a:r>
          </a:p>
          <a:p>
            <a:pPr>
              <a:defRPr sz="1600"/>
            </a:pPr>
            <a:r>
              <a:t>Key services: AWS Well-Architected Tool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a:t>
            </a:r>
          </a:p>
        </p:txBody>
      </p:sp>
      <p:sp>
        <p:nvSpPr>
          <p:cNvPr id="3" name="Content Placeholder 2"/>
          <p:cNvSpPr>
            <a:spLocks noGrp="1"/>
          </p:cNvSpPr>
          <p:nvPr>
            <p:ph idx="1"/>
          </p:nvPr>
        </p:nvSpPr>
        <p:spPr/>
        <p:txBody>
          <a:bodyPr/>
          <a:lstStyle/>
          <a:p>
            <a:pPr>
              <a:defRPr sz="1600"/>
            </a:pPr>
            <a:r>
              <a:t>Review `modules/17-well-architected-framework/resources.md` for further reading.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